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6"/>
  </p:notesMasterIdLst>
  <p:handoutMasterIdLst>
    <p:handoutMasterId r:id="rId27"/>
  </p:handoutMasterIdLst>
  <p:sldIdLst>
    <p:sldId id="256" r:id="rId2"/>
    <p:sldId id="298" r:id="rId3"/>
    <p:sldId id="257" r:id="rId4"/>
    <p:sldId id="258" r:id="rId5"/>
    <p:sldId id="265" r:id="rId6"/>
    <p:sldId id="266" r:id="rId7"/>
    <p:sldId id="272" r:id="rId8"/>
    <p:sldId id="278" r:id="rId9"/>
    <p:sldId id="297" r:id="rId10"/>
    <p:sldId id="1092" r:id="rId11"/>
    <p:sldId id="1094" r:id="rId12"/>
    <p:sldId id="1098" r:id="rId13"/>
    <p:sldId id="1100" r:id="rId14"/>
    <p:sldId id="279" r:id="rId15"/>
    <p:sldId id="1101" r:id="rId16"/>
    <p:sldId id="1097" r:id="rId17"/>
    <p:sldId id="1103" r:id="rId18"/>
    <p:sldId id="1099" r:id="rId19"/>
    <p:sldId id="1102" r:id="rId20"/>
    <p:sldId id="1095" r:id="rId21"/>
    <p:sldId id="271" r:id="rId22"/>
    <p:sldId id="273" r:id="rId23"/>
    <p:sldId id="1096" r:id="rId24"/>
    <p:sldId id="1104" r:id="rId25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E6E0EC"/>
    <a:srgbClr val="003399"/>
    <a:srgbClr val="FFD5D5"/>
    <a:srgbClr val="0000FF"/>
    <a:srgbClr val="B9B9FF"/>
    <a:srgbClr val="DDDDFF"/>
    <a:srgbClr val="00823B"/>
    <a:srgbClr val="FFB3B3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 autoAdjust="0"/>
    <p:restoredTop sz="84795" autoAdjust="0"/>
  </p:normalViewPr>
  <p:slideViewPr>
    <p:cSldViewPr snapToGrid="0">
      <p:cViewPr varScale="1">
        <p:scale>
          <a:sx n="107" d="100"/>
          <a:sy n="107" d="100"/>
        </p:scale>
        <p:origin x="16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6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If we find evidence, we will report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we won’t go out of our way looking for evidence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Focus on teaching</a:t>
            </a:r>
          </a:p>
        </p:txBody>
      </p:sp>
    </p:spTree>
    <p:extLst>
      <p:ext uri="{BB962C8B-B14F-4D97-AF65-F5344CB8AC3E}">
        <p14:creationId xmlns:p14="http://schemas.microsoft.com/office/powerpoint/2010/main" val="266311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Perspective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people have different ideas</a:t>
            </a:r>
          </a:p>
        </p:txBody>
      </p:sp>
    </p:spTree>
    <p:extLst>
      <p:ext uri="{BB962C8B-B14F-4D97-AF65-F5344CB8AC3E}">
        <p14:creationId xmlns:p14="http://schemas.microsoft.com/office/powerpoint/2010/main" val="3390229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9E9F-055F-1B41-D4EA-09296161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21BD-229C-5AEC-6499-1B5D42670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86CC9-44FB-EC04-C263-63B17C30D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17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A952-48AA-5F96-0897-53D2446F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004B6-3603-40C5-F767-C4359EF0A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0C0E7-71EE-C150-093C-CBF05CFE9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4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E4E1-F73C-1469-ABCF-E4298F31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5A9D-8A6B-536F-4DA2-BDF37EEE8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C00F5-5232-15D1-1A19-F2303CBF7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54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25EF-6F88-6965-E308-1D7E5D8C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87982-7D4A-0935-DE06-48A0A7536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63D8F-612B-83B2-3996-BF34468D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Independent, well-encapsulated components</a:t>
            </a:r>
          </a:p>
        </p:txBody>
      </p:sp>
    </p:spTree>
    <p:extLst>
      <p:ext uri="{BB962C8B-B14F-4D97-AF65-F5344CB8AC3E}">
        <p14:creationId xmlns:p14="http://schemas.microsoft.com/office/powerpoint/2010/main" val="81073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B8C1-74BD-3991-D1F9-3E8520C4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E6FE1-08E0-2D1D-65D0-192238C2A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6F20A-98F7-F262-567A-6CC558CD2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51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4BEBE-DB61-1566-B618-78403F87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438E3-5575-9B27-15FB-D13CB4684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D9F42-47BD-3B57-11A8-5EE21D217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Called a cluster</a:t>
            </a:r>
          </a:p>
        </p:txBody>
      </p:sp>
    </p:spTree>
    <p:extLst>
      <p:ext uri="{BB962C8B-B14F-4D97-AF65-F5344CB8AC3E}">
        <p14:creationId xmlns:p14="http://schemas.microsoft.com/office/powerpoint/2010/main" val="1320301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C4C4-043C-6278-044D-266C2E73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6B23C-7BFA-1C5E-5778-36429856B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6286F-9813-85FF-ED51-A13D295E0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24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5849-6670-DDBD-04F5-DC8B13AB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2474C-EE3F-4F1E-05CA-FD69CE3C5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20535-AB5D-A9F9-4937-9FF97C9AD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Earlier single database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Now distributed – many different challenges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48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8942-C923-CA2C-D571-E564165B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8C065-026A-FF27-7E1C-8017F2659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231C8-0204-8332-A44C-DF0AC8BB3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930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26CD-D3AF-C257-AB78-97AE0ADF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50D4C-E75D-562A-51B5-AAFCDB10A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786BF-77FD-2247-BD80-30B7650D5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Dimensions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will provide scaffolding code</a:t>
            </a:r>
          </a:p>
        </p:txBody>
      </p:sp>
    </p:spTree>
    <p:extLst>
      <p:ext uri="{BB962C8B-B14F-4D97-AF65-F5344CB8AC3E}">
        <p14:creationId xmlns:p14="http://schemas.microsoft.com/office/powerpoint/2010/main" val="3970925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Monday, September 21, 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Monday, September 21,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Monday, September 21,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Monday, September 21,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0241" y="5466332"/>
            <a:ext cx="4711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AFFE10B8-FF50-4557-9ED8-E3FFB0CBA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6696F96-BE01-5647-CDCB-DE7A5BC7486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0607" y="5951500"/>
            <a:ext cx="11470787" cy="435939"/>
          </a:xfrm>
          <a:noFill/>
        </p:spPr>
        <p:txBody>
          <a:bodyPr>
            <a:spAutoFit/>
          </a:bodyPr>
          <a:lstStyle>
            <a:lvl1pPr marL="0" indent="0" algn="ctr">
              <a:buNone/>
              <a:defRPr sz="2400" b="1" i="1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takeaway bullet</a:t>
            </a:r>
          </a:p>
        </p:txBody>
      </p:sp>
    </p:spTree>
    <p:extLst>
      <p:ext uri="{BB962C8B-B14F-4D97-AF65-F5344CB8AC3E}">
        <p14:creationId xmlns:p14="http://schemas.microsoft.com/office/powerpoint/2010/main" val="7698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Monday, September 21, 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tpalit@ucdavis.edu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evoloshin@ucdavis.edu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azza.com/ucdavis/fall2026/ecs160fq2026/home" TargetMode="External"/><Relationship Id="rId2" Type="http://schemas.openxmlformats.org/officeDocument/2006/relationships/hyperlink" Target="https://github.com/davsec-teaching/ECS_160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800" dirty="0"/>
              <a:t>ECS 160</a:t>
            </a:r>
            <a:br>
              <a:rPr lang="en-US" sz="4800" dirty="0"/>
            </a:br>
            <a:r>
              <a:rPr lang="en-US" sz="4800" dirty="0"/>
              <a:t>Software Engineering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539151"/>
            <a:ext cx="9871710" cy="976289"/>
          </a:xfrm>
        </p:spPr>
        <p:txBody>
          <a:bodyPr/>
          <a:lstStyle/>
          <a:p>
            <a:r>
              <a:rPr lang="en-US" dirty="0"/>
              <a:t>Instructor: </a:t>
            </a:r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736FE-58EE-2428-D415-964C3DFE8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 and TA introductions</a:t>
            </a:r>
          </a:p>
          <a:p>
            <a:r>
              <a:rPr lang="en-US" dirty="0"/>
              <a:t>Syllabus and course policies</a:t>
            </a:r>
          </a:p>
          <a:p>
            <a:r>
              <a:rPr lang="en-US" dirty="0"/>
              <a:t>Modern software engineering overview</a:t>
            </a:r>
          </a:p>
          <a:p>
            <a:r>
              <a:rPr lang="en-US" dirty="0"/>
              <a:t>OO revision + </a:t>
            </a:r>
            <a:r>
              <a:rPr lang="en-US"/>
              <a:t>design patterns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0188F9-AAD3-2C3E-E5A5-64A127B7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0628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565A31-9C25-3A5F-36B9-5D3AE2A62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Tapti Palit</a:t>
            </a:r>
          </a:p>
          <a:p>
            <a:r>
              <a:rPr lang="en-US" dirty="0"/>
              <a:t>Background: Software security, program analysis, systems</a:t>
            </a:r>
          </a:p>
          <a:p>
            <a:r>
              <a:rPr lang="en-US" dirty="0"/>
              <a:t>Contact details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tpalit@ucdavis.edu</a:t>
            </a:r>
            <a:endParaRPr lang="en-US" dirty="0"/>
          </a:p>
          <a:p>
            <a:pPr lvl="1"/>
            <a:r>
              <a:rPr lang="en-US" dirty="0"/>
              <a:t>Email subject must contain “</a:t>
            </a:r>
            <a:r>
              <a:rPr lang="en-US" b="1" dirty="0"/>
              <a:t>F26 ECS 160</a:t>
            </a:r>
            <a:r>
              <a:rPr lang="en-US" dirty="0"/>
              <a:t>” followed by the actual subject</a:t>
            </a:r>
          </a:p>
          <a:p>
            <a:pPr lvl="1"/>
            <a:r>
              <a:rPr lang="en-US" dirty="0"/>
              <a:t>Office hours: W 3-4 PM (Academic Surge 2087)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A2CC51-2202-B9F6-C9C0-2D35E6B1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details</a:t>
            </a:r>
          </a:p>
        </p:txBody>
      </p:sp>
    </p:spTree>
    <p:extLst>
      <p:ext uri="{BB962C8B-B14F-4D97-AF65-F5344CB8AC3E}">
        <p14:creationId xmlns:p14="http://schemas.microsoft.com/office/powerpoint/2010/main" val="218575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2B49F4-7C7C-DC91-6F2C-4E82FDB44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 Liz Voloshin</a:t>
            </a:r>
          </a:p>
          <a:p>
            <a:r>
              <a:rPr lang="en-US" dirty="0"/>
              <a:t>Background: MS student in the CS department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evoloshin@ucdavis.edu</a:t>
            </a:r>
            <a:endParaRPr lang="en-US" dirty="0"/>
          </a:p>
          <a:p>
            <a:r>
              <a:rPr lang="en-US" dirty="0"/>
              <a:t>Office hours: TBD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D94F4C-26A9-A8E2-8B67-1B4695E7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 details</a:t>
            </a:r>
          </a:p>
        </p:txBody>
      </p:sp>
    </p:spTree>
    <p:extLst>
      <p:ext uri="{BB962C8B-B14F-4D97-AF65-F5344CB8AC3E}">
        <p14:creationId xmlns:p14="http://schemas.microsoft.com/office/powerpoint/2010/main" val="352508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8F75C-667D-E086-42CA-A33CF3C7F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timings</a:t>
            </a:r>
          </a:p>
          <a:p>
            <a:pPr lvl="1"/>
            <a:r>
              <a:rPr lang="en-US" dirty="0"/>
              <a:t>Lectures - </a:t>
            </a:r>
            <a:r>
              <a:rPr lang="de-DE" dirty="0"/>
              <a:t>MWF 9 AM – 9:50 AM in </a:t>
            </a:r>
            <a:r>
              <a:rPr lang="de-DE" dirty="0" err="1"/>
              <a:t>Wellman</a:t>
            </a:r>
            <a:r>
              <a:rPr lang="de-DE" dirty="0"/>
              <a:t> Hall 26</a:t>
            </a:r>
            <a:endParaRPr lang="en-US" dirty="0"/>
          </a:p>
          <a:p>
            <a:pPr lvl="1"/>
            <a:r>
              <a:rPr lang="en-US" dirty="0"/>
              <a:t>Discussion –2:10 PM - 3:00 PM W The Grove (Surge III) 1309</a:t>
            </a:r>
          </a:p>
          <a:p>
            <a:r>
              <a:rPr lang="en-US" dirty="0"/>
              <a:t>Lectures and discussion will be recorded and uploaded on Canvas</a:t>
            </a:r>
          </a:p>
          <a:p>
            <a:r>
              <a:rPr lang="en-US" dirty="0"/>
              <a:t>Course page: </a:t>
            </a:r>
            <a:r>
              <a:rPr lang="en-US" dirty="0">
                <a:hlinkClick r:id="rId2"/>
              </a:rPr>
              <a:t>https://github.com/davsec-teaching/ECS_160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Piazza link: </a:t>
            </a:r>
            <a:r>
              <a:rPr lang="en-US" dirty="0">
                <a:hlinkClick r:id="rId3"/>
              </a:rPr>
              <a:t>https://piazza.com/ucdavis/fall2026/ecs160fq2026/home</a:t>
            </a:r>
            <a:endParaRPr lang="en-US" dirty="0"/>
          </a:p>
          <a:p>
            <a:r>
              <a:rPr lang="en-US" dirty="0"/>
              <a:t>Textbooks:</a:t>
            </a:r>
          </a:p>
          <a:p>
            <a:pPr lvl="1"/>
            <a:r>
              <a:rPr lang="en-US" dirty="0"/>
              <a:t>Required: None</a:t>
            </a:r>
          </a:p>
          <a:p>
            <a:pPr lvl="1"/>
            <a:r>
              <a:rPr lang="en-US" dirty="0"/>
              <a:t>Recommended: check the course website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6776C-2B16-D7EE-9833-E03A7A12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</p:spTree>
    <p:extLst>
      <p:ext uri="{BB962C8B-B14F-4D97-AF65-F5344CB8AC3E}">
        <p14:creationId xmlns:p14="http://schemas.microsoft.com/office/powerpoint/2010/main" val="148284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5E7C08-9EC6-B0D4-9368-42976AEF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79FA1-6CE8-148E-7C93-4FF20FC81DB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1 midterm, 1 final</a:t>
            </a:r>
          </a:p>
          <a:p>
            <a:r>
              <a:rPr lang="en-US" dirty="0"/>
              <a:t>3-4 HWs done individually</a:t>
            </a:r>
          </a:p>
          <a:p>
            <a:r>
              <a:rPr lang="en-US" dirty="0"/>
              <a:t>5-6 reading/video discussion on </a:t>
            </a:r>
            <a:r>
              <a:rPr lang="en-US" dirty="0" err="1"/>
              <a:t>Perusall</a:t>
            </a:r>
            <a:r>
              <a:rPr lang="en-US" dirty="0"/>
              <a:t>*</a:t>
            </a:r>
          </a:p>
          <a:p>
            <a:r>
              <a:rPr lang="en-US" dirty="0"/>
              <a:t>5 </a:t>
            </a:r>
            <a:r>
              <a:rPr lang="en-US" b="1" dirty="0"/>
              <a:t>in-class</a:t>
            </a:r>
            <a:r>
              <a:rPr lang="en-US" dirty="0"/>
              <a:t> </a:t>
            </a:r>
            <a:r>
              <a:rPr lang="en-US" dirty="0" err="1"/>
              <a:t>quizes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6358AD-2B02-AECB-0218-D4B9572F4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846983"/>
              </p:ext>
            </p:extLst>
          </p:nvPr>
        </p:nvGraphicFramePr>
        <p:xfrm>
          <a:off x="7311818" y="1576399"/>
          <a:ext cx="3657599" cy="2665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705">
                  <a:extLst>
                    <a:ext uri="{9D8B030D-6E8A-4147-A177-3AD203B41FA5}">
                      <a16:colId xmlns:a16="http://schemas.microsoft.com/office/drawing/2014/main" val="2826240859"/>
                    </a:ext>
                  </a:extLst>
                </a:gridCol>
                <a:gridCol w="1751894">
                  <a:extLst>
                    <a:ext uri="{9D8B030D-6E8A-4147-A177-3AD203B41FA5}">
                      <a16:colId xmlns:a16="http://schemas.microsoft.com/office/drawing/2014/main" val="2804284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527648"/>
                  </a:ext>
                </a:extLst>
              </a:tr>
              <a:tr h="417689">
                <a:tc>
                  <a:txBody>
                    <a:bodyPr/>
                    <a:lstStyle/>
                    <a:p>
                      <a:r>
                        <a:rPr lang="en-US" dirty="0"/>
                        <a:t>Midterm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44120"/>
                  </a:ext>
                </a:extLst>
              </a:tr>
              <a:tr h="428977"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80223"/>
                  </a:ext>
                </a:extLst>
              </a:tr>
              <a:tr h="428977">
                <a:tc>
                  <a:txBody>
                    <a:bodyPr/>
                    <a:lstStyle/>
                    <a:p>
                      <a:r>
                        <a:rPr lang="en-US" dirty="0"/>
                        <a:t>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439713"/>
                  </a:ext>
                </a:extLst>
              </a:tr>
              <a:tr h="383823">
                <a:tc>
                  <a:txBody>
                    <a:bodyPr/>
                    <a:lstStyle/>
                    <a:p>
                      <a:r>
                        <a:rPr lang="en-US" dirty="0"/>
                        <a:t>In-class quiz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8835"/>
                  </a:ext>
                </a:extLst>
              </a:tr>
              <a:tr h="621838">
                <a:tc>
                  <a:txBody>
                    <a:bodyPr/>
                    <a:lstStyle/>
                    <a:p>
                      <a:r>
                        <a:rPr lang="en-US" dirty="0"/>
                        <a:t>Reading/video reflections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7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2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BEC138D-7987-C3BA-0648-B16B5600F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Standard UC Davis grade cutoffs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Might be curved on top of these cutoffs </a:t>
            </a:r>
            <a:r>
              <a:rPr lang="en-US" i="1" dirty="0"/>
              <a:t>per instructor’s discretion</a:t>
            </a:r>
          </a:p>
          <a:p>
            <a:r>
              <a:rPr lang="en-US" dirty="0"/>
              <a:t>No extra credit assignments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74B77D-24A2-71BE-BE62-0D8FA2A4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Grade cutoffs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B8AB0-7193-657A-F356-2A660724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786" y="215986"/>
            <a:ext cx="1558070" cy="393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4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95FA18-8320-B247-A97B-B682AB79C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Inter-group collaboration and discussion is permitted</a:t>
            </a:r>
          </a:p>
          <a:p>
            <a:pPr lvl="1"/>
            <a:r>
              <a:rPr lang="en-US" dirty="0"/>
              <a:t>Copying code is not permitted</a:t>
            </a:r>
          </a:p>
          <a:p>
            <a:r>
              <a:rPr lang="en-US" dirty="0"/>
              <a:t>Using AI to understand concepts, exceptions, or compilation errors is permitted</a:t>
            </a:r>
          </a:p>
          <a:p>
            <a:r>
              <a:rPr lang="en-US" dirty="0"/>
              <a:t>Using AI as a “search engine” is allowed</a:t>
            </a:r>
          </a:p>
          <a:p>
            <a:r>
              <a:rPr lang="en-US" dirty="0"/>
              <a:t>Using any sort of AI-integration in IDEs is not permitted (Copilot, Cursor,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Turning in AI-generated code </a:t>
            </a:r>
            <a:r>
              <a:rPr lang="en-US" b="1" dirty="0"/>
              <a:t>without proper attribution</a:t>
            </a:r>
            <a:r>
              <a:rPr lang="en-US" dirty="0"/>
              <a:t> is not permitted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F8473-50AC-D18C-5974-B8CF6DEB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 and AI policies</a:t>
            </a:r>
          </a:p>
        </p:txBody>
      </p:sp>
    </p:spTree>
    <p:extLst>
      <p:ext uri="{BB962C8B-B14F-4D97-AF65-F5344CB8AC3E}">
        <p14:creationId xmlns:p14="http://schemas.microsoft.com/office/powerpoint/2010/main" val="301070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BB4090-494B-576F-FFCE-C01E486C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Enrollment cap will likely not increase</a:t>
            </a:r>
          </a:p>
          <a:p>
            <a:r>
              <a:rPr lang="en-US" dirty="0"/>
              <a:t>Limited by room size</a:t>
            </a:r>
          </a:p>
          <a:p>
            <a:r>
              <a:rPr lang="en-US" dirty="0"/>
              <a:t>… </a:t>
            </a:r>
            <a:r>
              <a:rPr lang="en-US" b="1" i="1" dirty="0"/>
              <a:t>Questions?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AE58FE-6188-3BE1-8051-8417B312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73411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209113-70BD-A872-4C3D-A80CDA935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69D53-A07E-E297-101D-53B5B417CF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Modern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4259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E04096-B394-1BFE-9D41-9B9C7444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distributed</a:t>
            </a:r>
          </a:p>
          <a:p>
            <a:r>
              <a:rPr lang="en-US" dirty="0"/>
              <a:t>Is systems engineering</a:t>
            </a:r>
          </a:p>
          <a:p>
            <a:r>
              <a:rPr lang="en-US" dirty="0"/>
              <a:t>Is rapidly evolving</a:t>
            </a:r>
          </a:p>
          <a:p>
            <a:r>
              <a:rPr lang="en-US" dirty="0"/>
              <a:t>LLMs and automation raise the bar for humans</a:t>
            </a:r>
          </a:p>
          <a:p>
            <a:pPr lvl="1"/>
            <a:r>
              <a:rPr lang="en-US" b="1" i="1" dirty="0"/>
              <a:t>… ECS 160 takes these factors into account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DB9F04-FC9C-147A-AE16-85D1D6A2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75216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B8ED7-36D4-6DE1-1FAC-13DC31FE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F0F498-C434-5F34-A061-74CE7AE2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software engineering was monolithic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C994703-3582-3317-0640-CCF7CFD57B12}"/>
              </a:ext>
            </a:extLst>
          </p:cNvPr>
          <p:cNvGrpSpPr/>
          <p:nvPr/>
        </p:nvGrpSpPr>
        <p:grpSpPr>
          <a:xfrm>
            <a:off x="1963439" y="696277"/>
            <a:ext cx="1954828" cy="4327912"/>
            <a:chOff x="2566458" y="934341"/>
            <a:chExt cx="1954828" cy="432791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AE63120-4ABC-7CF4-026D-5F02950C5D35}"/>
                </a:ext>
              </a:extLst>
            </p:cNvPr>
            <p:cNvSpPr/>
            <p:nvPr/>
          </p:nvSpPr>
          <p:spPr>
            <a:xfrm>
              <a:off x="2853674" y="975321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Onboarding Login flow</a:t>
              </a:r>
              <a:endParaRPr lang="en-US" sz="1200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A33FDCE-7C58-5EFC-0073-1341727A8F29}"/>
                </a:ext>
              </a:extLst>
            </p:cNvPr>
            <p:cNvSpPr/>
            <p:nvPr/>
          </p:nvSpPr>
          <p:spPr>
            <a:xfrm>
              <a:off x="2839013" y="1805842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following flow</a:t>
              </a:r>
              <a:endParaRPr lang="en-US" sz="1200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ED6B71C-1484-0F5E-A074-6D3724B2C482}"/>
                </a:ext>
              </a:extLst>
            </p:cNvPr>
            <p:cNvSpPr/>
            <p:nvPr/>
          </p:nvSpPr>
          <p:spPr>
            <a:xfrm>
              <a:off x="2833428" y="2528628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Adding Post UI</a:t>
              </a:r>
              <a:endParaRPr lang="en-US" sz="1200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27B90D0-83EA-8297-75AB-501E8019B5A0}"/>
                </a:ext>
              </a:extLst>
            </p:cNvPr>
            <p:cNvSpPr/>
            <p:nvPr/>
          </p:nvSpPr>
          <p:spPr>
            <a:xfrm>
              <a:off x="2833428" y="3214074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Self Profile Service</a:t>
              </a:r>
              <a:endParaRPr lang="en-US" sz="120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1355948-A565-8B8F-8B3F-70C8E9CB83DF}"/>
                </a:ext>
              </a:extLst>
            </p:cNvPr>
            <p:cNvSpPr/>
            <p:nvPr/>
          </p:nvSpPr>
          <p:spPr>
            <a:xfrm>
              <a:off x="2818503" y="3950670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Home Screen</a:t>
              </a:r>
              <a:endParaRPr lang="en-US" sz="1200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EDB793C-B2A3-76F2-4962-BFB7D62B3976}"/>
                </a:ext>
              </a:extLst>
            </p:cNvPr>
            <p:cNvSpPr/>
            <p:nvPr/>
          </p:nvSpPr>
          <p:spPr>
            <a:xfrm>
              <a:off x="2818503" y="4717567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Search screen</a:t>
              </a:r>
              <a:endParaRPr lang="en-US" sz="12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23AFD3B-C48A-067D-FCD2-5A723955788B}"/>
                </a:ext>
              </a:extLst>
            </p:cNvPr>
            <p:cNvSpPr/>
            <p:nvPr/>
          </p:nvSpPr>
          <p:spPr>
            <a:xfrm>
              <a:off x="2566458" y="934341"/>
              <a:ext cx="1954828" cy="4327912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  <a:alpha val="9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6BC3DE3-DD19-9245-F155-A7BBAD200FC2}"/>
              </a:ext>
            </a:extLst>
          </p:cNvPr>
          <p:cNvGrpSpPr/>
          <p:nvPr/>
        </p:nvGrpSpPr>
        <p:grpSpPr>
          <a:xfrm>
            <a:off x="4399878" y="804220"/>
            <a:ext cx="3077606" cy="4112026"/>
            <a:chOff x="4399878" y="804220"/>
            <a:chExt cx="3077606" cy="411202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5F7D576-150D-38E3-3304-56D5A2E51462}"/>
                </a:ext>
              </a:extLst>
            </p:cNvPr>
            <p:cNvSpPr/>
            <p:nvPr/>
          </p:nvSpPr>
          <p:spPr>
            <a:xfrm>
              <a:off x="4588691" y="973014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Service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217F7D9-F50D-1C8D-0538-AF6375EDD54B}"/>
                </a:ext>
              </a:extLst>
            </p:cNvPr>
            <p:cNvSpPr/>
            <p:nvPr/>
          </p:nvSpPr>
          <p:spPr>
            <a:xfrm>
              <a:off x="4588691" y="1805353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Graph Service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864FEF4-DF07-1392-AE82-A48EC4E3A74B}"/>
                </a:ext>
              </a:extLst>
            </p:cNvPr>
            <p:cNvSpPr/>
            <p:nvPr/>
          </p:nvSpPr>
          <p:spPr>
            <a:xfrm>
              <a:off x="4588691" y="2356566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5542E4B-C095-0B20-23CC-45D3BA4A1903}"/>
                </a:ext>
              </a:extLst>
            </p:cNvPr>
            <p:cNvSpPr/>
            <p:nvPr/>
          </p:nvSpPr>
          <p:spPr>
            <a:xfrm>
              <a:off x="4588691" y="3642571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6B0BE38-B0E5-339B-A4E8-E1B9C593A75D}"/>
                </a:ext>
              </a:extLst>
            </p:cNvPr>
            <p:cNvSpPr/>
            <p:nvPr/>
          </p:nvSpPr>
          <p:spPr>
            <a:xfrm>
              <a:off x="5977883" y="1805352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Timeline Service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E362EA5-F883-EDB9-C887-137892857F61}"/>
                </a:ext>
              </a:extLst>
            </p:cNvPr>
            <p:cNvSpPr/>
            <p:nvPr/>
          </p:nvSpPr>
          <p:spPr>
            <a:xfrm>
              <a:off x="5977883" y="2967191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Service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604AA36-BD2A-01DD-2BA2-FCE752A004CD}"/>
                </a:ext>
              </a:extLst>
            </p:cNvPr>
            <p:cNvSpPr/>
            <p:nvPr/>
          </p:nvSpPr>
          <p:spPr>
            <a:xfrm>
              <a:off x="4588691" y="2936941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Processor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6FA5AF6-BD01-2FA1-D7A0-0FDE24D42083}"/>
                </a:ext>
              </a:extLst>
            </p:cNvPr>
            <p:cNvSpPr/>
            <p:nvPr/>
          </p:nvSpPr>
          <p:spPr>
            <a:xfrm>
              <a:off x="4588691" y="4275785"/>
              <a:ext cx="1436072" cy="517071"/>
            </a:xfrm>
            <a:prstGeom prst="roundRect">
              <a:avLst>
                <a:gd name="adj" fmla="val 9865"/>
              </a:avLst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Search service</a:t>
              </a:r>
            </a:p>
          </p:txBody>
        </p:sp>
        <p:sp>
          <p:nvSpPr>
            <p:cNvPr id="1125" name="Rectangle: Rounded Corners 1124">
              <a:extLst>
                <a:ext uri="{FF2B5EF4-FFF2-40B4-BE49-F238E27FC236}">
                  <a16:creationId xmlns:a16="http://schemas.microsoft.com/office/drawing/2014/main" id="{D2C2E48B-E68A-D4C6-F657-6D7EC34AECB8}"/>
                </a:ext>
              </a:extLst>
            </p:cNvPr>
            <p:cNvSpPr/>
            <p:nvPr/>
          </p:nvSpPr>
          <p:spPr>
            <a:xfrm>
              <a:off x="5977883" y="2420416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Trends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D962085-32FD-0BE8-2232-8893B96982B4}"/>
                </a:ext>
              </a:extLst>
            </p:cNvPr>
            <p:cNvSpPr/>
            <p:nvPr/>
          </p:nvSpPr>
          <p:spPr>
            <a:xfrm>
              <a:off x="4399878" y="804220"/>
              <a:ext cx="3077606" cy="4112026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  <a:alpha val="9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0DA6A66-EF10-276B-8C97-3CCE3072E84D}"/>
              </a:ext>
            </a:extLst>
          </p:cNvPr>
          <p:cNvSpPr txBox="1"/>
          <p:nvPr/>
        </p:nvSpPr>
        <p:spPr>
          <a:xfrm>
            <a:off x="2258973" y="5053030"/>
            <a:ext cx="129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UI layer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158EFF-9264-9446-880F-6A5D0D4F6FFD}"/>
              </a:ext>
            </a:extLst>
          </p:cNvPr>
          <p:cNvSpPr txBox="1"/>
          <p:nvPr/>
        </p:nvSpPr>
        <p:spPr>
          <a:xfrm>
            <a:off x="5036150" y="5024189"/>
            <a:ext cx="159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Service layer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04802B-7792-AEAF-2DCB-0A2D2CE625F5}"/>
              </a:ext>
            </a:extLst>
          </p:cNvPr>
          <p:cNvSpPr txBox="1"/>
          <p:nvPr/>
        </p:nvSpPr>
        <p:spPr>
          <a:xfrm>
            <a:off x="7869726" y="4320562"/>
            <a:ext cx="197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Persistence layer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21B759-340E-F794-C750-22B1304576D6}"/>
              </a:ext>
            </a:extLst>
          </p:cNvPr>
          <p:cNvSpPr txBox="1"/>
          <p:nvPr/>
        </p:nvSpPr>
        <p:spPr>
          <a:xfrm>
            <a:off x="7279145" y="5530892"/>
            <a:ext cx="3544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Social Media Platform</a:t>
            </a:r>
          </a:p>
        </p:txBody>
      </p:sp>
      <p:cxnSp>
        <p:nvCxnSpPr>
          <p:cNvPr id="1026" name="Straight Arrow Connector 1025">
            <a:extLst>
              <a:ext uri="{FF2B5EF4-FFF2-40B4-BE49-F238E27FC236}">
                <a16:creationId xmlns:a16="http://schemas.microsoft.com/office/drawing/2014/main" id="{6CEB49EE-6FFE-18A6-6531-77E4501A0189}"/>
              </a:ext>
            </a:extLst>
          </p:cNvPr>
          <p:cNvCxnSpPr>
            <a:cxnSpLocks/>
            <a:stCxn id="48" idx="3"/>
            <a:endCxn id="51" idx="1"/>
          </p:cNvCxnSpPr>
          <p:nvPr/>
        </p:nvCxnSpPr>
        <p:spPr>
          <a:xfrm>
            <a:off x="3918267" y="2860233"/>
            <a:ext cx="4816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15BCF3B0-7C02-509D-32BF-64E78A94AA57}"/>
              </a:ext>
            </a:extLst>
          </p:cNvPr>
          <p:cNvCxnSpPr>
            <a:cxnSpLocks/>
          </p:cNvCxnSpPr>
          <p:nvPr/>
        </p:nvCxnSpPr>
        <p:spPr>
          <a:xfrm>
            <a:off x="7477484" y="2770736"/>
            <a:ext cx="3922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68231A1-A427-E80B-77C5-087F9A4D6F91}"/>
              </a:ext>
            </a:extLst>
          </p:cNvPr>
          <p:cNvSpPr/>
          <p:nvPr/>
        </p:nvSpPr>
        <p:spPr>
          <a:xfrm>
            <a:off x="8218360" y="2437619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8436F99A-B1A6-9C7C-D89E-0A5E4F8B1590}"/>
              </a:ext>
            </a:extLst>
          </p:cNvPr>
          <p:cNvSpPr/>
          <p:nvPr/>
        </p:nvSpPr>
        <p:spPr>
          <a:xfrm>
            <a:off x="7906746" y="2218655"/>
            <a:ext cx="1974848" cy="1063686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9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207D6-3A10-EA78-80C0-316147ACAE57}"/>
              </a:ext>
            </a:extLst>
          </p:cNvPr>
          <p:cNvSpPr txBox="1"/>
          <p:nvPr/>
        </p:nvSpPr>
        <p:spPr>
          <a:xfrm>
            <a:off x="3447230" y="2934840"/>
            <a:ext cx="130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2712035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F17D-2187-482D-6BDA-E5CB2DFB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49BC9E-B8F6-C73B-B54A-87FC9399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software engineering was monolithic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83641BB-06AD-1254-4231-F351E3188BCC}"/>
              </a:ext>
            </a:extLst>
          </p:cNvPr>
          <p:cNvGrpSpPr/>
          <p:nvPr/>
        </p:nvGrpSpPr>
        <p:grpSpPr>
          <a:xfrm>
            <a:off x="1963439" y="611790"/>
            <a:ext cx="1954828" cy="4555097"/>
            <a:chOff x="2566458" y="849854"/>
            <a:chExt cx="1954828" cy="455509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28FC4E7-13E3-45B3-29B4-FBFC38CE7DFF}"/>
                </a:ext>
              </a:extLst>
            </p:cNvPr>
            <p:cNvSpPr/>
            <p:nvPr/>
          </p:nvSpPr>
          <p:spPr>
            <a:xfrm>
              <a:off x="2853674" y="975321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Onboarding Login flow</a:t>
              </a:r>
              <a:endParaRPr lang="en-US" sz="1200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AEDDDE5-0B5B-A822-B1AD-A362436F2A7A}"/>
                </a:ext>
              </a:extLst>
            </p:cNvPr>
            <p:cNvSpPr/>
            <p:nvPr/>
          </p:nvSpPr>
          <p:spPr>
            <a:xfrm>
              <a:off x="2839013" y="1805842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following flow</a:t>
              </a:r>
              <a:endParaRPr lang="en-US" sz="1200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B885F76-314C-144D-0896-86EDC8C521AC}"/>
                </a:ext>
              </a:extLst>
            </p:cNvPr>
            <p:cNvSpPr/>
            <p:nvPr/>
          </p:nvSpPr>
          <p:spPr>
            <a:xfrm>
              <a:off x="2833428" y="2528628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Adding Post UI</a:t>
              </a:r>
              <a:endParaRPr lang="en-US" sz="1200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315BD4-6E4D-C87A-ABB4-E0F4139436C4}"/>
                </a:ext>
              </a:extLst>
            </p:cNvPr>
            <p:cNvSpPr/>
            <p:nvPr/>
          </p:nvSpPr>
          <p:spPr>
            <a:xfrm>
              <a:off x="2833428" y="3214074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Self Profile Service</a:t>
              </a:r>
              <a:endParaRPr lang="en-US" sz="120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E66BFA5-7283-34AC-6F0F-0348B06F0377}"/>
                </a:ext>
              </a:extLst>
            </p:cNvPr>
            <p:cNvSpPr/>
            <p:nvPr/>
          </p:nvSpPr>
          <p:spPr>
            <a:xfrm>
              <a:off x="2818503" y="3950670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Home Screen</a:t>
              </a:r>
              <a:endParaRPr lang="en-US" sz="1200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D5FA93A-92CE-99F9-3971-3DE8CB40819E}"/>
                </a:ext>
              </a:extLst>
            </p:cNvPr>
            <p:cNvSpPr/>
            <p:nvPr/>
          </p:nvSpPr>
          <p:spPr>
            <a:xfrm>
              <a:off x="2818503" y="4717567"/>
              <a:ext cx="1301262" cy="46892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Search screen</a:t>
              </a:r>
              <a:endParaRPr lang="en-US" sz="12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904A30B-13B0-7076-9F89-D9EEA7A47F71}"/>
                </a:ext>
              </a:extLst>
            </p:cNvPr>
            <p:cNvSpPr/>
            <p:nvPr/>
          </p:nvSpPr>
          <p:spPr>
            <a:xfrm>
              <a:off x="2566458" y="849854"/>
              <a:ext cx="1954828" cy="4555097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  <a:alpha val="9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DE9686-1336-5BE2-7FB1-40E9F235AFFD}"/>
              </a:ext>
            </a:extLst>
          </p:cNvPr>
          <p:cNvGrpSpPr/>
          <p:nvPr/>
        </p:nvGrpSpPr>
        <p:grpSpPr>
          <a:xfrm>
            <a:off x="4399878" y="804220"/>
            <a:ext cx="3077606" cy="4112026"/>
            <a:chOff x="4399878" y="804220"/>
            <a:chExt cx="3077606" cy="411202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AF367EA-8157-7DE3-5A28-AD26374DD405}"/>
                </a:ext>
              </a:extLst>
            </p:cNvPr>
            <p:cNvSpPr/>
            <p:nvPr/>
          </p:nvSpPr>
          <p:spPr>
            <a:xfrm>
              <a:off x="4588691" y="973014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Service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BD7C2CF-D2E1-44AA-B255-4CC54CFF6A93}"/>
                </a:ext>
              </a:extLst>
            </p:cNvPr>
            <p:cNvSpPr/>
            <p:nvPr/>
          </p:nvSpPr>
          <p:spPr>
            <a:xfrm>
              <a:off x="4588691" y="1805353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Graph Service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AF33D1E-C1F8-A539-6859-7C60EDB4750F}"/>
                </a:ext>
              </a:extLst>
            </p:cNvPr>
            <p:cNvSpPr/>
            <p:nvPr/>
          </p:nvSpPr>
          <p:spPr>
            <a:xfrm>
              <a:off x="4588691" y="2356566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397188D-D61E-5007-C85F-60CE45A7F8C1}"/>
                </a:ext>
              </a:extLst>
            </p:cNvPr>
            <p:cNvSpPr/>
            <p:nvPr/>
          </p:nvSpPr>
          <p:spPr>
            <a:xfrm>
              <a:off x="4588691" y="3642571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6921E17-42E9-408B-E080-16F64E1F56F8}"/>
                </a:ext>
              </a:extLst>
            </p:cNvPr>
            <p:cNvSpPr/>
            <p:nvPr/>
          </p:nvSpPr>
          <p:spPr>
            <a:xfrm>
              <a:off x="5977883" y="1805352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Timeline Service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B5427B3-B623-4E0E-AFB6-2DE68362ED64}"/>
                </a:ext>
              </a:extLst>
            </p:cNvPr>
            <p:cNvSpPr/>
            <p:nvPr/>
          </p:nvSpPr>
          <p:spPr>
            <a:xfrm>
              <a:off x="5977883" y="2967191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Service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F8383ED-4195-C028-71E6-5DC01AC3DD76}"/>
                </a:ext>
              </a:extLst>
            </p:cNvPr>
            <p:cNvSpPr/>
            <p:nvPr/>
          </p:nvSpPr>
          <p:spPr>
            <a:xfrm>
              <a:off x="4588691" y="2936941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Processor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E9903E8-24E5-094D-D72A-51B0EB8A86AB}"/>
                </a:ext>
              </a:extLst>
            </p:cNvPr>
            <p:cNvSpPr/>
            <p:nvPr/>
          </p:nvSpPr>
          <p:spPr>
            <a:xfrm>
              <a:off x="4588691" y="4275785"/>
              <a:ext cx="1436072" cy="517071"/>
            </a:xfrm>
            <a:prstGeom prst="roundRect">
              <a:avLst>
                <a:gd name="adj" fmla="val 9865"/>
              </a:avLst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Search service</a:t>
              </a:r>
            </a:p>
          </p:txBody>
        </p:sp>
        <p:sp>
          <p:nvSpPr>
            <p:cNvPr id="1125" name="Rectangle: Rounded Corners 1124">
              <a:extLst>
                <a:ext uri="{FF2B5EF4-FFF2-40B4-BE49-F238E27FC236}">
                  <a16:creationId xmlns:a16="http://schemas.microsoft.com/office/drawing/2014/main" id="{982385CF-64EC-16FA-117F-6631CF677802}"/>
                </a:ext>
              </a:extLst>
            </p:cNvPr>
            <p:cNvSpPr/>
            <p:nvPr/>
          </p:nvSpPr>
          <p:spPr>
            <a:xfrm>
              <a:off x="5977883" y="2420416"/>
              <a:ext cx="1301262" cy="46892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Trends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C5CDA39-05C3-D2B8-8EA2-95DFA6ABBCC9}"/>
                </a:ext>
              </a:extLst>
            </p:cNvPr>
            <p:cNvSpPr/>
            <p:nvPr/>
          </p:nvSpPr>
          <p:spPr>
            <a:xfrm>
              <a:off x="4399878" y="804220"/>
              <a:ext cx="3077606" cy="4112026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  <a:alpha val="9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D3C98B-DD43-14B4-1BF8-C063015DB5EC}"/>
              </a:ext>
            </a:extLst>
          </p:cNvPr>
          <p:cNvGrpSpPr/>
          <p:nvPr/>
        </p:nvGrpSpPr>
        <p:grpSpPr>
          <a:xfrm>
            <a:off x="7906746" y="2218655"/>
            <a:ext cx="1974848" cy="1063686"/>
            <a:chOff x="7711781" y="2116900"/>
            <a:chExt cx="1974848" cy="106368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8991B0-0834-7C33-0691-7109433C0CC2}"/>
                </a:ext>
              </a:extLst>
            </p:cNvPr>
            <p:cNvSpPr/>
            <p:nvPr/>
          </p:nvSpPr>
          <p:spPr>
            <a:xfrm>
              <a:off x="8023395" y="2335864"/>
              <a:ext cx="1301262" cy="574431"/>
            </a:xfrm>
            <a:prstGeom prst="rect">
              <a:avLst/>
            </a:prstGeom>
            <a:solidFill>
              <a:srgbClr val="FFD5D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User DB MySQL cluster</a:t>
              </a:r>
              <a:endParaRPr lang="en-US" sz="11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A1E0A50-7AE2-22DA-582C-A5F56CE27FFE}"/>
                </a:ext>
              </a:extLst>
            </p:cNvPr>
            <p:cNvSpPr/>
            <p:nvPr/>
          </p:nvSpPr>
          <p:spPr>
            <a:xfrm>
              <a:off x="7711781" y="2116900"/>
              <a:ext cx="1974848" cy="1063686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  <a:alpha val="9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2397E6F-33B0-54B1-C911-506198D4546F}"/>
              </a:ext>
            </a:extLst>
          </p:cNvPr>
          <p:cNvSpPr txBox="1"/>
          <p:nvPr/>
        </p:nvSpPr>
        <p:spPr>
          <a:xfrm>
            <a:off x="2238727" y="5168776"/>
            <a:ext cx="129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UI layer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379CC3-4A88-AC2F-A9F4-8B6A9E95AF87}"/>
              </a:ext>
            </a:extLst>
          </p:cNvPr>
          <p:cNvSpPr txBox="1"/>
          <p:nvPr/>
        </p:nvSpPr>
        <p:spPr>
          <a:xfrm>
            <a:off x="5036150" y="5024189"/>
            <a:ext cx="159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Service layer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2BD3F8-4BD1-A0BF-D948-520CF5FFAEB1}"/>
              </a:ext>
            </a:extLst>
          </p:cNvPr>
          <p:cNvSpPr txBox="1"/>
          <p:nvPr/>
        </p:nvSpPr>
        <p:spPr>
          <a:xfrm>
            <a:off x="13493402" y="2204825"/>
            <a:ext cx="902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Persistence layer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E8EF41-9651-B370-C7A9-23EECEE74F7C}"/>
              </a:ext>
            </a:extLst>
          </p:cNvPr>
          <p:cNvSpPr txBox="1"/>
          <p:nvPr/>
        </p:nvSpPr>
        <p:spPr>
          <a:xfrm>
            <a:off x="7279145" y="5530892"/>
            <a:ext cx="3544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Social Media Platform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7A8C5CEF-598C-7B03-C372-189FFD87FFB6}"/>
              </a:ext>
            </a:extLst>
          </p:cNvPr>
          <p:cNvSpPr/>
          <p:nvPr/>
        </p:nvSpPr>
        <p:spPr>
          <a:xfrm>
            <a:off x="1538344" y="611790"/>
            <a:ext cx="9483278" cy="4926318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9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9AC20-9F0F-2435-BD89-DE802BBF7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926" y="1112403"/>
            <a:ext cx="1308013" cy="13080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F0A4D3-7953-A3A3-19E8-72B2C44E06DB}"/>
              </a:ext>
            </a:extLst>
          </p:cNvPr>
          <p:cNvSpPr txBox="1"/>
          <p:nvPr/>
        </p:nvSpPr>
        <p:spPr>
          <a:xfrm>
            <a:off x="7869726" y="4320562"/>
            <a:ext cx="197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Persistence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EC1DA1-0E35-F8AF-A31E-ED7089C74E2A}"/>
              </a:ext>
            </a:extLst>
          </p:cNvPr>
          <p:cNvSpPr txBox="1"/>
          <p:nvPr/>
        </p:nvSpPr>
        <p:spPr>
          <a:xfrm>
            <a:off x="10079933" y="2611000"/>
            <a:ext cx="197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Single machine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EFC2F6-342E-7EC2-0114-2E7C53FD1BD4}"/>
              </a:ext>
            </a:extLst>
          </p:cNvPr>
          <p:cNvCxnSpPr>
            <a:cxnSpLocks/>
          </p:cNvCxnSpPr>
          <p:nvPr/>
        </p:nvCxnSpPr>
        <p:spPr>
          <a:xfrm>
            <a:off x="3918267" y="2860233"/>
            <a:ext cx="4816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F8F670-E814-50BE-5E1A-E3A8E14A282D}"/>
              </a:ext>
            </a:extLst>
          </p:cNvPr>
          <p:cNvCxnSpPr>
            <a:cxnSpLocks/>
          </p:cNvCxnSpPr>
          <p:nvPr/>
        </p:nvCxnSpPr>
        <p:spPr>
          <a:xfrm>
            <a:off x="7477484" y="2770736"/>
            <a:ext cx="3922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2339CF8-EF69-7DF3-4C69-0545E7C69EA9}"/>
              </a:ext>
            </a:extLst>
          </p:cNvPr>
          <p:cNvSpPr txBox="1"/>
          <p:nvPr/>
        </p:nvSpPr>
        <p:spPr>
          <a:xfrm>
            <a:off x="3447230" y="2934840"/>
            <a:ext cx="130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4172249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1D97-B935-97EF-FA17-02177CDE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B54C3-2741-69AB-9837-F8183DAF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engineering is non-monolithic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B4F02-F591-71E8-2BEE-99E2C14F63EC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8AD6DB-0BDF-86F0-B4A1-36817334D6A1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251E93-B39F-04EA-48F5-B306D2DCC0C5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B364AC-AEB4-8E14-B8DD-F529C59F312B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1EB1BC-97E1-8092-31A9-88B7643750AA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35F60D-0E93-AE94-F2CE-8F69245ADDAE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F8F157-A59A-8AAD-8C15-32B0E6F22E17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21B368-DB87-08A6-2A82-B9E49C00AC9A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969C3E-7182-5584-E679-A27B03E2FEEB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DBEF9-E9DC-55D7-1AFC-7A267957B78B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A6C5CF-D82C-8EFB-7E80-5B13FC70B500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70D0C4-A12C-481E-CD19-D03081595E09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628155-1E1D-C536-3633-3236C63A8B71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6718F-A3E9-BBB1-E742-A8A5FF35E141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5E01C-3AFC-5B0E-1AF2-F7B9F74248C8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0C9490-5B17-0FD5-EDFF-1DF6E26F868B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00444D-9F64-C791-AA5E-26DCBCD51A6E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C0907D-78B6-9C49-B77B-775E1CDF12EB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85C9EF-4417-9E29-D58B-721AED504EB2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ABEEA2-8F96-034D-F47B-5907D3DCBAAE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DA20DD-A638-5ACF-CCF5-14CC3F5C8F7D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441E8-770D-EBD9-D78B-7D2251578655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A95DAF-7DF7-63E3-9963-86DA867FF321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C95B0E8-1650-9494-7E7D-33EB966FD4C2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5D0A07-6453-AC65-D411-C50B85DC517B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E345E5-9A87-12D5-7FED-E22A6523A082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462CFA-AF19-882D-6AF3-23E95D1D0A28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6B25697-E082-794D-810C-DFD7E47B99ED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254F9B2-61A4-7DC8-793D-7712D447F061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49BC71-EB30-DCD5-5034-E8DCD8AFBBDE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A0E26E4-8A91-039C-4632-E3081C8C92D6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8A5462-E530-4F15-54E5-C0EF52078FC7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1A8FCC-6B71-BB58-8A47-B8D95172AA95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D54B31-D9CB-DD62-7C11-F1D6FC752716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BC8246-24C8-CFE4-4293-8BDBCF53245E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377A03-C28D-0608-32AB-4AA592659DA1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BD202A-829B-76D9-0B45-4B81C3D20E57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93CD26-F80F-D392-C26C-7A1EF143FC3B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12F5EC-AB8C-10C5-2B29-A02A2CAE0F2A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4DB8E7E-014B-3C7A-BCF1-C6AE771DAD9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1BF0A22-C5B8-D300-702F-C2EDF8AF02E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EA32E85-AF59-5905-4FDF-492265C3F1A0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D08A41B-A436-3ABD-A382-037EC790A2DF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3F8674EA-A33F-A83E-6591-AC9B0499D372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944F7117-22AE-0319-EF7A-A4C03C971E60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BBB694EC-E021-0F34-3FEC-F22166C59A4D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30140B54-8C75-0D2E-1465-E9D779B9FD9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1BE1A6A1-462F-63D8-0723-135A28BC6574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A26CF1F1-8D5E-CA7E-5361-86A68D10CD9E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98DF38E0-74F5-E80E-7414-DEB305691D2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B87C4073-7FAC-56CC-CCA4-861BD4DCB8EA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BB96C30D-2607-9E61-D2A0-7681A799C261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B71F06FD-1FFE-8905-8EB3-85C8F8D2FDAD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7FBB9DDC-4DBA-1A45-8362-E7AF6D13125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FDD4A529-9584-051D-4C98-1E4880AEC8A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4587FFE5-84DF-8962-290F-11C969C29B0B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6595FECA-6890-B9A8-9A3B-158357BE4DC7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757FFD11-BE92-CCCE-ED67-1F13D1B02255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6FA9552C-9894-84FD-8AE7-6CAE0282B6AA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1C7FFC95-317A-DBBB-BD82-C9CABD751901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68D6BC86-3D98-EDB2-3F59-F547C4E35151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69B6BD1D-066E-2BE3-32FD-EF8C8F68B869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40329D3A-9658-9009-E43A-329F172E5A4D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603F647-DB1E-3467-55DC-F33C69A964CC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FCF63A16-4E5A-452D-7507-A44399043DD4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1942DBA1-6989-2F96-2DE9-524C9457D029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4B96AB6E-F22D-1BA3-9F8A-13B5B7FB95C5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AC9F9B26-9865-0DB1-0DB9-DD11DE5E9ED3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DD01D83E-F465-708D-FDC8-D27B568C4C5A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21756BA6-CC3D-C35C-6EB7-A447431B648A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13D2EB79-D56E-E77B-3161-16DEE33073FE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90D37FEE-15D4-CD0C-AF54-0A50DEE5FAC5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159330F4-0516-8641-403A-6D7A2FC3E492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4EB64FA-95C1-CF4C-48CA-A25249AA9435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490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AC6B-A346-C28A-E82E-BCA3B00A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27D288-A08E-7E38-E620-82BAABBB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is decomposed into microservices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1FEFD5-307F-49AA-30A3-D131AE2DBE02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9E748-D842-2667-B8E2-F1D482C3C46C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26756D-F4A2-8FF3-128B-B099A23B463B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62ACE9-265F-26F7-E67C-4B83631349D6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97B6F4-6A48-7921-4093-BDBAA35C5A49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12F92E-8BF0-C82A-FF85-C4D9A88C6410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0A1D95-073E-FD05-F7F7-C0356E10FC20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385FC7-C1A5-9E09-2BEE-80591C5238C3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7DC291-D10A-DE01-6414-16AEC584A67F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0ED280-D72B-C4C8-A40F-738DFCCD44B2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107FB4-A845-6FE3-64AC-C3E1D5C6C782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947DB0-4DFD-0A63-8DA0-0FFF025EB0F7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7ACBF-A666-1894-3BD1-20FD37687FCD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EE5A39-5E03-82CE-93F8-FF308A79A71B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9633C8-4F85-E757-1837-C9CE9549FEE7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CBAAA2-EA71-639B-70C9-4ECCE2BA8FB5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0AD7C39-0B6B-E646-7FC3-321E14C944E4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2680-F1BF-B767-1182-3594059CEF3F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1D12A2-DC41-3D28-F80D-B38E3615043E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0D3EAA-010B-5D71-58AD-A2FE7C6EA37F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A67226-DE82-14B6-F514-0D51015FBB28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ECE425-618B-BB23-F513-B94507689850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8C42F6-A3D8-3208-585D-5EC45EB66CDC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1B24DF-E3C6-2663-98A3-2D2129A3A6A1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138EB8E-8DFA-FD80-44D2-DDB5A234269A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DA0107-30A5-4423-648C-9174FFF95955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376148-553D-2519-A422-3DF0CC5AE75E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B95FEEB-9085-FA8F-EA62-4EFF6B609248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6004AA-E13F-F3BE-4FC8-729654A89B5D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6D58AF7-E3A1-AA5A-D4AE-09242B36B78D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4206F1-1523-8ECA-F8B0-C8766BC51D1C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624FBB-CBD9-D97A-F3CD-EB9017984461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521652-46A3-82CE-4B15-1B61C16198C4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D937FE-263A-3712-2EC2-82B044B7AE29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B8A5D7-B918-AA0B-45ED-853A9E42ED31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1A5B0E-65F5-36B6-9CF3-038D2635F6AD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DC6E136-1F22-E57A-1C2E-76AC11F28337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B91B989-1B22-E519-3248-E004751444B8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4F07604-473D-F5C6-5C7D-829D2875BE33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12E5985-9D75-F081-EC61-DE8A8816638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2DC2CD3-9A17-491D-6408-362E9A5EFDB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2F349E-3761-2C77-CAD7-64C507203E36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8AFBEF7-8885-5545-C811-6A7ADF4DF375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55C86CF3-472A-397C-3054-ABC761550329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E29A6C34-8BCB-2682-3357-F9B4C09D9F2E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C8E354F0-FDCD-B645-E609-874C1987AA37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6E357FBE-BF9A-CB17-F318-468595F360D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5ACED353-1113-8589-6692-B497C5B99E60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8E5BCB28-8D6A-FDC9-6B30-B59BA285101C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E6578218-CDDC-4B72-6560-EF0F662BF7A9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D6F5246B-4988-83AE-5BE6-0AA932E6F57A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3F3BF1EE-CF0B-C8E3-008D-D00E5D6971FA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040D1BCA-DD9C-F580-6E83-5BAAF4FE6EAD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426C97E0-96BC-E493-9B9A-8C6F697C00D3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62D9A22C-7146-526D-8F40-1F5A4B580F9A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44B913D7-B9DE-CE20-6F02-9A5FE5095F85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5D06B29A-D80A-521C-ABA9-1160BE695200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708D4658-DC31-D559-CC7D-6C2218B2C90B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35E3FCBA-0697-71C7-92A5-7BC3BA9DCD24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2396374A-C542-7656-5E06-DE2B7E0382B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D641A6A9-F173-6F83-DCAE-90DDD3E7493F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3E3019A9-1C83-0E66-EF74-2D8D30C1C6AF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DC53918D-0847-5448-47E0-D89C656EB007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A919C94A-524B-4A9B-82CE-22D96E388EBD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B0E8104C-563B-DDD9-E94D-C797D2B1C3B4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C235E0EA-3ED0-8791-31E5-EF790D90F51A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037414EF-5FB6-52B9-2659-41F6039D15C9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73848AB2-6B87-116F-A0DE-23D74FA9CEF4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FEE40FA2-37E9-E67A-0AC3-C0DB8643389F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26D3A7D4-DF55-B38D-25C7-1AE6D7897728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B028E0A7-8B89-1546-D4D7-B49D1CAD00CF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DD58CA58-00F7-6874-0959-760180B506E1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B8134738-366F-F3B7-782C-A003607C31AE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3E8363D-A54D-E8A7-FB19-E3B102736055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04B710-15E6-488A-BD20-1D701047A66F}"/>
              </a:ext>
            </a:extLst>
          </p:cNvPr>
          <p:cNvSpPr txBox="1"/>
          <p:nvPr/>
        </p:nvSpPr>
        <p:spPr>
          <a:xfrm>
            <a:off x="491869" y="568514"/>
            <a:ext cx="20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Remote API calls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41EB05-D0DC-443B-EA0D-6B8E8BE00B7F}"/>
              </a:ext>
            </a:extLst>
          </p:cNvPr>
          <p:cNvSpPr txBox="1"/>
          <p:nvPr/>
        </p:nvSpPr>
        <p:spPr>
          <a:xfrm>
            <a:off x="495971" y="1463441"/>
            <a:ext cx="20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Remote API calls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518F8D-0257-50B9-6B12-F725F2733B72}"/>
              </a:ext>
            </a:extLst>
          </p:cNvPr>
          <p:cNvSpPr txBox="1"/>
          <p:nvPr/>
        </p:nvSpPr>
        <p:spPr>
          <a:xfrm>
            <a:off x="491869" y="2410949"/>
            <a:ext cx="20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Remote API calls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AED57B-775E-D7B0-507A-24F33C8D2991}"/>
              </a:ext>
            </a:extLst>
          </p:cNvPr>
          <p:cNvSpPr txBox="1"/>
          <p:nvPr/>
        </p:nvSpPr>
        <p:spPr>
          <a:xfrm>
            <a:off x="416149" y="3712668"/>
            <a:ext cx="20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Remote API calls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B26D6B-447C-C58E-D1AA-E4FBECC2F6B5}"/>
              </a:ext>
            </a:extLst>
          </p:cNvPr>
          <p:cNvSpPr txBox="1"/>
          <p:nvPr/>
        </p:nvSpPr>
        <p:spPr>
          <a:xfrm>
            <a:off x="2883371" y="3499276"/>
            <a:ext cx="20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Remote API calls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0AB1B7-9DBC-735F-5005-1E33FB33E5F7}"/>
              </a:ext>
            </a:extLst>
          </p:cNvPr>
          <p:cNvSpPr txBox="1"/>
          <p:nvPr/>
        </p:nvSpPr>
        <p:spPr>
          <a:xfrm>
            <a:off x="5040874" y="5524123"/>
            <a:ext cx="207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Remote API calls</a:t>
            </a:r>
          </a:p>
        </p:txBody>
      </p:sp>
    </p:spTree>
    <p:extLst>
      <p:ext uri="{BB962C8B-B14F-4D97-AF65-F5344CB8AC3E}">
        <p14:creationId xmlns:p14="http://schemas.microsoft.com/office/powerpoint/2010/main" val="338860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6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7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8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2" grpId="0" animBg="1"/>
      <p:bldP spid="25" grpId="0" animBg="1"/>
      <p:bldP spid="28" grpId="0" animBg="1"/>
      <p:bldP spid="29" grpId="0" animBg="1"/>
      <p:bldP spid="30" grpId="0" animBg="1"/>
      <p:bldP spid="35" grpId="0" animBg="1"/>
      <p:bldP spid="36" grpId="0" animBg="1"/>
      <p:bldP spid="11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9F67-FA81-DE25-D49B-BD91EA6E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6DA623-250F-37FE-DEFC-F6CB4D0C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is heterogenous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D97499-F884-FE1D-36BC-0B79B94B50E7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95B1F9-F6F3-F53B-09E2-F3FA587C1BE5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B0B093-B2F2-5E56-E9C7-132BAEC03FC7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33D37C-DC05-173E-ACDC-D55CBE6C9CC9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CBA4B2-7271-DCC4-9E18-F99C067F90D7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EDE907-D91A-CD48-8DBA-B4205462D6EF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EC5D22-5F62-13AE-C173-E5D401A3F18C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CD93B9-A739-01B5-A70E-2B76E3B1190F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DD50B5-4C35-E9BC-1478-92750D103603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771996-F2E3-9649-21ED-3052D7B828AD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F5845C-F3CE-AA82-92DE-CC958A66AC29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ACD097-3C52-CFA8-D9FC-62B0F73ED8C6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E603C-B47A-A135-B5FB-5F6176AE2C34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25FEFF-C50C-D60A-EAC0-F537C508C67E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24FFE2-1877-3C2F-15DB-6E516BBB7F25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B2434E-AA1E-12CE-9EBE-C9EE72A3E06A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9A5C137-21C3-E3DB-DEF9-5CD00694214E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C157DA-C9C3-BEDE-42E8-89A8DAC3507D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D4C947-B835-E53D-C43E-536EF25C3FE0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42AFBA-58D0-E211-37F1-913597DEEDD1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081635-F309-40A8-1592-36E1A39769CF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39D677-2DF3-6188-AC46-60BE3BD3BB9F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9A271F-BC41-B9EA-76DE-038E5AFACD01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B64C52-C799-F342-49CC-C694177B4EB4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B39CA85-F425-6848-10F9-11340B2B4AA1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EF75C4-FC10-A7EA-08CC-20932102D97C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F52670-75C2-9CF8-D820-C27A210398DF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648A77-F5C1-63EA-0A44-D87D2B9475C4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8D06E38-0507-5943-05D2-BF60BC3FFDD5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2361ECE-1CC6-EB25-4DF6-680D3EC9679F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37AA4D6-4C02-AB75-F85D-4E2D3BAF9708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D26B99-BF6C-F36A-47E5-37B1A6AFC055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AFE567-2CFF-EAAA-FB1B-3151E626866E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7405C2-4677-5894-0F8B-A42335BB514A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191117-2FEB-A216-6B10-C197746B3DBF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0EB08F-1F64-11D3-E8E9-80CC636F8D9C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246D8F-F86F-778E-6C9A-F9EBB5C9A4C6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A591C9-2BDB-285D-6DA7-58E10FD2D8B4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6BC718-7F56-7777-A1D2-5DA734F95187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6F4DF40-760E-E0F7-169A-0CA47716078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3F4CF78-F278-5B12-8908-0639DFB5140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D1BDDDB-3704-ECA7-D0EC-323D11C8F281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7E1D732-2884-4ACF-45BB-94AAF100CE37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642ECA77-0E2F-8190-5A6B-F697C1BF323B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E64BF4A4-1650-7AC8-9371-E9FEF92CF0F4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2F15DDB4-5456-095B-B372-66ED80FEC732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817965BA-8AD5-5529-14A2-CC21C4135C1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244ACE99-1830-0F26-C894-43747536425D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3D98326F-703D-E618-BE1C-4ABB03CC717F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F2806166-7D21-2DD0-BF97-0B2643500A52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625FA042-94FC-E575-2523-CF3EEED23FAF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8CD12816-0151-FAC7-B1C3-DDD7B23515F2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87ED22D2-E73B-1775-9883-C4278BE81140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670CF7DD-B7A6-8C08-EFAF-9E2EBBCCED8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D3D22C85-B92C-0583-8ADB-71F8992709EA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5140E06B-7FB0-908E-AC59-9380C41E7442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4C4C7E75-79DE-4C58-0258-30730C3128EB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CCBA2C36-1E85-AE1E-7EA8-0C59EA76AAB3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4C8C4C73-64D5-C7B1-3CDC-1672B8868C16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A79799A1-CD3A-2455-0962-684FF424CD3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58E80AD0-92D2-E96F-0360-974F3732BFE2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1D066968-EAC3-C431-0490-91E83F946918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F59876C2-7B33-F06E-39B2-E0F784AE7B59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8F43A04-449E-B7B3-64D2-67FD7D9F8884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94742830-8E28-5423-EB5B-CC3C15CC582F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1C83D36F-9D86-7DF8-9F54-D17022BC17E9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157657B6-4D17-61EC-0364-FE5FF0CC2A8E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EDC8AA89-A6FA-CEBC-7486-B4EB51007304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7124AD05-5E26-0BEB-B2EF-6CD6E0C82F0C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8AF08FD1-CA13-BA42-5601-BE6BE2611585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55C8505F-DE6C-98BA-4A11-5A22B25EF2A7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F3BFB7D0-A7AC-4D0A-AF04-691F25358E5C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CDFAB7EA-33CD-883D-D283-228E8D23D39A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6A5A815-81EA-9327-8F57-3C0910C62887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0FEE617-EBF4-9C94-6689-1026AF7BE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884" y="3087741"/>
            <a:ext cx="787246" cy="766529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001EF2-4B6B-5B71-27F9-7983EE2B39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373" y="536742"/>
            <a:ext cx="787246" cy="766529"/>
          </a:xfrm>
          <a:prstGeom prst="rect">
            <a:avLst/>
          </a:prstGeom>
          <a:noFill/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8D42AE2-C9EF-8BD2-3C92-F0771DC55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67" y="2424302"/>
            <a:ext cx="787246" cy="766529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463069E-ED1F-C8A8-CC8C-09312FCDB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677" y="1064572"/>
            <a:ext cx="787246" cy="766529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CB2C2CF-15B2-89D3-4FE4-74A37918F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349" y="1410440"/>
            <a:ext cx="692531" cy="692531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B7E642B-128F-9E0F-B2CD-3C2BDB43B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189" y="3351931"/>
            <a:ext cx="692531" cy="692531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DF27D74-4A88-A4E6-C40F-A1B02BCC9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401" y="4843085"/>
            <a:ext cx="692531" cy="692531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5030225-0710-0060-B9F5-40C1987FA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19683" y="3366957"/>
            <a:ext cx="540804" cy="540804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09FBB96-F038-08F3-B447-0C6689A71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975819" y="2670843"/>
            <a:ext cx="540804" cy="540804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1B26A5F-02F5-1E4D-6923-2CAD8A640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591387" y="3047021"/>
            <a:ext cx="540804" cy="540804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3ADE370-2785-8F5C-AE44-64C50D84C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559494" y="4455743"/>
            <a:ext cx="540804" cy="540804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C4FF4AF-197F-CA13-7065-669846BEB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628814" y="4337535"/>
            <a:ext cx="518333" cy="518333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DAC68E-3371-5B08-B094-A923FB04D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35" y="486510"/>
            <a:ext cx="573452" cy="573452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4BF4D9B-04B8-7B7C-6428-7F92D12DA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04459"/>
            <a:ext cx="573452" cy="573452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FF22CDD-B38D-FF62-996C-72A18FD01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7" y="3218467"/>
            <a:ext cx="573452" cy="573452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A2D0148-2BCE-7DBE-0A57-D0EA7CB0EA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1" y="3844372"/>
            <a:ext cx="573452" cy="573452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B4DCA1D-EFC4-BC71-4488-757A2C2EA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8756" y="5448508"/>
            <a:ext cx="573452" cy="573452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5D4F5441-4E2F-592C-6DB6-BFDA2A963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915" y="4291647"/>
            <a:ext cx="573452" cy="573452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D5B7C7A6-0974-EE94-88F6-43B69BD5C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656745" y="4565982"/>
            <a:ext cx="540804" cy="540804"/>
          </a:xfrm>
          <a:prstGeom prst="rect">
            <a:avLst/>
          </a:prstGeom>
          <a:ln w="317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04323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9A8C-77BB-58D4-170F-87826507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95A541-9572-0F8F-59DF-97BFF94E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is distributed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E80C71-DDD5-B7EA-3CD8-0B987D1DC393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DBA243-7A51-B591-A7A4-D8CAA79BBDBE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392C77-E8A5-32BD-B80A-7EB034555898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6DFBFE-ACB6-401F-6151-5AAD63C7AA1C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938613-4200-F9AB-4C43-BBFC3348F2F7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D5649B-A678-363B-DD85-E92FE67E3016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87A014-4083-25F0-40EB-2DBB4790E0B6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7F2876-0046-3DF5-B0BA-6256F13C5FBC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FC9A9F-8058-0FBF-CD1F-6A3C3CD1B3AA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4C808-1135-DFCE-24E9-4A9F941FB563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A5CEAE-81EE-D546-D49A-0354750F3500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EBC1A2-FB46-F433-BE5A-252F513FFB65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E5CCEE-AB23-DB20-FCEA-E848598E30D0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061BBB-FB60-7E28-1873-BFDE7C97401E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2F0644-363B-25E3-42C8-C2CC7E6A6EDF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8B9423-258F-DF64-4195-65529079DF73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69A49E-FB10-17B6-40E1-206247F90302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61F605-8C8F-5E66-DC65-92AF0E4FF5D9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938B58-B7A5-90AB-5F50-FAB5CBFB33B7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701806-6A74-7789-99A0-A692AC842DD9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602377-1B05-8A0A-D5DF-2567093D500F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110CE7-3415-C9B9-B551-C5AE604ADC81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7E2210E-EB92-1AC0-F1F6-4E096D8F811F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D29D0C7-75B4-0C2D-A2DC-6F51BB198B57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B2EFD1-5AB4-7400-90B3-EBF2EC039F1A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8E7AF7-2637-8D8C-150A-EB8AFE2D2E5B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5870D6-0B59-98F4-AF6C-28372805BE6E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9D77882-D51C-E728-0743-33966BA540A6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68979D1-0DA5-EB60-6A5C-21409617C193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59BCF4-4DAB-7A33-49D2-0D5210B7CCA7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8570B19-8369-701E-E705-F33DF34F1F20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3AC423-B8C4-96F7-3F81-034A887106A6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09174-4C5F-CEEA-757C-05830B5C85DE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85C94C-5D7D-DF65-A92D-21C19C4DAA0F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F5EDEB-1693-AA86-5609-0E9B33427A22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694069-C8B6-1461-77A8-FD57F24CBA6D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2EA98B-CFEB-D4A9-6961-4F4463A04906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9077400-23EC-E521-C0AB-6B21CA04B49A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CB5410D-5DF1-D194-B690-FC8AEB9085BA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754248A-6420-9E68-7C98-0D5F6625E78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62D5E0-2D58-E4AC-9B29-9991FC42EA4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533C5DF-FFDD-0C0C-7AE1-F2543A5DFDC8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58AC1E8-BA12-7217-24EC-6DB8990C20B0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1BFDBB75-C468-A984-1908-0D95532CA379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27DB06FE-E97A-B21A-01EB-68C1C6F21DC6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608E02F8-609A-FCCF-39CF-B3F3C89C6918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52B376C7-52EC-3259-734F-50EC61020F4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F98D0E8F-F28C-BE97-99F7-FB019CB52D7F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AE44B779-42D8-A9DC-6AFB-96E9DAF89051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5E00A173-12F6-CD51-2C99-AD6926B61A18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4B6D437D-49BD-9CCF-99A6-F8E870CE3F43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7C7D92C0-4497-E500-9D7B-1F9D58430861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04A4B24B-0C46-0D06-FE3A-EF332D903614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5BF4A015-53E5-9F01-0042-01FDE983EE7F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1B9DEDC7-C28D-E0DC-0F52-98F660930436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233B068A-FEAD-3B5A-7E2D-7359079F7A05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10A085AA-14DE-FF60-B9E0-C4085A460CF8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5F9CA2D1-C94E-0CC0-59A6-F97F1E9CC121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2759A2F8-DBED-D1DA-029F-A9914B4CA5EB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61150DE5-5E4C-AA43-0FC0-81BE8930FAB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D9324607-0C35-E2B1-5EBB-6C2AF4C6F527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F320AD6E-C0BD-4AAE-9778-5DD3537720ED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01B3F361-5174-C04C-2D27-EF2174EBEFE1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9DABBAD1-9A98-3B70-3ED9-D52C45829BF1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153C9128-6C4F-67A3-5EC0-897281FA6BB0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C87DB088-9D00-B297-0BFC-08BA493339FE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4B3F86B9-AE1C-EAF0-B1D7-E667E83AFE72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CE67467F-5168-6749-A46B-E36F270BD688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28416620-C6B9-C4E8-A09D-1A12ABC6209F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CFFAB9BE-0918-C08E-0BDB-40EBC87E954C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1E552602-648B-F53C-0845-24BDB4763A15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C39FB971-A5C3-70CE-4032-AFDA3758E8D4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D11BAF61-6DA8-1B1E-CBF9-791BA48FDA1D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728DBDF-0A20-808F-4EE3-9624A17206A5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Xeon - Wikipedia">
            <a:extLst>
              <a:ext uri="{FF2B5EF4-FFF2-40B4-BE49-F238E27FC236}">
                <a16:creationId xmlns:a16="http://schemas.microsoft.com/office/drawing/2014/main" id="{80EC382D-74A3-BBE7-4BFF-7E14C4698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00" y="597327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Xeon - Wikipedia">
            <a:extLst>
              <a:ext uri="{FF2B5EF4-FFF2-40B4-BE49-F238E27FC236}">
                <a16:creationId xmlns:a16="http://schemas.microsoft.com/office/drawing/2014/main" id="{210644A3-E3CC-4F10-5D76-1CF91407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231" y="1167268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Xeon - Wikipedia">
            <a:extLst>
              <a:ext uri="{FF2B5EF4-FFF2-40B4-BE49-F238E27FC236}">
                <a16:creationId xmlns:a16="http://schemas.microsoft.com/office/drawing/2014/main" id="{E0C3D127-3411-01E7-6D80-CC29CDD01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295" y="3368041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Xeon - Wikipedia">
            <a:extLst>
              <a:ext uri="{FF2B5EF4-FFF2-40B4-BE49-F238E27FC236}">
                <a16:creationId xmlns:a16="http://schemas.microsoft.com/office/drawing/2014/main" id="{D9AB0307-3FAA-E090-F7E5-E16362A0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481" y="3827084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Xeon - Wikipedia">
            <a:extLst>
              <a:ext uri="{FF2B5EF4-FFF2-40B4-BE49-F238E27FC236}">
                <a16:creationId xmlns:a16="http://schemas.microsoft.com/office/drawing/2014/main" id="{656569CA-C4D8-9E61-76CD-2ACC6AF92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290" y="2441107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Xeon - Wikipedia">
            <a:extLst>
              <a:ext uri="{FF2B5EF4-FFF2-40B4-BE49-F238E27FC236}">
                <a16:creationId xmlns:a16="http://schemas.microsoft.com/office/drawing/2014/main" id="{E7CEB6E3-79F7-9F66-2F52-8021D9DC5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100" y="3059847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Xeon - Wikipedia">
            <a:extLst>
              <a:ext uri="{FF2B5EF4-FFF2-40B4-BE49-F238E27FC236}">
                <a16:creationId xmlns:a16="http://schemas.microsoft.com/office/drawing/2014/main" id="{6250ED66-EA59-0021-8635-88F055F63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202" y="1126240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Xeon - Wikipedia">
            <a:extLst>
              <a:ext uri="{FF2B5EF4-FFF2-40B4-BE49-F238E27FC236}">
                <a16:creationId xmlns:a16="http://schemas.microsoft.com/office/drawing/2014/main" id="{2EE078F1-B28B-156F-5415-2EF34805C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114" y="1814927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Xeon - Wikipedia">
            <a:extLst>
              <a:ext uri="{FF2B5EF4-FFF2-40B4-BE49-F238E27FC236}">
                <a16:creationId xmlns:a16="http://schemas.microsoft.com/office/drawing/2014/main" id="{757AF866-FFEA-94EF-1FEA-F64FD234A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323" y="1203687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6D83BD73-680E-313A-0946-F81C0417A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5" y="2149396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6">
            <a:extLst>
              <a:ext uri="{FF2B5EF4-FFF2-40B4-BE49-F238E27FC236}">
                <a16:creationId xmlns:a16="http://schemas.microsoft.com/office/drawing/2014/main" id="{162BB4B1-A427-7CA4-DD0E-BC44ABFC8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4809" y="5583762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3D569E27-D199-4632-0E20-2287335C7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7178" y="3055009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6">
            <a:extLst>
              <a:ext uri="{FF2B5EF4-FFF2-40B4-BE49-F238E27FC236}">
                <a16:creationId xmlns:a16="http://schemas.microsoft.com/office/drawing/2014/main" id="{FEAC09A9-E1B8-9459-D816-2363C2118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422" y="477277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>
            <a:extLst>
              <a:ext uri="{FF2B5EF4-FFF2-40B4-BE49-F238E27FC236}">
                <a16:creationId xmlns:a16="http://schemas.microsoft.com/office/drawing/2014/main" id="{82911AD1-6266-071D-0A95-E09D7B964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523" y="1822938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>
            <a:extLst>
              <a:ext uri="{FF2B5EF4-FFF2-40B4-BE49-F238E27FC236}">
                <a16:creationId xmlns:a16="http://schemas.microsoft.com/office/drawing/2014/main" id="{223C645F-0917-9B27-144A-A4F67BDB3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00" y="5310556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>
            <a:extLst>
              <a:ext uri="{FF2B5EF4-FFF2-40B4-BE49-F238E27FC236}">
                <a16:creationId xmlns:a16="http://schemas.microsoft.com/office/drawing/2014/main" id="{05C96F9E-C79F-C08E-CA78-48A02A10F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130" y="4747847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>
            <a:extLst>
              <a:ext uri="{FF2B5EF4-FFF2-40B4-BE49-F238E27FC236}">
                <a16:creationId xmlns:a16="http://schemas.microsoft.com/office/drawing/2014/main" id="{CE9AAED2-F75D-3C07-302D-AA7EAC155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140" y="4384425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6">
            <a:extLst>
              <a:ext uri="{FF2B5EF4-FFF2-40B4-BE49-F238E27FC236}">
                <a16:creationId xmlns:a16="http://schemas.microsoft.com/office/drawing/2014/main" id="{63BB1727-2B64-30AF-9B09-6238D1834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249" y="3337717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6">
            <a:extLst>
              <a:ext uri="{FF2B5EF4-FFF2-40B4-BE49-F238E27FC236}">
                <a16:creationId xmlns:a16="http://schemas.microsoft.com/office/drawing/2014/main" id="{7A64FF9A-A50A-7996-B41C-351C46B0E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781" y="2380015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6">
            <a:extLst>
              <a:ext uri="{FF2B5EF4-FFF2-40B4-BE49-F238E27FC236}">
                <a16:creationId xmlns:a16="http://schemas.microsoft.com/office/drawing/2014/main" id="{F6CA0F9D-066C-C1A3-E940-ADDFFF231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324" y="1415306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6">
            <a:extLst>
              <a:ext uri="{FF2B5EF4-FFF2-40B4-BE49-F238E27FC236}">
                <a16:creationId xmlns:a16="http://schemas.microsoft.com/office/drawing/2014/main" id="{F42A642C-BFD9-6639-F9B8-7CE09F448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958" y="566818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6">
            <a:extLst>
              <a:ext uri="{FF2B5EF4-FFF2-40B4-BE49-F238E27FC236}">
                <a16:creationId xmlns:a16="http://schemas.microsoft.com/office/drawing/2014/main" id="{8A60F5E9-BA35-4A75-00E8-1BC154B92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913" y="2752590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6">
            <a:extLst>
              <a:ext uri="{FF2B5EF4-FFF2-40B4-BE49-F238E27FC236}">
                <a16:creationId xmlns:a16="http://schemas.microsoft.com/office/drawing/2014/main" id="{8BCDF76F-2E62-D19C-89B4-27C2489ED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561" y="5048031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6">
            <a:extLst>
              <a:ext uri="{FF2B5EF4-FFF2-40B4-BE49-F238E27FC236}">
                <a16:creationId xmlns:a16="http://schemas.microsoft.com/office/drawing/2014/main" id="{C3D16DE3-1ACD-EFE4-6747-CE297DB15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282" y="4327734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6">
            <a:extLst>
              <a:ext uri="{FF2B5EF4-FFF2-40B4-BE49-F238E27FC236}">
                <a16:creationId xmlns:a16="http://schemas.microsoft.com/office/drawing/2014/main" id="{DA85197F-9CF6-20AB-AE60-45B11BE4B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859" y="3940201"/>
            <a:ext cx="621516" cy="55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8" descr="Arm cpu hardware Icon">
            <a:extLst>
              <a:ext uri="{FF2B5EF4-FFF2-40B4-BE49-F238E27FC236}">
                <a16:creationId xmlns:a16="http://schemas.microsoft.com/office/drawing/2014/main" id="{109F28D1-7E3B-1C19-2401-62CBC5CB5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56" y="3183824"/>
            <a:ext cx="667541" cy="66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8" descr="Arm cpu hardware Icon">
            <a:extLst>
              <a:ext uri="{FF2B5EF4-FFF2-40B4-BE49-F238E27FC236}">
                <a16:creationId xmlns:a16="http://schemas.microsoft.com/office/drawing/2014/main" id="{4D87044B-FC5E-F1B7-1751-C221527B9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05" y="4630614"/>
            <a:ext cx="469131" cy="46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8" descr="Arm cpu hardware Icon">
            <a:extLst>
              <a:ext uri="{FF2B5EF4-FFF2-40B4-BE49-F238E27FC236}">
                <a16:creationId xmlns:a16="http://schemas.microsoft.com/office/drawing/2014/main" id="{F4B364BE-459C-1CDF-93FE-170F8BAF6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17" y="5439089"/>
            <a:ext cx="469131" cy="46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2" descr="Xeon - Wikipedia">
            <a:extLst>
              <a:ext uri="{FF2B5EF4-FFF2-40B4-BE49-F238E27FC236}">
                <a16:creationId xmlns:a16="http://schemas.microsoft.com/office/drawing/2014/main" id="{7226F8B4-144C-4348-95C5-4E9444913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8655" y="1857763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2" descr="Xeon - Wikipedia">
            <a:extLst>
              <a:ext uri="{FF2B5EF4-FFF2-40B4-BE49-F238E27FC236}">
                <a16:creationId xmlns:a16="http://schemas.microsoft.com/office/drawing/2014/main" id="{EF321DD5-CE31-855D-2E7A-D0114060B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367" y="2696293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2" descr="Xeon - Wikipedia">
            <a:extLst>
              <a:ext uri="{FF2B5EF4-FFF2-40B4-BE49-F238E27FC236}">
                <a16:creationId xmlns:a16="http://schemas.microsoft.com/office/drawing/2014/main" id="{F51911E6-43B5-BC05-F1C1-FA98E7A95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179" y="4087556"/>
            <a:ext cx="499957" cy="4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27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5C11-576D-E84A-8052-37709E08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3F173D-96AD-AFFA-4C78-C6C5ED95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is decentralized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78A9C6-8BA9-187F-5734-DAED7B56EE9E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A20261-76F8-A229-6EFB-7E956A15DAB8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0CCAAD-7739-776E-77B5-B668EF4A3467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674310-2E45-E466-F375-DE42E4ABC6F6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4EAB96-C755-02C5-43AA-FBFF6D8E1A33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5C33F0-7595-A18D-817F-28B81BAA573F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143023-4150-9989-248F-DEC95DF59540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D71331-198F-9924-96C7-5E54C95CD582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58CF76-4DB7-266D-96A6-697577193721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2154B0-C8A4-C44D-707B-15F304CF8FB0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8A1DA3-124B-DA96-633D-03BCE0B95619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7ED898-26F2-7A1F-EDF0-9C8DD456C5CA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B29E3D-4333-3027-5F3A-2FF0D46AA14F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CDA9D5-3BE4-A31D-65CE-037F7EA46DCD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4A791D-1D7A-8ACF-8ED8-2B989CAEDAE5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B04A69-F54C-5707-2662-8C5004987450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72C0F1-FDE6-DE2F-F74A-58E56546AEF9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C98209-3B3A-4D1C-9501-2AD3EFD201D5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3ED942-E6A7-7946-3745-58B9168A0D74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39F713-08AE-DBF0-EBD1-B071204BFE06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7039C2-5EFC-C11E-44A0-437D886E5887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2C6FE3-4D8C-D095-90B8-C0040BA1943E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F8A663-E594-7848-8AB1-CD8E2F0AD32F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831054-5244-43EF-F33F-D0207B95FDB5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C9F8865-FED6-3AEC-E45E-B9048C137950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68E212-38B6-5C21-0747-53F821FB09DC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BAE015-90EE-17F4-889C-27F689207D11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D64FEB8-654A-1450-4AD2-5C6C5B8ACA4D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9F5F540-E5D3-1C7D-A976-16DD9DA5CA99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7FE0C4-3DC8-C146-3D7A-3677B6D707DD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44A369-198B-DE31-9A63-97F8B3430D93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B519A9-240C-4E53-CBF2-6DE16FA09E13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472156-F749-3C0D-8D27-B1CB4DD1D25F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9C9883-6B5E-AD6F-6845-85E0E1BB9FA5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2E046E-F8A8-9A34-63F1-A93AC42D5647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5265BD-C4CB-636E-2980-94BC28335DEB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6F537C-24E6-6FAE-E320-306550B4B996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9D8F7CF-83C9-4BEB-5CAD-B3B93489A2E6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BB86475-C0CF-BEBA-AFDF-0BB3E08B472E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821F40-E7C6-7D53-C46E-D34A6B604C7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1BE5BBC-1B01-281E-7032-542F4DFD0D2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B6E274-29A8-6A33-B0CD-FF6E007B51C8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025B64-ED5D-50D2-912D-71A514710521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7615D68F-B7A7-7161-45B9-55461A97CB2E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B1B3894E-E00F-7AE9-A1F5-F641309F8304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D87579FC-9296-3BB5-E602-7E45BAA6E5FE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961FBAA0-6716-2611-3E70-CC5DF5D30F4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AC85A1A5-5824-57BC-E9FE-131FDC3C9DEC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1ABC7B8A-1E3A-2743-6AE4-AEE9ADA87229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481454DF-9BFA-8666-2C15-D05214537E84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6347813C-9EFA-9CE7-66BD-A9FCA2864BD5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27A8AEF5-A5BF-8DEE-1509-1F45E7395704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BB2D4DC3-069B-7B91-5E3F-921D5A0D204E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71DE5BB6-9153-5700-DEE7-0151BAC306D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207E953F-4BE2-AF1D-27A8-6A8CC31C0DA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E3F6A6FF-6A8B-C238-47AC-B6D9D78E9A74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6A0599FC-121B-C901-B33D-78A194B77C3F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0A6A59F7-5A4F-3541-4251-C8ED5B93BECA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534562CC-1476-A731-B890-0CC0C5F69E9A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6F0B4895-7C23-CE53-0E3C-1473D5BACE22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458DBE6A-7BD2-379D-DD59-001A75C315AC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2F41CE1F-04D8-FCFD-4EA9-FEB48C4DD5ED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628448F7-D39A-C8F6-E7A4-F78D5CA43734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1353D470-0BDB-392E-B7FF-C8A2EFB8946A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DDFE5C61-67B5-5E8D-7CD4-AAAE99373BD9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5BE5964F-16D1-586C-6088-AB6297F0E262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0288D412-5A04-03F1-3FDD-B89F8FB82FCE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A164E461-4457-96A7-DE68-3446F444F029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193DC1AA-0FB3-EB3C-22A2-46238936EFDC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19B66073-5179-6D9C-0BA7-BE96436B0562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10CC91C4-CA35-63FF-253C-84D72C6C3352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2E7EDDCA-53A5-2102-B750-6AA6CA3CCCF8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AD5BFD7D-EE00-DAD5-D44A-CA17E110E6C9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20B3F0B-EB0D-C17C-5FDA-A46DA71FEB24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>
            <a:off x="3071450" y="1230922"/>
            <a:ext cx="1219202" cy="2063261"/>
          </a:xfrm>
          <a:prstGeom prst="bentConnector3">
            <a:avLst>
              <a:gd name="adj1" fmla="val 2272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20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31" grpId="0" animBg="1"/>
      <p:bldP spid="32" grpId="0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E239-6E8A-0E6D-B015-D79F9108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0D4F9-B556-4E9C-EFB6-062662D62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decompose monolithic software into microservices?</a:t>
            </a:r>
          </a:p>
          <a:p>
            <a:r>
              <a:rPr lang="en-US" dirty="0"/>
              <a:t>How to handle distributed state?</a:t>
            </a:r>
          </a:p>
          <a:p>
            <a:r>
              <a:rPr lang="en-US" dirty="0"/>
              <a:t>What are ideal communication patterns?</a:t>
            </a:r>
          </a:p>
          <a:p>
            <a:r>
              <a:rPr lang="en-US" dirty="0"/>
              <a:t>How to orchestrate different machines on the cluster?</a:t>
            </a:r>
          </a:p>
          <a:p>
            <a:r>
              <a:rPr lang="en-US" dirty="0"/>
              <a:t>How to handle failure?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CF8DA3-8791-9F33-4CEB-6A7F0A1B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31238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BCE8D6-B1C5-98ED-A325-F6A75485E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components</a:t>
            </a:r>
          </a:p>
          <a:p>
            <a:r>
              <a:rPr lang="en-US" dirty="0"/>
              <a:t>Composing systems</a:t>
            </a:r>
          </a:p>
          <a:p>
            <a:r>
              <a:rPr lang="en-US" dirty="0"/>
              <a:t>Validating components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01EB90-4F34-C41B-F98E-50DD3698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ECS 160 modules</a:t>
            </a:r>
          </a:p>
        </p:txBody>
      </p:sp>
    </p:spTree>
    <p:extLst>
      <p:ext uri="{BB962C8B-B14F-4D97-AF65-F5344CB8AC3E}">
        <p14:creationId xmlns:p14="http://schemas.microsoft.com/office/powerpoint/2010/main" val="2319144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7824-9893-9D77-7C68-C9125587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48591E-287E-80F9-48CA-61F1D685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9E4842-E4E9-5473-D263-92D19E03F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887553"/>
              </p:ext>
            </p:extLst>
          </p:nvPr>
        </p:nvGraphicFramePr>
        <p:xfrm>
          <a:off x="1362075" y="895751"/>
          <a:ext cx="8391524" cy="4311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9395">
                  <a:extLst>
                    <a:ext uri="{9D8B030D-6E8A-4147-A177-3AD203B41FA5}">
                      <a16:colId xmlns:a16="http://schemas.microsoft.com/office/drawing/2014/main" val="2826240859"/>
                    </a:ext>
                  </a:extLst>
                </a:gridCol>
                <a:gridCol w="4093680">
                  <a:extLst>
                    <a:ext uri="{9D8B030D-6E8A-4147-A177-3AD203B41FA5}">
                      <a16:colId xmlns:a16="http://schemas.microsoft.com/office/drawing/2014/main" val="280428476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710721433"/>
                    </a:ext>
                  </a:extLst>
                </a:gridCol>
                <a:gridCol w="1409699">
                  <a:extLst>
                    <a:ext uri="{9D8B030D-6E8A-4147-A177-3AD203B41FA5}">
                      <a16:colId xmlns:a16="http://schemas.microsoft.com/office/drawing/2014/main" val="2095410442"/>
                    </a:ext>
                  </a:extLst>
                </a:gridCol>
              </a:tblGrid>
              <a:tr h="368605">
                <a:tc>
                  <a:txBody>
                    <a:bodyPr/>
                    <a:lstStyle/>
                    <a:p>
                      <a:r>
                        <a:rPr lang="en-US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527648"/>
                  </a:ext>
                </a:extLst>
              </a:tr>
              <a:tr h="621838">
                <a:tc>
                  <a:txBody>
                    <a:bodyPr/>
                    <a:lstStyle/>
                    <a:p>
                      <a:r>
                        <a:rPr lang="en-US" dirty="0"/>
                        <a:t>Building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Design patterns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Metaprogramming using reflection and 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44120"/>
                  </a:ext>
                </a:extLst>
              </a:tr>
              <a:tr h="621838">
                <a:tc>
                  <a:txBody>
                    <a:bodyPr/>
                    <a:lstStyle/>
                    <a:p>
                      <a:r>
                        <a:rPr lang="en-US" dirty="0"/>
                        <a:t>Composing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Microservices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Message queue, pub/sub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Event-driven design using Kafka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Orchestration using Kubernetes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Serverless and Function-as-a-Service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80223"/>
                  </a:ext>
                </a:extLst>
              </a:tr>
              <a:tr h="377048">
                <a:tc>
                  <a:txBody>
                    <a:bodyPr/>
                    <a:lstStyle/>
                    <a:p>
                      <a:r>
                        <a:rPr lang="en-US" dirty="0"/>
                        <a:t>Validating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Property testing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Fuzz testing and sanitizers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Symbolic execution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dirty="0"/>
                        <a:t>Abstract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8835"/>
                  </a:ext>
                </a:extLst>
              </a:tr>
              <a:tr h="377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29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300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2034-86F1-BD7C-8EA6-57A1AA7D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05426B-7A76-18FF-C91B-D7BB547E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Cassandra persistence layer using Java annotation and reflection</a:t>
            </a:r>
          </a:p>
          <a:p>
            <a:r>
              <a:rPr lang="en-US" dirty="0"/>
              <a:t>Social media data analysis using Spring Boot micro-services and Kafka</a:t>
            </a:r>
          </a:p>
          <a:p>
            <a:r>
              <a:rPr lang="en-US" dirty="0"/>
              <a:t>Deployment of microservices on Google Cloud and Kubernetes</a:t>
            </a:r>
          </a:p>
          <a:p>
            <a:r>
              <a:rPr lang="en-US" dirty="0"/>
              <a:t>[Tentative] Fuzz testing a provided library with custom mutators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51ECE2-8D40-13E9-9092-E5340D85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assignments</a:t>
            </a:r>
          </a:p>
        </p:txBody>
      </p:sp>
    </p:spTree>
    <p:extLst>
      <p:ext uri="{BB962C8B-B14F-4D97-AF65-F5344CB8AC3E}">
        <p14:creationId xmlns:p14="http://schemas.microsoft.com/office/powerpoint/2010/main" val="2606561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450F51-6DDF-CFAE-815C-4F111BC1B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Experience with “app development”</a:t>
            </a:r>
          </a:p>
          <a:p>
            <a:r>
              <a:rPr lang="en-US" dirty="0"/>
              <a:t>Knowledge of networking fundamentals – ports, IP addresses, some socket programming experience</a:t>
            </a:r>
          </a:p>
          <a:p>
            <a:r>
              <a:rPr lang="en-US" dirty="0"/>
              <a:t>Knowledge of OS fundamentals – </a:t>
            </a:r>
            <a:r>
              <a:rPr lang="en-US" dirty="0" err="1"/>
              <a:t>userspace</a:t>
            </a:r>
            <a:r>
              <a:rPr lang="en-US" dirty="0"/>
              <a:t> vs </a:t>
            </a:r>
            <a:r>
              <a:rPr lang="en-US" dirty="0" err="1"/>
              <a:t>kernelspace</a:t>
            </a:r>
            <a:r>
              <a:rPr lang="en-US" dirty="0"/>
              <a:t>, processes vs. threads, etc.</a:t>
            </a:r>
          </a:p>
          <a:p>
            <a:r>
              <a:rPr lang="en-US" dirty="0"/>
              <a:t>Experience with Java is useful, but not necessary</a:t>
            </a:r>
          </a:p>
          <a:p>
            <a:r>
              <a:rPr lang="en-US" dirty="0"/>
              <a:t>We will try to cover some background during the discussion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EF2146-473C-8AF5-E241-C450D0AF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should take this course?</a:t>
            </a:r>
          </a:p>
        </p:txBody>
      </p:sp>
    </p:spTree>
    <p:extLst>
      <p:ext uri="{BB962C8B-B14F-4D97-AF65-F5344CB8AC3E}">
        <p14:creationId xmlns:p14="http://schemas.microsoft.com/office/powerpoint/2010/main" val="239118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373B63-A215-F034-7685-217574C0D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36F19A-31E9-5CEA-A364-34C327F0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35130019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5469</TotalTime>
  <Words>1227</Words>
  <Application>Microsoft Macintosh PowerPoint</Application>
  <PresentationFormat>Widescreen</PresentationFormat>
  <Paragraphs>375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Helvetica</vt:lpstr>
      <vt:lpstr>Preso 2022 Watertower Stats</vt:lpstr>
      <vt:lpstr>PowerPoint Presentation</vt:lpstr>
      <vt:lpstr>Agenda</vt:lpstr>
      <vt:lpstr>Instructor details</vt:lpstr>
      <vt:lpstr>TA details</vt:lpstr>
      <vt:lpstr>Course information</vt:lpstr>
      <vt:lpstr>Course components</vt:lpstr>
      <vt:lpstr>Grade cutoffs</vt:lpstr>
      <vt:lpstr>Academic integrity and AI policies</vt:lpstr>
      <vt:lpstr>Logistics</vt:lpstr>
      <vt:lpstr>PowerPoint Presentation</vt:lpstr>
      <vt:lpstr>Modern software engineering</vt:lpstr>
      <vt:lpstr>Traditional software engineering was monolithic</vt:lpstr>
      <vt:lpstr>Traditional software engineering was monolithic</vt:lpstr>
      <vt:lpstr>Modern software engineering is non-monolithic</vt:lpstr>
      <vt:lpstr>Modern software is decomposed into microservices</vt:lpstr>
      <vt:lpstr>Modern software is heterogenous</vt:lpstr>
      <vt:lpstr>Modern software is distributed</vt:lpstr>
      <vt:lpstr>Data is decentralized</vt:lpstr>
      <vt:lpstr>Challenges</vt:lpstr>
      <vt:lpstr>ECS 160 modules</vt:lpstr>
      <vt:lpstr>Syllabus overview</vt:lpstr>
      <vt:lpstr>HW assignments</vt:lpstr>
      <vt:lpstr>Who should take this course?</vt:lpstr>
      <vt:lpstr>Questions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920</cp:revision>
  <cp:lastPrinted>2026-01-04T19:20:13Z</cp:lastPrinted>
  <dcterms:created xsi:type="dcterms:W3CDTF">2019-06-30T03:25:06Z</dcterms:created>
  <dcterms:modified xsi:type="dcterms:W3CDTF">2026-09-21T19:07:58Z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