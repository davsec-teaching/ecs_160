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55"/>
  </p:notesMasterIdLst>
  <p:handoutMasterIdLst>
    <p:handoutMasterId r:id="rId156"/>
  </p:handoutMasterIdLst>
  <p:sldIdLst>
    <p:sldId id="256" r:id="rId2"/>
    <p:sldId id="279" r:id="rId3"/>
    <p:sldId id="277" r:id="rId4"/>
    <p:sldId id="489" r:id="rId5"/>
    <p:sldId id="490" r:id="rId6"/>
    <p:sldId id="491" r:id="rId7"/>
    <p:sldId id="492" r:id="rId8"/>
    <p:sldId id="278" r:id="rId9"/>
    <p:sldId id="282" r:id="rId10"/>
    <p:sldId id="283" r:id="rId11"/>
    <p:sldId id="443" r:id="rId12"/>
    <p:sldId id="330" r:id="rId13"/>
    <p:sldId id="291" r:id="rId14"/>
    <p:sldId id="265" r:id="rId15"/>
    <p:sldId id="442" r:id="rId16"/>
    <p:sldId id="289" r:id="rId17"/>
    <p:sldId id="266" r:id="rId18"/>
    <p:sldId id="440" r:id="rId19"/>
    <p:sldId id="439" r:id="rId20"/>
    <p:sldId id="441" r:id="rId21"/>
    <p:sldId id="267" r:id="rId22"/>
    <p:sldId id="285" r:id="rId23"/>
    <p:sldId id="287" r:id="rId24"/>
    <p:sldId id="290" r:id="rId25"/>
    <p:sldId id="324" r:id="rId26"/>
    <p:sldId id="444" r:id="rId27"/>
    <p:sldId id="449" r:id="rId28"/>
    <p:sldId id="327" r:id="rId29"/>
    <p:sldId id="341" r:id="rId30"/>
    <p:sldId id="328" r:id="rId31"/>
    <p:sldId id="331" r:id="rId32"/>
    <p:sldId id="333" r:id="rId33"/>
    <p:sldId id="332" r:id="rId34"/>
    <p:sldId id="335" r:id="rId35"/>
    <p:sldId id="329" r:id="rId36"/>
    <p:sldId id="458" r:id="rId37"/>
    <p:sldId id="452" r:id="rId38"/>
    <p:sldId id="450" r:id="rId39"/>
    <p:sldId id="460" r:id="rId40"/>
    <p:sldId id="461" r:id="rId41"/>
    <p:sldId id="462" r:id="rId42"/>
    <p:sldId id="336" r:id="rId43"/>
    <p:sldId id="258" r:id="rId44"/>
    <p:sldId id="261" r:id="rId45"/>
    <p:sldId id="259" r:id="rId46"/>
    <p:sldId id="260" r:id="rId47"/>
    <p:sldId id="264" r:id="rId48"/>
    <p:sldId id="321" r:id="rId49"/>
    <p:sldId id="323" r:id="rId50"/>
    <p:sldId id="337" r:id="rId51"/>
    <p:sldId id="338" r:id="rId52"/>
    <p:sldId id="354" r:id="rId53"/>
    <p:sldId id="355" r:id="rId54"/>
    <p:sldId id="294" r:id="rId55"/>
    <p:sldId id="273" r:id="rId56"/>
    <p:sldId id="275" r:id="rId57"/>
    <p:sldId id="274" r:id="rId58"/>
    <p:sldId id="271" r:id="rId59"/>
    <p:sldId id="272" r:id="rId60"/>
    <p:sldId id="340" r:id="rId61"/>
    <p:sldId id="345" r:id="rId62"/>
    <p:sldId id="464" r:id="rId63"/>
    <p:sldId id="346" r:id="rId64"/>
    <p:sldId id="468" r:id="rId65"/>
    <p:sldId id="466" r:id="rId66"/>
    <p:sldId id="344" r:id="rId67"/>
    <p:sldId id="467" r:id="rId68"/>
    <p:sldId id="347" r:id="rId69"/>
    <p:sldId id="342" r:id="rId70"/>
    <p:sldId id="393" r:id="rId71"/>
    <p:sldId id="391" r:id="rId72"/>
    <p:sldId id="350" r:id="rId73"/>
    <p:sldId id="392" r:id="rId74"/>
    <p:sldId id="394" r:id="rId75"/>
    <p:sldId id="395" r:id="rId76"/>
    <p:sldId id="396" r:id="rId77"/>
    <p:sldId id="397" r:id="rId78"/>
    <p:sldId id="361" r:id="rId79"/>
    <p:sldId id="400" r:id="rId80"/>
    <p:sldId id="349" r:id="rId81"/>
    <p:sldId id="380" r:id="rId82"/>
    <p:sldId id="366" r:id="rId83"/>
    <p:sldId id="402" r:id="rId84"/>
    <p:sldId id="368" r:id="rId85"/>
    <p:sldId id="398" r:id="rId86"/>
    <p:sldId id="407" r:id="rId87"/>
    <p:sldId id="399" r:id="rId88"/>
    <p:sldId id="486" r:id="rId89"/>
    <p:sldId id="416" r:id="rId90"/>
    <p:sldId id="470" r:id="rId91"/>
    <p:sldId id="471" r:id="rId92"/>
    <p:sldId id="487" r:id="rId93"/>
    <p:sldId id="472" r:id="rId94"/>
    <p:sldId id="415" r:id="rId95"/>
    <p:sldId id="372" r:id="rId96"/>
    <p:sldId id="411" r:id="rId97"/>
    <p:sldId id="412" r:id="rId98"/>
    <p:sldId id="410" r:id="rId99"/>
    <p:sldId id="417" r:id="rId100"/>
    <p:sldId id="418" r:id="rId101"/>
    <p:sldId id="419" r:id="rId102"/>
    <p:sldId id="420" r:id="rId103"/>
    <p:sldId id="421" r:id="rId104"/>
    <p:sldId id="422" r:id="rId105"/>
    <p:sldId id="423" r:id="rId106"/>
    <p:sldId id="424" r:id="rId107"/>
    <p:sldId id="480" r:id="rId108"/>
    <p:sldId id="476" r:id="rId109"/>
    <p:sldId id="477" r:id="rId110"/>
    <p:sldId id="427" r:id="rId111"/>
    <p:sldId id="405" r:id="rId112"/>
    <p:sldId id="430" r:id="rId113"/>
    <p:sldId id="481" r:id="rId114"/>
    <p:sldId id="482" r:id="rId115"/>
    <p:sldId id="429" r:id="rId116"/>
    <p:sldId id="401" r:id="rId117"/>
    <p:sldId id="378" r:id="rId118"/>
    <p:sldId id="432" r:id="rId119"/>
    <p:sldId id="262" r:id="rId120"/>
    <p:sldId id="433" r:id="rId121"/>
    <p:sldId id="270" r:id="rId122"/>
    <p:sldId id="434" r:id="rId123"/>
    <p:sldId id="435" r:id="rId124"/>
    <p:sldId id="436" r:id="rId125"/>
    <p:sldId id="431" r:id="rId126"/>
    <p:sldId id="485" r:id="rId127"/>
    <p:sldId id="263" r:id="rId128"/>
    <p:sldId id="408" r:id="rId129"/>
    <p:sldId id="409" r:id="rId130"/>
    <p:sldId id="376" r:id="rId131"/>
    <p:sldId id="483" r:id="rId132"/>
    <p:sldId id="403" r:id="rId133"/>
    <p:sldId id="404" r:id="rId134"/>
    <p:sldId id="406" r:id="rId135"/>
    <p:sldId id="377" r:id="rId136"/>
    <p:sldId id="348" r:id="rId137"/>
    <p:sldId id="364" r:id="rId138"/>
    <p:sldId id="369" r:id="rId139"/>
    <p:sldId id="365" r:id="rId140"/>
    <p:sldId id="373" r:id="rId141"/>
    <p:sldId id="374" r:id="rId142"/>
    <p:sldId id="375" r:id="rId143"/>
    <p:sldId id="316" r:id="rId144"/>
    <p:sldId id="317" r:id="rId145"/>
    <p:sldId id="318" r:id="rId146"/>
    <p:sldId id="437" r:id="rId147"/>
    <p:sldId id="320" r:id="rId148"/>
    <p:sldId id="352" r:id="rId149"/>
    <p:sldId id="353" r:id="rId150"/>
    <p:sldId id="357" r:id="rId151"/>
    <p:sldId id="358" r:id="rId152"/>
    <p:sldId id="359" r:id="rId153"/>
    <p:sldId id="360" r:id="rId15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D5D5"/>
    <a:srgbClr val="B9B9FF"/>
    <a:srgbClr val="B8B8B8"/>
    <a:srgbClr val="DDDDFF"/>
    <a:srgbClr val="0000FF"/>
    <a:srgbClr val="003399"/>
    <a:srgbClr val="E6E0EC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83" autoAdjust="0"/>
    <p:restoredTop sz="77341" autoAdjust="0"/>
  </p:normalViewPr>
  <p:slideViewPr>
    <p:cSldViewPr snapToGrid="0">
      <p:cViewPr varScale="1">
        <p:scale>
          <a:sx n="87" d="100"/>
          <a:sy n="87" d="100"/>
        </p:scale>
        <p:origin x="1344" y="1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handoutMaster" Target="handoutMasters/handout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microsoft.com/office/2015/10/relationships/revisionInfo" Target="revisionInfo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microsoft.com/office/2018/10/relationships/authors" Target="author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849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0BE7-17DC-925A-80F2-54127094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8ECD07-EEA9-C801-80C0-D00A9A888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DAF47D-28D5-CEFC-76F1-1FF79E064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3871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B97E1-E558-A4DA-B3EC-DF2D537A3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A214C4-E37C-A094-ADC5-0DA45F0ED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BB1CD-BF1C-EEDD-5F7D-33E9FE9E8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368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F8096-8FC8-CB5D-9424-2AACCA03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6F485-BB03-E965-2C08-F4C867CDE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771D5-97D4-7DFE-F893-D30898EEE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0031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E5EA-FA67-3321-74F7-34A015115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C16583-CC53-84C2-E746-1CF7997E1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8E003-BAB8-7766-841D-6BDD4B5A8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0919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90AAC-9122-941C-3F0A-E272BD85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E953B-EA84-C09F-D446-DF2B695E0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2091B-0BD4-B922-097D-F90C28F5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41933776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05142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73671-BF6F-7730-74DF-3DF303D7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32572-338B-B7C6-1A6B-C8CF61CDA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075C1C-C6FA-68EE-C840-27F5473F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609772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9AC66-5250-6A19-3E03-EF55062C5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723362-C40A-1D6E-8195-0BBC8C2A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A588E-1F9E-DEDD-78D5-B1353A901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8707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7227-EE9A-CCBB-7E50-E07C535E2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26EAD9-2FCB-3FF5-E7F3-97B9CB831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3B4DD-8DF5-3A9F-4B5F-36E6E5C01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6584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3865-F2AC-F4CC-41DC-C5DE5A603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1A7BD-1492-3776-B176-ECC34CAFC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4BBD7-A830-A540-6318-791B159D4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559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BEC5-EC88-737E-2B95-17D1E51C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4C3B-CBD3-F05F-1702-5F529B41EF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29726-9A61-926B-EE08-0B710C3E1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236500092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11,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11,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11,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11,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Sunday, October 11,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javassist_demo" TargetMode="Externa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jpe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2.png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design frameworks and libraries?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saving records in Redis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1A5167E0-722C-9149-46B0-EC7BD017E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4426B4-97C5-A4E4-EFFC-DC4B55BB355D}"/>
              </a:ext>
            </a:extLst>
          </p:cNvPr>
          <p:cNvSpPr txBox="1"/>
          <p:nvPr/>
        </p:nvSpPr>
        <p:spPr>
          <a:xfrm>
            <a:off x="4277399" y="2803682"/>
            <a:ext cx="292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user:100 "Alice"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FB32E07A-346A-0C7F-1158-3B356BAB2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39BC46-B30A-BD68-6A9D-6D4D8018130D}"/>
              </a:ext>
            </a:extLst>
          </p:cNvPr>
          <p:cNvCxnSpPr>
            <a:stCxn id="1026" idx="3"/>
            <a:endCxn id="2" idx="1"/>
          </p:cNvCxnSpPr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A32CA01-255B-5B1B-C70A-E344C915B913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0259AE-F8AA-84BF-62EC-945499F3452E}"/>
              </a:ext>
            </a:extLst>
          </p:cNvPr>
          <p:cNvSpPr txBox="1"/>
          <p:nvPr/>
        </p:nvSpPr>
        <p:spPr>
          <a:xfrm>
            <a:off x="5090731" y="2358407"/>
            <a:ext cx="527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Key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4AE3F3-539A-F4BD-8FDA-81474E3FF69C}"/>
              </a:ext>
            </a:extLst>
          </p:cNvPr>
          <p:cNvSpPr/>
          <p:nvPr/>
        </p:nvSpPr>
        <p:spPr>
          <a:xfrm>
            <a:off x="6088380" y="2758457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6A7BE9-C49E-D635-937A-F36E3E52D6DA}"/>
              </a:ext>
            </a:extLst>
          </p:cNvPr>
          <p:cNvSpPr txBox="1"/>
          <p:nvPr/>
        </p:nvSpPr>
        <p:spPr>
          <a:xfrm>
            <a:off x="6303835" y="2352311"/>
            <a:ext cx="723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2" animBg="1"/>
      <p:bldP spid="10" grpId="3" animBg="1"/>
      <p:bldP spid="11" grpId="0"/>
      <p:bldP spid="11" grpId="1"/>
      <p:bldP spid="12" grpId="0" animBg="1"/>
      <p:bldP spid="12" grpId="1" animBg="1"/>
      <p:bldP spid="13" grpId="0"/>
      <p:bldP spid="1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855C-55C2-A151-EAAC-55C88417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F25929-F3A6-F468-606B-2E5D3131F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F7D047-8AC6-D162-8862-124F56EE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saving records in Redis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BB3F4DE3-F885-51BA-B797-81041BE1E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7FB462-C9B8-C526-4E04-11226B326A1B}"/>
              </a:ext>
            </a:extLst>
          </p:cNvPr>
          <p:cNvSpPr txBox="1"/>
          <p:nvPr/>
        </p:nvSpPr>
        <p:spPr>
          <a:xfrm>
            <a:off x="4277399" y="2803682"/>
            <a:ext cx="1842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GET user:100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CFD5E92F-2214-3B78-1A57-285473C7D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8290C21-4801-8BD9-AFC8-0864EFC38340}"/>
              </a:ext>
            </a:extLst>
          </p:cNvPr>
          <p:cNvCxnSpPr>
            <a:stCxn id="1026" idx="3"/>
            <a:endCxn id="2" idx="1"/>
          </p:cNvCxnSpPr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E6EAA5D-BD62-CD05-E87C-383A6CD5148D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51F3CA-6CA8-8978-EFA3-72DD1818CFAB}"/>
              </a:ext>
            </a:extLst>
          </p:cNvPr>
          <p:cNvSpPr txBox="1"/>
          <p:nvPr/>
        </p:nvSpPr>
        <p:spPr>
          <a:xfrm>
            <a:off x="5090731" y="2358407"/>
            <a:ext cx="527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Key</a:t>
            </a:r>
          </a:p>
        </p:txBody>
      </p:sp>
    </p:spTree>
    <p:extLst>
      <p:ext uri="{BB962C8B-B14F-4D97-AF65-F5344CB8AC3E}">
        <p14:creationId xmlns:p14="http://schemas.microsoft.com/office/powerpoint/2010/main" val="93583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0" grpId="1" animBg="1"/>
      <p:bldP spid="11" grpId="0"/>
      <p:bldP spid="11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A44E1-4E64-F683-3F76-787974E44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86252B-5BEB-4F15-53B5-F0F3B8040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252B76-A017-46E3-B20A-D698C642B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saving records in Redis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CFD37A63-63E8-1698-DD93-6FD7552BF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F87BD-92BA-D25C-0294-11075D5376BA}"/>
              </a:ext>
            </a:extLst>
          </p:cNvPr>
          <p:cNvSpPr txBox="1"/>
          <p:nvPr/>
        </p:nvSpPr>
        <p:spPr>
          <a:xfrm>
            <a:off x="4973066" y="2789051"/>
            <a:ext cx="93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Alice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E5868EE4-EA5A-4262-8043-3B20705A9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79F776-FCA8-4039-EB60-9B0EF568EBF6}"/>
              </a:ext>
            </a:extLst>
          </p:cNvPr>
          <p:cNvCxnSpPr>
            <a:cxnSpLocks/>
            <a:stCxn id="2" idx="1"/>
            <a:endCxn id="1026" idx="3"/>
          </p:cNvCxnSpPr>
          <p:nvPr/>
        </p:nvCxnSpPr>
        <p:spPr>
          <a:xfrm flipH="1"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2025574-B783-6D9C-7251-6C02BD3A236C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5FF8FC-3885-4EEF-09DC-A11994F9CB4B}"/>
              </a:ext>
            </a:extLst>
          </p:cNvPr>
          <p:cNvSpPr txBox="1"/>
          <p:nvPr/>
        </p:nvSpPr>
        <p:spPr>
          <a:xfrm>
            <a:off x="4973066" y="2369435"/>
            <a:ext cx="723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4084218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0" grpId="1" animBg="1"/>
      <p:bldP spid="11" grpId="0"/>
      <p:bldP spid="11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C74A-6FD8-306B-2C85-E3161BF5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7FBCCA-0129-1A64-CCAD-AF04FA2D3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use CLI or library to communicate with Redis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2089B7-F2E6-B402-0653-6333C84D9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CCE026F9-B3C2-111F-CFAC-4F0A4E3D6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1176D065-8057-0CB9-F7D0-ED5BC6AC6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BC5B56-FF5B-1A64-113E-5A77CFC53619}"/>
              </a:ext>
            </a:extLst>
          </p:cNvPr>
          <p:cNvSpPr txBox="1"/>
          <p:nvPr/>
        </p:nvSpPr>
        <p:spPr>
          <a:xfrm>
            <a:off x="3742944" y="2912906"/>
            <a:ext cx="3852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mykey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”Hello, Redis!"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95D12A-D607-986D-B7A7-7ADBD7E66732}"/>
              </a:ext>
            </a:extLst>
          </p:cNvPr>
          <p:cNvCxnSpPr/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098" name="Picture 2" descr="How to Install and Run Redis Server on Ubuntu 24.04 or 22.04 Linux -  LinuxShout">
            <a:extLst>
              <a:ext uri="{FF2B5EF4-FFF2-40B4-BE49-F238E27FC236}">
                <a16:creationId xmlns:a16="http://schemas.microsoft.com/office/drawing/2014/main" id="{66329A11-16EA-4DA9-105F-49E94C0907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270" y="3864394"/>
            <a:ext cx="6536436" cy="2757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454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A4B67-9018-4DC6-7C4E-D41B5E0E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F92163-A5FB-AD11-1646-776C5249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use CLI or library to communicate with Redis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FC78DD-9D07-FD85-1EF2-2EA2338C0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85AF6C42-AEF9-1AF9-9AE5-7C325F428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F3B0CEB9-8C9B-7D17-0D78-07CD69EC9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6B478D-701B-5CAE-27DF-457C7362A934}"/>
              </a:ext>
            </a:extLst>
          </p:cNvPr>
          <p:cNvSpPr txBox="1"/>
          <p:nvPr/>
        </p:nvSpPr>
        <p:spPr>
          <a:xfrm>
            <a:off x="3742944" y="2912906"/>
            <a:ext cx="3852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mykey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”Hello, Redis!"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9EA6C0-231A-849B-18DA-BC154CAA6BE3}"/>
              </a:ext>
            </a:extLst>
          </p:cNvPr>
          <p:cNvCxnSpPr/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03457CF7-CDFF-C292-F5DB-56831661A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696" y="3614243"/>
            <a:ext cx="7772400" cy="280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51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Student { </a:t>
            </a:r>
          </a:p>
          <a:p>
            <a:r>
              <a:rPr lang="en-US" dirty="0"/>
              <a:t>	// ... Fields and </a:t>
            </a:r>
            <a:r>
              <a:rPr lang="en-US" dirty="0" err="1"/>
              <a:t>methodss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jedis;</a:t>
            </a:r>
          </a:p>
          <a:p>
            <a:r>
              <a:rPr lang="en-US" dirty="0"/>
              <a:t>		</a:t>
            </a:r>
          </a:p>
          <a:p>
            <a:r>
              <a:rPr lang="en-US" dirty="0"/>
              <a:t>	</a:t>
            </a:r>
            <a:r>
              <a:rPr lang="en-US" dirty="0" err="1"/>
              <a:t>RedisDB</a:t>
            </a:r>
            <a:r>
              <a:rPr lang="en-US" dirty="0"/>
              <a:t>() { jedis = ...;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Student objects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classes for social media platform</a:t>
            </a:r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wrote the persistence code once, why should I have to write it again?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dirty="0"/>
              <a:t>… what can we do with these objects of type Class, Method, Field, </a:t>
            </a:r>
            <a:r>
              <a:rPr lang="en-US" dirty="0" err="1"/>
              <a:t>etc</a:t>
            </a:r>
            <a:r>
              <a:rPr lang="en-US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    if (</a:t>
            </a:r>
            <a:r>
              <a:rPr lang="en-US" dirty="0" err="1"/>
              <a:t>m.getName</a:t>
            </a:r>
            <a:r>
              <a:rPr lang="en-US" dirty="0"/>
              <a:t>().</a:t>
            </a:r>
            <a:r>
              <a:rPr lang="en-US" dirty="0" err="1"/>
              <a:t>startswith</a:t>
            </a:r>
            <a:r>
              <a:rPr lang="en-US" dirty="0"/>
              <a:t>(“get”) {</a:t>
            </a:r>
          </a:p>
          <a:p>
            <a:r>
              <a:rPr lang="en-US" dirty="0"/>
              <a:t>		  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  <a:br>
              <a:rPr lang="en-US" dirty="0"/>
            </a:br>
            <a:r>
              <a:rPr lang="en-US" dirty="0"/>
              <a:t>         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 methods in an object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168564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38582" y="3423026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843223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if (</a:t>
            </a:r>
            <a:r>
              <a:rPr lang="en-US" dirty="0" err="1"/>
              <a:t>m.getName</a:t>
            </a:r>
            <a:r>
              <a:rPr lang="en-US" dirty="0"/>
              <a:t>().</a:t>
            </a:r>
            <a:r>
              <a:rPr lang="en-US" dirty="0" err="1"/>
              <a:t>startswith</a:t>
            </a:r>
            <a:r>
              <a:rPr lang="en-US" dirty="0"/>
              <a:t>(“get”) {</a:t>
            </a:r>
          </a:p>
          <a:p>
            <a:r>
              <a:rPr lang="en-US" dirty="0"/>
              <a:t>		  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  <a:br>
              <a:rPr lang="en-US" dirty="0"/>
            </a:br>
            <a:r>
              <a:rPr lang="en-US" dirty="0"/>
              <a:t>            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“Tapti”, “Welcome to ECS 160”,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           Class c = </a:t>
            </a:r>
            <a:r>
              <a:rPr lang="en-US" dirty="0" err="1"/>
              <a:t>obj.getClass</a:t>
            </a:r>
            <a:r>
              <a:rPr lang="en-US"/>
              <a:t>();</a:t>
            </a:r>
            <a:endParaRPr lang="en-US" dirty="0"/>
          </a:p>
          <a:p>
            <a:r>
              <a:rPr lang="en-US" dirty="0"/>
              <a:t>		for (Field f: </a:t>
            </a:r>
            <a:r>
              <a:rPr lang="en-US" b="1" dirty="0" err="1"/>
              <a:t>c.getDeclaredFields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Dynamic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176512" y="3161691"/>
            <a:ext cx="5276935" cy="227658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6EBBDA-BC91-0EB6-F884-A28511DC8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AF8260-2720-98BF-8571-4BA95354B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@Retention(RetentionPolicy.RUNTIME)</a:t>
            </a:r>
          </a:p>
          <a:p>
            <a:r>
              <a:rPr lang="en-US" b="1" dirty="0"/>
              <a:t>public @interface </a:t>
            </a:r>
            <a:r>
              <a:rPr lang="en-US" b="1" dirty="0" err="1"/>
              <a:t>Persistable</a:t>
            </a:r>
            <a:r>
              <a:rPr lang="en-US" b="1" dirty="0"/>
              <a:t> {</a:t>
            </a:r>
          </a:p>
          <a:p>
            <a:r>
              <a:rPr lang="en-US" b="1" dirty="0"/>
              <a:t>}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r>
              <a:rPr lang="en-US" dirty="0"/>
              <a:t>	</a:t>
            </a:r>
            <a:r>
              <a:rPr lang="en-US" b="1" dirty="0"/>
              <a:t>@Persistable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Integer </a:t>
            </a:r>
            <a:r>
              <a:rPr lang="en-US" dirty="0" err="1"/>
              <a:t>tempVal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// … set up Jedis Session</a:t>
            </a:r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(Object obj)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dirty="0" err="1"/>
              <a:t>obj.getDeclaredFields</a:t>
            </a:r>
            <a:r>
              <a:rPr lang="en-US" dirty="0"/>
              <a:t>()) {</a:t>
            </a:r>
          </a:p>
          <a:p>
            <a:r>
              <a:rPr lang="en-US" dirty="0"/>
              <a:t>		   if (</a:t>
            </a:r>
            <a:r>
              <a:rPr lang="en-US" b="1" dirty="0" err="1"/>
              <a:t>f.isAnnotationPresent</a:t>
            </a:r>
            <a:r>
              <a:rPr lang="en-US" b="1" dirty="0"/>
              <a:t>(</a:t>
            </a:r>
            <a:r>
              <a:rPr lang="en-US" b="1" dirty="0" err="1"/>
              <a:t>Persistable.class</a:t>
            </a:r>
            <a:r>
              <a:rPr lang="en-US" dirty="0"/>
              <a:t>) {</a:t>
            </a:r>
          </a:p>
          <a:p>
            <a:r>
              <a:rPr lang="en-US" dirty="0"/>
              <a:t>		      </a:t>
            </a:r>
            <a:r>
              <a:rPr lang="en-US" dirty="0" err="1"/>
              <a:t>f.setAccessible</a:t>
            </a:r>
            <a:r>
              <a:rPr lang="en-US" dirty="0"/>
              <a:t>(true);</a:t>
            </a:r>
          </a:p>
          <a:p>
            <a:r>
              <a:rPr lang="en-US" dirty="0"/>
              <a:t>		   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dirty="0" err="1"/>
              <a:t>f.get</a:t>
            </a:r>
            <a:r>
              <a:rPr lang="en-US" dirty="0"/>
              <a:t>(obj);</a:t>
            </a:r>
          </a:p>
          <a:p>
            <a:r>
              <a:rPr lang="en-US" dirty="0"/>
              <a:t>		   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4129E2-00DF-A89D-94E9-C8768AF8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6B3A9-194F-AF71-05D4-2CE0253C75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4E014-5D42-1867-C2B8-60E908008F32}"/>
              </a:ext>
            </a:extLst>
          </p:cNvPr>
          <p:cNvSpPr/>
          <p:nvPr/>
        </p:nvSpPr>
        <p:spPr>
          <a:xfrm>
            <a:off x="6232660" y="2815389"/>
            <a:ext cx="5276935" cy="268705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9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1"/>
              <a:ext cx="1054204" cy="846481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CB792BCD-5733-5275-74C5-3B31296527F5}"/>
              </a:ext>
            </a:extLst>
          </p:cNvPr>
          <p:cNvSpPr/>
          <p:nvPr/>
        </p:nvSpPr>
        <p:spPr>
          <a:xfrm>
            <a:off x="7337779" y="2499303"/>
            <a:ext cx="4296293" cy="109930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8C4BA3-4FD2-7446-D56F-BBE91B9A43F4}"/>
              </a:ext>
            </a:extLst>
          </p:cNvPr>
          <p:cNvSpPr/>
          <p:nvPr/>
        </p:nvSpPr>
        <p:spPr>
          <a:xfrm>
            <a:off x="7362357" y="3703974"/>
            <a:ext cx="4296293" cy="109930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query.executeQuery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</a:t>
            </a:r>
            <a:br>
              <a:rPr lang="en-US" dirty="0"/>
            </a:br>
            <a:r>
              <a:rPr lang="en-US" dirty="0"/>
              <a:t> 	private Object target;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522F5-D582-2078-7F84-3E499CCD4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919D0B-98CD-2A27-8F17-3D15B023D52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1AB453-F602-A19F-391C-DB15593D3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41E82567-130A-B2F1-D1C9-C5162EC2EDC6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F58648-06CD-B430-E44E-9C32EC9C6D9B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01A9DD-8129-5798-C21C-B02F8A83F4CE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E260C1-7386-CD52-91DF-3C45BB1F35D2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F726DB-538B-8EA6-F16A-6DEF0AF8FA86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EAB4F8-10D2-0DAC-0E17-2D6D4D1A80DD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9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628C0D85-54A3-634F-F85A-CA68F8B43398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D5AB9-486D-815B-204A-E028B0181FF7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DDB84-1CCD-0718-0AB7-26F8B7B83CEC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8B122-220D-5BA3-68BA-D05E27713307}"/>
              </a:ext>
            </a:extLst>
          </p:cNvPr>
          <p:cNvSpPr/>
          <p:nvPr/>
        </p:nvSpPr>
        <p:spPr>
          <a:xfrm>
            <a:off x="543099" y="785004"/>
            <a:ext cx="3930024" cy="157437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A1E71-BAA9-7000-71E3-C33DFBAC37EF}"/>
              </a:ext>
            </a:extLst>
          </p:cNvPr>
          <p:cNvSpPr/>
          <p:nvPr/>
        </p:nvSpPr>
        <p:spPr>
          <a:xfrm>
            <a:off x="543098" y="2359378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54E64-E053-6DC9-5E29-D4EAEAB0DDDF}"/>
              </a:ext>
            </a:extLst>
          </p:cNvPr>
          <p:cNvSpPr/>
          <p:nvPr/>
        </p:nvSpPr>
        <p:spPr>
          <a:xfrm>
            <a:off x="543098" y="2799644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E27D4-0155-E9C2-99B6-B03FA516B4E6}"/>
              </a:ext>
            </a:extLst>
          </p:cNvPr>
          <p:cNvSpPr/>
          <p:nvPr/>
        </p:nvSpPr>
        <p:spPr>
          <a:xfrm>
            <a:off x="543098" y="3308230"/>
            <a:ext cx="5101345" cy="217817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311C2-1CE8-96F3-DA15-777BA1E56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501462-8ED1-E017-95D0-D0FD266EA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B14897-47A3-6987-08D8-88A92AFA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F2BF640-7F2C-E328-A599-0DEEFD40BCA2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67EA0E-CBE2-44F1-9A80-D3BD2D7BEB0B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08A91-5B81-99B1-D620-081DE5B18545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D82CA-9E33-E50E-7DDB-D109B5ED85BE}"/>
              </a:ext>
            </a:extLst>
          </p:cNvPr>
          <p:cNvSpPr/>
          <p:nvPr/>
        </p:nvSpPr>
        <p:spPr>
          <a:xfrm>
            <a:off x="6176511" y="740640"/>
            <a:ext cx="5472389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86E2CC-9E04-E2ED-967A-0A51723CF5B0}"/>
              </a:ext>
            </a:extLst>
          </p:cNvPr>
          <p:cNvSpPr/>
          <p:nvPr/>
        </p:nvSpPr>
        <p:spPr>
          <a:xfrm>
            <a:off x="6176511" y="3602373"/>
            <a:ext cx="5472389" cy="170586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F7290-03C2-EBC6-F937-68BFE7D1A867}"/>
              </a:ext>
            </a:extLst>
          </p:cNvPr>
          <p:cNvSpPr/>
          <p:nvPr/>
        </p:nvSpPr>
        <p:spPr>
          <a:xfrm>
            <a:off x="6176510" y="1263859"/>
            <a:ext cx="5472389" cy="100520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304580-E52E-5EE8-6159-C990AEBDA83B}"/>
              </a:ext>
            </a:extLst>
          </p:cNvPr>
          <p:cNvSpPr/>
          <p:nvPr/>
        </p:nvSpPr>
        <p:spPr>
          <a:xfrm>
            <a:off x="6176510" y="2245317"/>
            <a:ext cx="5472389" cy="135705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991E48-F000-21B7-DD35-45FBF0A4251B}"/>
              </a:ext>
            </a:extLst>
          </p:cNvPr>
          <p:cNvSpPr txBox="1"/>
          <p:nvPr/>
        </p:nvSpPr>
        <p:spPr>
          <a:xfrm>
            <a:off x="9487269" y="4732057"/>
            <a:ext cx="247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Additional Functionality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751AE-A217-4D9C-E2D9-A18CEB1CE376}"/>
              </a:ext>
            </a:extLst>
          </p:cNvPr>
          <p:cNvSpPr txBox="1"/>
          <p:nvPr/>
        </p:nvSpPr>
        <p:spPr>
          <a:xfrm>
            <a:off x="9644139" y="406254"/>
            <a:ext cx="2165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handle any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FCFC8-74DB-E49E-9F5D-CB5626FF8A48}"/>
              </a:ext>
            </a:extLst>
          </p:cNvPr>
          <p:cNvSpPr txBox="1"/>
          <p:nvPr/>
        </p:nvSpPr>
        <p:spPr>
          <a:xfrm>
            <a:off x="10904485" y="1406076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Set 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AD53CB-B771-B1DB-2D7D-F95FE1149DF4}"/>
              </a:ext>
            </a:extLst>
          </p:cNvPr>
          <p:cNvSpPr txBox="1"/>
          <p:nvPr/>
        </p:nvSpPr>
        <p:spPr>
          <a:xfrm>
            <a:off x="9939728" y="2839553"/>
            <a:ext cx="240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Generate proxy class, create object, set additional functionality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2C586-3B61-5808-E586-F2BC42CAD22D}"/>
              </a:ext>
            </a:extLst>
          </p:cNvPr>
          <p:cNvSpPr txBox="1"/>
          <p:nvPr/>
        </p:nvSpPr>
        <p:spPr>
          <a:xfrm>
            <a:off x="10114628" y="3779372"/>
            <a:ext cx="205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Javassist</a:t>
            </a:r>
            <a:r>
              <a:rPr lang="en-US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10973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15" grpId="0" animBg="1"/>
      <p:bldP spid="15" grpId="1" animBg="1"/>
      <p:bldP spid="16" grpId="0"/>
      <p:bldP spid="16" grpId="1"/>
      <p:bldP spid="17" grpId="0"/>
      <p:bldP spid="17" grpId="1"/>
      <p:bldP spid="18" grpId="0"/>
      <p:bldP spid="18" grpId="1"/>
      <p:bldP spid="19" grpId="0"/>
      <p:bldP spid="19" grpId="1"/>
      <p:bldP spid="8" grpId="0"/>
      <p:bldP spid="8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5E05-99EA-4079-77DF-568CC861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8A3B40-C72E-630A-CDD8-F27EE5DD9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(o);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additional functionality;</a:t>
            </a: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4EEF03-C120-324D-7588-D6BA86705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B8F1C0-D89F-A800-528C-EB7FA3DB0DD4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class </a:t>
            </a:r>
            <a:r>
              <a:rPr lang="en-US" dirty="0" err="1">
                <a:highlight>
                  <a:srgbClr val="B9B9FF"/>
                </a:highlight>
              </a:rPr>
              <a:t>TargetClassProxy</a:t>
            </a:r>
            <a:r>
              <a:rPr lang="en-US" dirty="0">
                <a:highlight>
                  <a:srgbClr val="B9B9FF"/>
                </a:highlight>
              </a:rPr>
              <a:t> extends </a:t>
            </a:r>
            <a:r>
              <a:rPr lang="en-US" dirty="0" err="1">
                <a:highlight>
                  <a:srgbClr val="B9B9FF"/>
                </a:highlight>
              </a:rPr>
              <a:t>TargetClass</a:t>
            </a:r>
            <a:r>
              <a:rPr lang="en-US" dirty="0">
                <a:highlight>
                  <a:srgbClr val="B9B9FF"/>
                </a:highlight>
              </a:rPr>
              <a:t> </a:t>
            </a: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</a:t>
            </a:r>
            <a:r>
              <a:rPr lang="en-US" dirty="0" err="1">
                <a:highlight>
                  <a:srgbClr val="00FFFF"/>
                </a:highlight>
              </a:rPr>
              <a:t>TargetClass</a:t>
            </a:r>
            <a:r>
              <a:rPr lang="en-US" dirty="0">
                <a:highlight>
                  <a:srgbClr val="00FFFF"/>
                </a:highlight>
              </a:rPr>
              <a:t> target;</a:t>
            </a:r>
            <a:br>
              <a:rPr lang="en-US" dirty="0">
                <a:highlight>
                  <a:srgbClr val="00FFFF"/>
                </a:highlight>
              </a:rPr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FFFF00"/>
                </a:highlight>
              </a:rPr>
              <a:t>public void </a:t>
            </a:r>
            <a:r>
              <a:rPr lang="en-US" dirty="0" err="1">
                <a:highlight>
                  <a:srgbClr val="FFFF00"/>
                </a:highlight>
              </a:rPr>
              <a:t>doThis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target.doThis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public void </a:t>
            </a:r>
            <a:r>
              <a:rPr lang="en-US" dirty="0" err="1">
                <a:highlight>
                  <a:srgbClr val="FFFF00"/>
                </a:highlight>
              </a:rPr>
              <a:t>doThat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target.doThat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 proxy = new </a:t>
            </a:r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49E677-BAF3-949D-5AB0-AB66F60A10AD}"/>
              </a:ext>
            </a:extLst>
          </p:cNvPr>
          <p:cNvSpPr txBox="1"/>
          <p:nvPr/>
        </p:nvSpPr>
        <p:spPr>
          <a:xfrm>
            <a:off x="3168316" y="5569847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CD762-F6FF-42AE-F341-792926BEFF3E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B3C9A-688B-C293-2045-2675218DC50A}"/>
              </a:ext>
            </a:extLst>
          </p:cNvPr>
          <p:cNvSpPr txBox="1"/>
          <p:nvPr/>
        </p:nvSpPr>
        <p:spPr>
          <a:xfrm>
            <a:off x="10283070" y="3835519"/>
            <a:ext cx="2052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 err="1"/>
              <a:t>Javassist</a:t>
            </a:r>
            <a:r>
              <a:rPr lang="en-US" sz="1600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334212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8904-1EA7-B386-F174-EDEFA5E1E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4D36EF-A47F-1B09-5CC9-F34C9774A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TargetClass</a:t>
            </a:r>
            <a:r>
              <a:rPr lang="en-US" sz="1200" dirty="0"/>
              <a:t> {</a:t>
            </a:r>
          </a:p>
          <a:p>
            <a:r>
              <a:rPr lang="en-US" sz="1200" dirty="0"/>
              <a:t>	// private fields</a:t>
            </a:r>
          </a:p>
          <a:p>
            <a:r>
              <a:rPr lang="en-US" sz="1200" dirty="0"/>
              <a:t>	// public methods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doThis</a:t>
            </a:r>
            <a:r>
              <a:rPr lang="en-US" sz="1200" dirty="0"/>
              <a:t>() { //… }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doThat</a:t>
            </a:r>
            <a:r>
              <a:rPr lang="en-US" sz="1200" dirty="0"/>
              <a:t>() { //… 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r>
              <a:rPr lang="en-US" sz="1200" dirty="0">
                <a:highlight>
                  <a:srgbClr val="B9B9FF"/>
                </a:highlight>
              </a:rPr>
              <a:t>class Proxy0 extends </a:t>
            </a:r>
            <a:r>
              <a:rPr lang="en-US" sz="1200" dirty="0" err="1">
                <a:highlight>
                  <a:srgbClr val="B9B9FF"/>
                </a:highlight>
              </a:rPr>
              <a:t>TargetClass</a:t>
            </a:r>
            <a:r>
              <a:rPr lang="en-US" sz="1200" dirty="0">
                <a:highlight>
                  <a:srgbClr val="B9B9FF"/>
                </a:highlight>
              </a:rPr>
              <a:t> implements </a:t>
            </a:r>
            <a:r>
              <a:rPr lang="en-US" sz="1200" dirty="0" err="1">
                <a:highlight>
                  <a:srgbClr val="B9B9FF"/>
                </a:highlight>
              </a:rPr>
              <a:t>javassist.util.proxy.Proxy</a:t>
            </a:r>
            <a:r>
              <a:rPr lang="en-US" sz="1200" dirty="0">
                <a:highlight>
                  <a:srgbClr val="B9B9FF"/>
                </a:highlight>
              </a:rPr>
              <a:t> </a:t>
            </a:r>
            <a:r>
              <a:rPr lang="en-US" sz="1200" dirty="0"/>
              <a:t>{</a:t>
            </a:r>
            <a:br>
              <a:rPr lang="en-US" sz="1200" dirty="0"/>
            </a:br>
            <a:r>
              <a:rPr lang="en-US" sz="1200" dirty="0"/>
              <a:t>	private </a:t>
            </a:r>
            <a:r>
              <a:rPr lang="en-US" sz="1200" dirty="0" err="1"/>
              <a:t>MethodHandler</a:t>
            </a:r>
            <a:r>
              <a:rPr lang="en-US" sz="1200" dirty="0"/>
              <a:t> handler;</a:t>
            </a:r>
            <a:br>
              <a:rPr lang="en-US" sz="1200" dirty="0"/>
            </a:br>
            <a:endParaRPr lang="en-US" sz="1200" dirty="0"/>
          </a:p>
          <a:p>
            <a:r>
              <a:rPr lang="en-US" sz="1200" dirty="0"/>
              <a:t>	Method </a:t>
            </a:r>
            <a:r>
              <a:rPr lang="en-US" sz="1200" dirty="0" err="1"/>
              <a:t>getSuperMethod</a:t>
            </a:r>
            <a:r>
              <a:rPr lang="en-US" sz="1200" dirty="0"/>
              <a:t>(String name) {// use reflection }</a:t>
            </a:r>
            <a:br>
              <a:rPr lang="en-US" sz="1200" dirty="0"/>
            </a:br>
            <a:r>
              <a:rPr lang="en-US" sz="1200" dirty="0"/>
              <a:t>	Method </a:t>
            </a:r>
            <a:r>
              <a:rPr lang="en-US" sz="1200" dirty="0" err="1"/>
              <a:t>getMethod</a:t>
            </a:r>
            <a:r>
              <a:rPr lang="en-US" sz="1200" dirty="0"/>
              <a:t>(String name) {// use reflection } 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r>
              <a:rPr lang="en-US" sz="1200" dirty="0">
                <a:highlight>
                  <a:srgbClr val="FFFF00"/>
                </a:highlight>
              </a:rPr>
              <a:t>public void 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</a:t>
            </a:r>
            <a:r>
              <a:rPr lang="en-US" sz="1200" dirty="0" err="1">
                <a:highlight>
                  <a:srgbClr val="FFFF00"/>
                </a:highlight>
              </a:rPr>
              <a:t>handler.invoke</a:t>
            </a:r>
            <a:r>
              <a:rPr lang="en-US" sz="1200" dirty="0">
                <a:highlight>
                  <a:srgbClr val="FFFF00"/>
                </a:highlight>
              </a:rPr>
              <a:t>(this, </a:t>
            </a:r>
            <a:r>
              <a:rPr lang="en-US" sz="1200" dirty="0" err="1">
                <a:highlight>
                  <a:srgbClr val="FFFF00"/>
                </a:highlight>
              </a:rPr>
              <a:t>getSuperMethod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</a:t>
            </a:r>
            <a:r>
              <a:rPr lang="en-US" sz="1200" dirty="0" err="1">
                <a:highlight>
                  <a:srgbClr val="FFFF00"/>
                </a:highlight>
              </a:rPr>
              <a:t>getMethod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[]);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ighlight>
                  <a:srgbClr val="FFFF00"/>
                </a:highlight>
              </a:rPr>
              <a:t>	public void 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 </a:t>
            </a:r>
            <a:r>
              <a:rPr lang="en-US" sz="1200" dirty="0" err="1">
                <a:highlight>
                  <a:srgbClr val="FFFF00"/>
                </a:highlight>
              </a:rPr>
              <a:t>handler.invoke</a:t>
            </a:r>
            <a:r>
              <a:rPr lang="en-US" sz="1200" dirty="0">
                <a:highlight>
                  <a:srgbClr val="FFFF00"/>
                </a:highlight>
              </a:rPr>
              <a:t>(this, </a:t>
            </a:r>
            <a:r>
              <a:rPr lang="en-US" sz="1200" dirty="0" err="1">
                <a:highlight>
                  <a:srgbClr val="FFFF00"/>
                </a:highlight>
              </a:rPr>
              <a:t>getSuperMethod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”), </a:t>
            </a:r>
            <a:r>
              <a:rPr lang="en-US" sz="1200" dirty="0" err="1">
                <a:highlight>
                  <a:srgbClr val="FFFF00"/>
                </a:highlight>
              </a:rPr>
              <a:t>getMethod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”), []);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86B47D-BF78-BB61-B877-135E33B7D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Javassist</a:t>
            </a:r>
            <a:r>
              <a:rPr lang="en-US" dirty="0"/>
              <a:t> … behind the scenes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726ED690-B035-2A63-DE3F-3388DA93566D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77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(o);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additional functionality;</a:t>
            </a: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  <a:endParaRPr lang="en-US" dirty="0"/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t = new </a:t>
            </a:r>
            <a:r>
              <a:rPr lang="en-US" dirty="0" err="1"/>
              <a:t>TargetClass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</a:t>
            </a:r>
            <a:r>
              <a:rPr lang="en-US" dirty="0" err="1"/>
              <a:t>proxyT</a:t>
            </a:r>
            <a:r>
              <a:rPr lang="en-US" dirty="0"/>
              <a:t> = (</a:t>
            </a:r>
            <a:r>
              <a:rPr lang="en-US" dirty="0" err="1"/>
              <a:t>TargetClass</a:t>
            </a:r>
            <a:r>
              <a:rPr lang="en-US" dirty="0"/>
              <a:t>) </a:t>
            </a:r>
            <a:r>
              <a:rPr lang="en-US" dirty="0" err="1"/>
              <a:t>createProxy</a:t>
            </a:r>
            <a:r>
              <a:rPr lang="en-US" dirty="0"/>
              <a:t>(t);</a:t>
            </a:r>
            <a:br>
              <a:rPr lang="en-US" dirty="0"/>
            </a:br>
            <a:r>
              <a:rPr lang="en-US" dirty="0" err="1"/>
              <a:t>proxyT.doThis</a:t>
            </a:r>
            <a:r>
              <a:rPr lang="en-US" dirty="0"/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D32FAB-088C-DFDD-2660-7EA131188BBF}"/>
              </a:ext>
            </a:extLst>
          </p:cNvPr>
          <p:cNvSpPr txBox="1"/>
          <p:nvPr/>
        </p:nvSpPr>
        <p:spPr>
          <a:xfrm>
            <a:off x="6096000" y="5396964"/>
            <a:ext cx="5353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 err="1"/>
              <a:t>Javassist</a:t>
            </a:r>
            <a:r>
              <a:rPr lang="en-US" sz="2800" b="1" i="1" dirty="0"/>
              <a:t> runtime-generated class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4DFE7A9-159E-8040-3BD7-4A4703618105}"/>
              </a:ext>
            </a:extLst>
          </p:cNvPr>
          <p:cNvGrpSpPr/>
          <p:nvPr/>
        </p:nvGrpSpPr>
        <p:grpSpPr>
          <a:xfrm>
            <a:off x="543099" y="1845763"/>
            <a:ext cx="9579469" cy="727297"/>
            <a:chOff x="543100" y="2206710"/>
            <a:chExt cx="9579469" cy="72729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B48358A-3B34-A041-F408-10C431F8A960}"/>
                </a:ext>
              </a:extLst>
            </p:cNvPr>
            <p:cNvSpPr/>
            <p:nvPr/>
          </p:nvSpPr>
          <p:spPr>
            <a:xfrm>
              <a:off x="543100" y="2206710"/>
              <a:ext cx="5175911" cy="408154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9B36D2-9915-2C4B-E4DE-C024637DA9D4}"/>
                </a:ext>
              </a:extLst>
            </p:cNvPr>
            <p:cNvSpPr/>
            <p:nvPr/>
          </p:nvSpPr>
          <p:spPr>
            <a:xfrm>
              <a:off x="6176513" y="2410787"/>
              <a:ext cx="3946056" cy="52322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" name="Connector: Curved 10">
              <a:extLst>
                <a:ext uri="{FF2B5EF4-FFF2-40B4-BE49-F238E27FC236}">
                  <a16:creationId xmlns:a16="http://schemas.microsoft.com/office/drawing/2014/main" id="{D7611D88-1292-2099-AEDE-DBE3C0DD30C4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719011" y="2410787"/>
              <a:ext cx="457502" cy="261610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2EB97D2-00D3-A497-E8A4-1B4DD3D0FB08}"/>
              </a:ext>
            </a:extLst>
          </p:cNvPr>
          <p:cNvGrpSpPr/>
          <p:nvPr/>
        </p:nvGrpSpPr>
        <p:grpSpPr>
          <a:xfrm>
            <a:off x="543099" y="3672381"/>
            <a:ext cx="10694395" cy="1622544"/>
            <a:chOff x="543100" y="845776"/>
            <a:chExt cx="10694395" cy="162254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7323B84-AC58-9998-BF99-5234D093C9B9}"/>
                </a:ext>
              </a:extLst>
            </p:cNvPr>
            <p:cNvSpPr/>
            <p:nvPr/>
          </p:nvSpPr>
          <p:spPr>
            <a:xfrm>
              <a:off x="543100" y="2206710"/>
              <a:ext cx="5175911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17BA817-D064-1AC7-1FEE-7A0B9EB55915}"/>
                </a:ext>
              </a:extLst>
            </p:cNvPr>
            <p:cNvSpPr/>
            <p:nvPr/>
          </p:nvSpPr>
          <p:spPr>
            <a:xfrm>
              <a:off x="6176512" y="845776"/>
              <a:ext cx="5060983" cy="87416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Connector: Curved 17">
              <a:extLst>
                <a:ext uri="{FF2B5EF4-FFF2-40B4-BE49-F238E27FC236}">
                  <a16:creationId xmlns:a16="http://schemas.microsoft.com/office/drawing/2014/main" id="{8E6B81EF-02A2-7C39-574D-766C56425689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5719011" y="1282861"/>
              <a:ext cx="457501" cy="1054654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4D71965-556C-B197-E2DD-E222E12E8B19}"/>
              </a:ext>
            </a:extLst>
          </p:cNvPr>
          <p:cNvGrpSpPr/>
          <p:nvPr/>
        </p:nvGrpSpPr>
        <p:grpSpPr>
          <a:xfrm>
            <a:off x="903763" y="3428999"/>
            <a:ext cx="10278587" cy="1067783"/>
            <a:chOff x="903763" y="3428999"/>
            <a:chExt cx="10278587" cy="106778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98E2600-18E4-0410-6EEE-3C33206DB0CE}"/>
                </a:ext>
              </a:extLst>
            </p:cNvPr>
            <p:cNvSpPr/>
            <p:nvPr/>
          </p:nvSpPr>
          <p:spPr>
            <a:xfrm>
              <a:off x="7073900" y="3931141"/>
              <a:ext cx="4108450" cy="24080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A4583D6-32E1-F860-FC59-32D526A0461E}"/>
                </a:ext>
              </a:extLst>
            </p:cNvPr>
            <p:cNvSpPr/>
            <p:nvPr/>
          </p:nvSpPr>
          <p:spPr>
            <a:xfrm>
              <a:off x="903763" y="3428999"/>
              <a:ext cx="3744437" cy="1067783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Curved 24">
              <a:extLst>
                <a:ext uri="{FF2B5EF4-FFF2-40B4-BE49-F238E27FC236}">
                  <a16:creationId xmlns:a16="http://schemas.microsoft.com/office/drawing/2014/main" id="{705D260E-2EB9-8788-D3AE-865D4D2C14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rot="10800000">
              <a:off x="4648200" y="3931144"/>
              <a:ext cx="2425700" cy="120403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789BDF2-4634-BB7C-AF37-9134E4DCCCA5}"/>
              </a:ext>
            </a:extLst>
          </p:cNvPr>
          <p:cNvGrpSpPr/>
          <p:nvPr/>
        </p:nvGrpSpPr>
        <p:grpSpPr>
          <a:xfrm>
            <a:off x="1071315" y="1293227"/>
            <a:ext cx="9131765" cy="3096421"/>
            <a:chOff x="543101" y="-628101"/>
            <a:chExt cx="9131765" cy="3096421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8D81DD2C-E515-EC3C-5364-B933152F6429}"/>
                </a:ext>
              </a:extLst>
            </p:cNvPr>
            <p:cNvSpPr/>
            <p:nvPr/>
          </p:nvSpPr>
          <p:spPr>
            <a:xfrm>
              <a:off x="543101" y="2206710"/>
              <a:ext cx="3744438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BB3DA7-1F0C-905C-43D2-2BE16A7CB934}"/>
                </a:ext>
              </a:extLst>
            </p:cNvPr>
            <p:cNvSpPr/>
            <p:nvPr/>
          </p:nvSpPr>
          <p:spPr>
            <a:xfrm>
              <a:off x="5728810" y="-628101"/>
              <a:ext cx="3946056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Connector: Curved 44">
              <a:extLst>
                <a:ext uri="{FF2B5EF4-FFF2-40B4-BE49-F238E27FC236}">
                  <a16:creationId xmlns:a16="http://schemas.microsoft.com/office/drawing/2014/main" id="{7098EEFE-E6B6-EA1C-07DC-FE077FD0B6E0}"/>
                </a:ext>
              </a:extLst>
            </p:cNvPr>
            <p:cNvCxnSpPr>
              <a:cxnSpLocks/>
              <a:stCxn id="43" idx="3"/>
              <a:endCxn id="44" idx="1"/>
            </p:cNvCxnSpPr>
            <p:nvPr/>
          </p:nvCxnSpPr>
          <p:spPr>
            <a:xfrm flipV="1">
              <a:off x="4287539" y="-497296"/>
              <a:ext cx="1441271" cy="283481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8780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B4D51B-B8F2-24F1-FF7F-286F25750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https://github.com/davsec-teaching/javassist_demo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C91648-9FD3-EF0D-4C41-7206339F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3068628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r>
              <a:rPr lang="en-US" dirty="0"/>
              <a:t>Breaks SRP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F9C9-0387-5E71-2779-177DFBF80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AE21C5-ADB6-DD31-0E54-7B3B58E7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C17C4F-F57F-B43E-39F6-94AE5A05FB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679B87-1BFF-4B2F-8831-DB053A92A8E7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E45DED-B28F-6B00-D163-AC5B51F9B2DD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AB9E9F-5A11-1AF9-666F-13291B70AB43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154B43-3E5C-830E-247B-E8F0B4625A6B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24C4E5-3793-1FB5-9CAD-4C19380C5FC9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845C33B-8116-E82B-CB1B-6E3F2D8F5EBA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A12320-158D-E515-63CB-24A98860ACE9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3D36235-B8CF-236F-B3A4-0506714C21B3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2B70F23-1859-1645-3013-A09B064AC35D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C57B16B-795C-3C8D-1B53-77C955E09B84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1918BA4-F833-311A-974F-2F31CB210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B771898-EB8F-2E2F-44A5-88B1B6B68D60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4001E55-F84D-F2FB-4802-3B290AB230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44458F-E004-D065-3876-FBF90032C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1B9BFF6-7715-4B7B-938F-1D553DDDD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06EB8B7-7C3E-CF7B-3ACD-DACA084B9D9C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6A9CB18-3312-2F63-8638-A3DC4185E2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561C569-FC00-9FC3-C602-512C996D9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178904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8C7E1-BD1F-E424-8865-6FA6129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455C7D-6286-928F-5FA0-85A70BAC4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EBA6D96-20DE-0C2C-1029-9CBB54C0C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FE68B-DE9A-B9E9-4F3A-70EAFD34815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3A680B-540C-E998-F045-8EE95AF75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394694-F208-0A56-A30A-F9DF0005EA8A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6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BAD2-E99F-CE3E-979B-8123420EF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B4BDA3-511B-806D-A742-6B22F7624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864F21-A1C2-E25F-88E2-2790BBEFB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83CF8-0662-1985-9415-780BE10FA5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Clicking on ‘+’ loads the remaining replies</a:t>
            </a:r>
          </a:p>
          <a:p>
            <a:r>
              <a:rPr lang="en-US" dirty="0"/>
              <a:t>Dynamic proxies simplify implementing lazy loading</a:t>
            </a:r>
          </a:p>
          <a:p>
            <a:r>
              <a:rPr lang="en-US" dirty="0"/>
              <a:t>This class: </a:t>
            </a:r>
            <a:r>
              <a:rPr lang="en-US" i="1" dirty="0"/>
              <a:t>sketch of a solution (not full solution)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FB92D-1DB2-CB8F-D327-EB9F7643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6473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Post </a:t>
            </a:r>
            <a:r>
              <a:rPr lang="en-US" dirty="0" err="1"/>
              <a:t>loadPost</a:t>
            </a:r>
            <a:r>
              <a:rPr lang="en-US" dirty="0"/>
              <a:t>(String id) {</a:t>
            </a:r>
          </a:p>
          <a:p>
            <a:r>
              <a:rPr lang="en-US" dirty="0"/>
              <a:t> map = </a:t>
            </a:r>
            <a:r>
              <a:rPr lang="en-US" dirty="0" err="1"/>
              <a:t>jedis.hgetAll</a:t>
            </a:r>
            <a:r>
              <a:rPr lang="en-US" dirty="0"/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(id);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dirty="0"/>
            </a:br>
            <a:r>
              <a:rPr lang="en-US" dirty="0"/>
              <a:t> List&lt;String&gt; replies =   	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childPosts</a:t>
            </a:r>
            <a:r>
              <a:rPr lang="en-US" dirty="0"/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// does not load the reply details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</a:t>
            </a:r>
            <a:r>
              <a:rPr lang="en-US" dirty="0" err="1"/>
              <a:t>createLazyLoadProxy</a:t>
            </a:r>
            <a:r>
              <a:rPr lang="en-US" dirty="0"/>
              <a:t>(post);</a:t>
            </a:r>
          </a:p>
          <a:p>
            <a:r>
              <a:rPr lang="en-US" dirty="0"/>
              <a:t>}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339188-70C5-9EA0-CC70-C307706B96E9}"/>
              </a:ext>
            </a:extLst>
          </p:cNvPr>
          <p:cNvSpPr/>
          <p:nvPr/>
        </p:nvSpPr>
        <p:spPr>
          <a:xfrm>
            <a:off x="846709" y="3412304"/>
            <a:ext cx="4018802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DC3CA-93B2-3CB8-723C-412568F2939A}"/>
              </a:ext>
            </a:extLst>
          </p:cNvPr>
          <p:cNvSpPr txBox="1"/>
          <p:nvPr/>
        </p:nvSpPr>
        <p:spPr>
          <a:xfrm>
            <a:off x="4152815" y="2903491"/>
            <a:ext cx="2821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Only set the Reply ID</a:t>
            </a:r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56205-EBFC-8CE2-ECBA-13CF2036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E0FD91-1E49-B5B4-89D6-9AAA0E2E9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FFA7D9-A2AE-8C97-39AB-9BF2AE6995B5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DF35DF-A059-980A-9E54-CAAAB38BF36E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7899C1A-2087-6D6D-F9AD-325200EBA6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F2F94EF-9D38-35C7-DD1F-80C69C951FAE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9832223-A099-6675-A87B-0227B045EF41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D03AD3-6D77-7746-9B47-0E9C57E2B67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E22B77C-7F47-0ABE-9079-A76BDEF42389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18A04A-1418-5CA1-2E2E-EAB91B0C81E4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795CDCA-9818-099D-80D5-26A9C6B0278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02BF50A-A6C3-E6E5-56B9-FF23D3660897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A2D85EA-C283-626B-7343-1413600A52A8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7855D87-9BB1-4E01-D869-302652691C9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BA9C5E3-0CE4-DC52-0EAE-7DFED47453BB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B82C35-D991-DAAF-12C8-E539EB4658A1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C3CEAAF-F778-2097-337A-7AF2CBEA6CCD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0931E80-ABD9-4716-3038-6F53D1CF6F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DD66C81-A5F6-3256-20F7-F257BA1774B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71E606-24DE-D739-6682-0123C668B090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854DF49-7524-E60F-9C32-E981AD80B74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26E1FE-9FB3-BCD1-BF91-195CBD56B529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E2C0BA5-72E0-0029-43FE-0EE6AA78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 // only the id is populated</a:t>
            </a:r>
          </a:p>
          <a:p>
            <a:r>
              <a:rPr lang="en-US" dirty="0"/>
              <a:t>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BDE434-BC54-1E05-6850-E837A95C66FB}"/>
              </a:ext>
            </a:extLst>
          </p:cNvPr>
          <p:cNvSpPr txBox="1"/>
          <p:nvPr/>
        </p:nvSpPr>
        <p:spPr>
          <a:xfrm>
            <a:off x="5972733" y="5377780"/>
            <a:ext cx="6219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Lazy loading code is provided by the proxy class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32CE4C-999D-B73D-07FC-780D537AC682}"/>
              </a:ext>
            </a:extLst>
          </p:cNvPr>
          <p:cNvSpPr/>
          <p:nvPr/>
        </p:nvSpPr>
        <p:spPr>
          <a:xfrm>
            <a:off x="566626" y="732678"/>
            <a:ext cx="4018802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9617F2-F808-97F0-68B3-93C4B13B565F}"/>
              </a:ext>
            </a:extLst>
          </p:cNvPr>
          <p:cNvSpPr txBox="1"/>
          <p:nvPr/>
        </p:nvSpPr>
        <p:spPr>
          <a:xfrm>
            <a:off x="4549066" y="692713"/>
            <a:ext cx="48603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 calls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 transparently</a:t>
            </a:r>
          </a:p>
        </p:txBody>
      </p:sp>
    </p:spTree>
    <p:extLst>
      <p:ext uri="{BB962C8B-B14F-4D97-AF65-F5344CB8AC3E}">
        <p14:creationId xmlns:p14="http://schemas.microsoft.com/office/powerpoint/2010/main" val="2531281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42E3-D39D-3119-D14B-9BC8ABA1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B8B0EC8-DFBA-EB4B-3F29-C28C62A0F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13BAD7-A2EF-CFCC-68F0-41C1CE5E65BC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DEA8CD-FC8C-B756-AF4F-877557258051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7DE81D-96AE-56C6-B7A3-324428C5578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71C5B4-BF59-1243-93A5-1F12EAA40253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FCA8BF-0396-A4D0-E8C4-511FF6E637BD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8F56D17-57C9-0286-D7D2-FEF78E14C754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36EDC-072D-9D47-1DDC-2DB31D3CEA2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3379F7-D4A0-44B2-A061-292CD27A601C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D666E-16F5-1FD0-3E60-B0DB9F06D29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D0441BD-125F-F3A1-C97F-17E85C79A9DA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F9C67D5-528F-957B-9445-0F7D81D0998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BD03488-D392-8CE8-0E2A-827F9CE84A5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3722EBC-C601-35A9-B7CB-A1E393D0643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6E445F5-0A7B-171E-33C8-69C84BAC96D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DBCABF-B77A-8601-2F6B-EDD896F63362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A4A1ECF-C880-1C5F-358B-4D543EFABD4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7E5E777-F4A0-FEA3-FB9A-3DD716A117E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E211EB4-488A-36B5-7E5B-04BCD5C1FDF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A92A14-87C0-D85C-B294-F6A1C89C81A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0168A8-68BA-F705-D5DB-1DA2533681C0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C16ED9C-C67E-1F4F-6C30-0D2C1A22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createLazyLoadProxy</a:t>
            </a:r>
            <a:r>
              <a:rPr lang="en-US" dirty="0"/>
              <a:t>(Object target) {</a:t>
            </a:r>
          </a:p>
          <a:p>
            <a:r>
              <a:rPr lang="en-US" dirty="0"/>
              <a:t>	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	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	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LazyLoadMethodHandler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/>
              <a:t>	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	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	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	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invoke(…) throws Throwable {</a:t>
            </a:r>
          </a:p>
          <a:p>
            <a:r>
              <a:rPr lang="en-US" dirty="0"/>
              <a:t>		// Code to invoke </a:t>
            </a:r>
            <a:r>
              <a:rPr lang="en-US" dirty="0" err="1"/>
              <a:t>loadReplies</a:t>
            </a:r>
            <a:r>
              <a:rPr lang="en-US" dirty="0"/>
              <a:t>();</a:t>
            </a:r>
          </a:p>
          <a:p>
            <a:r>
              <a:rPr lang="en-US" dirty="0"/>
              <a:t>		// if </a:t>
            </a:r>
            <a:r>
              <a:rPr lang="en-US" dirty="0" err="1"/>
              <a:t>getReplies</a:t>
            </a:r>
            <a:r>
              <a:rPr lang="en-US" dirty="0"/>
              <a:t>() is invoked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0DB0AF-F261-544B-A91D-FFD5BC6BCDD1}"/>
              </a:ext>
            </a:extLst>
          </p:cNvPr>
          <p:cNvSpPr txBox="1"/>
          <p:nvPr/>
        </p:nvSpPr>
        <p:spPr>
          <a:xfrm>
            <a:off x="5972733" y="5377780"/>
            <a:ext cx="598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createLazyLoadProxy</a:t>
            </a:r>
            <a:r>
              <a:rPr lang="en-US" sz="2400" b="1" i="1" dirty="0"/>
              <a:t> returns the proxy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43324C-DDDD-8857-3213-C3D047474711}"/>
              </a:ext>
            </a:extLst>
          </p:cNvPr>
          <p:cNvSpPr/>
          <p:nvPr/>
        </p:nvSpPr>
        <p:spPr>
          <a:xfrm>
            <a:off x="382910" y="732354"/>
            <a:ext cx="4736008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50BE4B-AF39-342F-4812-1B505D4970FA}"/>
              </a:ext>
            </a:extLst>
          </p:cNvPr>
          <p:cNvSpPr txBox="1"/>
          <p:nvPr/>
        </p:nvSpPr>
        <p:spPr>
          <a:xfrm>
            <a:off x="5361965" y="682156"/>
            <a:ext cx="332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Create </a:t>
            </a:r>
            <a:r>
              <a:rPr lang="en-US" sz="2400" b="1" i="1" dirty="0" err="1"/>
              <a:t>PostProxy</a:t>
            </a:r>
            <a:r>
              <a:rPr lang="en-US" sz="2400" b="1" i="1" dirty="0"/>
              <a:t> objects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57F15B-65C1-090D-B4C9-B749751FCA67}"/>
              </a:ext>
            </a:extLst>
          </p:cNvPr>
          <p:cNvSpPr/>
          <p:nvPr/>
        </p:nvSpPr>
        <p:spPr>
          <a:xfrm>
            <a:off x="486065" y="3722021"/>
            <a:ext cx="5085574" cy="202070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9DF5D2-05AB-855C-2F04-494C9AE9CEEA}"/>
              </a:ext>
            </a:extLst>
          </p:cNvPr>
          <p:cNvSpPr txBox="1"/>
          <p:nvPr/>
        </p:nvSpPr>
        <p:spPr>
          <a:xfrm>
            <a:off x="2276423" y="4985726"/>
            <a:ext cx="27449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Invoke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1109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  <p:bldP spid="12" grpId="0" animBg="1"/>
      <p:bldP spid="12" grpId="1" animBg="1"/>
      <p:bldP spid="22" grpId="0"/>
      <p:bldP spid="22" grpId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5005138" y="1614311"/>
            <a:ext cx="3333711" cy="3074919"/>
          </a:xfrm>
          <a:prstGeom prst="curvedConnector4">
            <a:avLst>
              <a:gd name="adj1" fmla="val 46571"/>
              <a:gd name="adj2" fmla="val 10743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17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post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7E306-BA90-EAA3-7FE7-5520DB37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B7E65-DC75-116F-2FC5-F15B10E74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021FD1C-9C5E-46B6-A916-842886ADB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C3C3294-DB00-9B02-B50E-63EF2A9BF9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Mockito proxy objects record method invocations the first time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replay the configured return value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8F8D92-A706-3BF8-D36B-361F82EC5F42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123B30-917D-F085-2FBD-49E57CABAD36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777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7863"/>
            <a:ext cx="4280510" cy="436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473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D6098-C887-1617-5FC5-2D499ADD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94ACB-6420-83D3-3AB8-E756E24E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7489D0-99C7-81F8-0434-06E8F1AE5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8ED6A-9994-EA70-98D8-4A23D984126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97E519-640B-9E9D-F419-071497C3498E}"/>
              </a:ext>
            </a:extLst>
          </p:cNvPr>
          <p:cNvSpPr/>
          <p:nvPr/>
        </p:nvSpPr>
        <p:spPr>
          <a:xfrm>
            <a:off x="6540701" y="2483556"/>
            <a:ext cx="4905033" cy="160302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136971-A52E-7277-1C43-3DAB80A2DAE2}"/>
              </a:ext>
            </a:extLst>
          </p:cNvPr>
          <p:cNvSpPr/>
          <p:nvPr/>
        </p:nvSpPr>
        <p:spPr>
          <a:xfrm>
            <a:off x="6096000" y="4526844"/>
            <a:ext cx="5349734" cy="97367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0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17949</TotalTime>
  <Words>14872</Words>
  <Application>Microsoft Macintosh PowerPoint</Application>
  <PresentationFormat>Widescreen</PresentationFormat>
  <Paragraphs>2485</Paragraphs>
  <Slides>153</Slides>
  <Notes>67</Notes>
  <HiddenSlides>42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153</vt:i4>
      </vt:variant>
    </vt:vector>
  </HeadingPairs>
  <TitlesOfParts>
    <vt:vector size="160" baseType="lpstr">
      <vt:lpstr>Arial</vt:lpstr>
      <vt:lpstr>Calibri</vt:lpstr>
      <vt:lpstr>Consolas</vt:lpstr>
      <vt:lpstr>Courier New</vt:lpstr>
      <vt:lpstr>Helvetica</vt:lpstr>
      <vt:lpstr>ui-monospace</vt:lpstr>
      <vt:lpstr>Preso 2022 Watertower Stats</vt:lpstr>
      <vt:lpstr>PowerPoint Presentation</vt:lpstr>
      <vt:lpstr>Next few topics</vt:lpstr>
      <vt:lpstr>Use case: saving records in Redis</vt:lpstr>
      <vt:lpstr>Use case: saving records in Redis</vt:lpstr>
      <vt:lpstr>Use case: saving records in Redis</vt:lpstr>
      <vt:lpstr>Use case: Redis persistence from HW1</vt:lpstr>
      <vt:lpstr>Use case: Redis persistence from HW1</vt:lpstr>
      <vt:lpstr>Potential design</vt:lpstr>
      <vt:lpstr>Goal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Reflection and metaprogramming</vt:lpstr>
      <vt:lpstr>Key classes</vt:lpstr>
      <vt:lpstr>Reflection recap</vt:lpstr>
      <vt:lpstr>Reflection recap</vt:lpstr>
      <vt:lpstr>Why reflection?</vt:lpstr>
      <vt:lpstr>Possible alternatives</vt:lpstr>
      <vt:lpstr>Possible alternatives</vt:lpstr>
      <vt:lpstr>Possible alternatives</vt:lpstr>
      <vt:lpstr>Possible alternatives</vt:lpstr>
      <vt:lpstr>Why reflection?</vt:lpstr>
      <vt:lpstr>Reflection recap</vt:lpstr>
      <vt:lpstr>Loading all classes</vt:lpstr>
      <vt:lpstr>Discussion: design problem</vt:lpstr>
      <vt:lpstr>Discussion: 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Reflection alternatives and optimizations</vt:lpstr>
      <vt:lpstr>Reflection alternatives and optimizations</vt:lpstr>
      <vt:lpstr>Bytecode instrumentation</vt:lpstr>
      <vt:lpstr>Runtime bytecode generation and manipulation</vt:lpstr>
      <vt:lpstr>Bytecode instrumentation</vt:lpstr>
      <vt:lpstr>Runtime bytecode generation and manipulation</vt:lpstr>
      <vt:lpstr>Reflection in JavaScript [Not in Syllabus]</vt:lpstr>
      <vt:lpstr>Background: super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</vt:lpstr>
      <vt:lpstr>Proxying using Javassist (extra-credit HW2)</vt:lpstr>
      <vt:lpstr>Proxying using Javassist (extra-credit HW2)</vt:lpstr>
      <vt:lpstr>Complete solution</vt:lpstr>
      <vt:lpstr>Proxies: recap</vt:lpstr>
      <vt:lpstr>Proxies: recap</vt:lpstr>
      <vt:lpstr>Proxies: recap</vt:lpstr>
      <vt:lpstr>Javassist … behind the scenes</vt:lpstr>
      <vt:lpstr>Demo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Loading posts</vt:lpstr>
      <vt:lpstr>Lazy loading posts UI</vt:lpstr>
      <vt:lpstr>Lazy loading posts UI</vt:lpstr>
      <vt:lpstr>Proxies: recap</vt:lpstr>
      <vt:lpstr>Proxies for lazy loading</vt:lpstr>
      <vt:lpstr>Proxies for lazy loading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1620</cp:revision>
  <dcterms:created xsi:type="dcterms:W3CDTF">2019-06-30T03:25:06Z</dcterms:created>
  <dcterms:modified xsi:type="dcterms:W3CDTF">2026-10-12T00:02:24Z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