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0"/>
  </p:notesMasterIdLst>
  <p:handoutMasterIdLst>
    <p:handoutMasterId r:id="rId151"/>
  </p:handoutMasterIdLst>
  <p:sldIdLst>
    <p:sldId id="256" r:id="rId2"/>
    <p:sldId id="279" r:id="rId3"/>
    <p:sldId id="277" r:id="rId4"/>
    <p:sldId id="489" r:id="rId5"/>
    <p:sldId id="490" r:id="rId6"/>
    <p:sldId id="491" r:id="rId7"/>
    <p:sldId id="492" r:id="rId8"/>
    <p:sldId id="278" r:id="rId9"/>
    <p:sldId id="282" r:id="rId10"/>
    <p:sldId id="283" r:id="rId11"/>
    <p:sldId id="443" r:id="rId12"/>
    <p:sldId id="330" r:id="rId13"/>
    <p:sldId id="291" r:id="rId14"/>
    <p:sldId id="265" r:id="rId15"/>
    <p:sldId id="442" r:id="rId16"/>
    <p:sldId id="289" r:id="rId17"/>
    <p:sldId id="266" r:id="rId18"/>
    <p:sldId id="440" r:id="rId19"/>
    <p:sldId id="439" r:id="rId20"/>
    <p:sldId id="441" r:id="rId21"/>
    <p:sldId id="267" r:id="rId22"/>
    <p:sldId id="285" r:id="rId23"/>
    <p:sldId id="287" r:id="rId24"/>
    <p:sldId id="290" r:id="rId25"/>
    <p:sldId id="324" r:id="rId26"/>
    <p:sldId id="444" r:id="rId27"/>
    <p:sldId id="449" r:id="rId28"/>
    <p:sldId id="327" r:id="rId29"/>
    <p:sldId id="341" r:id="rId30"/>
    <p:sldId id="328" r:id="rId31"/>
    <p:sldId id="331" r:id="rId32"/>
    <p:sldId id="333" r:id="rId33"/>
    <p:sldId id="332" r:id="rId34"/>
    <p:sldId id="335" r:id="rId35"/>
    <p:sldId id="329" r:id="rId36"/>
    <p:sldId id="458" r:id="rId37"/>
    <p:sldId id="452" r:id="rId38"/>
    <p:sldId id="450" r:id="rId39"/>
    <p:sldId id="460" r:id="rId40"/>
    <p:sldId id="461" r:id="rId41"/>
    <p:sldId id="462" r:id="rId42"/>
    <p:sldId id="336" r:id="rId43"/>
    <p:sldId id="258" r:id="rId44"/>
    <p:sldId id="261" r:id="rId45"/>
    <p:sldId id="259" r:id="rId46"/>
    <p:sldId id="260" r:id="rId47"/>
    <p:sldId id="264" r:id="rId48"/>
    <p:sldId id="321" r:id="rId49"/>
    <p:sldId id="323" r:id="rId50"/>
    <p:sldId id="337" r:id="rId51"/>
    <p:sldId id="338" r:id="rId52"/>
    <p:sldId id="354" r:id="rId53"/>
    <p:sldId id="355" r:id="rId54"/>
    <p:sldId id="294" r:id="rId55"/>
    <p:sldId id="273" r:id="rId56"/>
    <p:sldId id="275" r:id="rId57"/>
    <p:sldId id="274" r:id="rId58"/>
    <p:sldId id="271" r:id="rId59"/>
    <p:sldId id="272" r:id="rId60"/>
    <p:sldId id="340" r:id="rId61"/>
    <p:sldId id="345" r:id="rId62"/>
    <p:sldId id="464" r:id="rId63"/>
    <p:sldId id="346" r:id="rId64"/>
    <p:sldId id="468" r:id="rId65"/>
    <p:sldId id="466" r:id="rId66"/>
    <p:sldId id="344" r:id="rId67"/>
    <p:sldId id="467" r:id="rId68"/>
    <p:sldId id="347" r:id="rId69"/>
    <p:sldId id="342" r:id="rId70"/>
    <p:sldId id="393" r:id="rId71"/>
    <p:sldId id="391" r:id="rId72"/>
    <p:sldId id="350" r:id="rId73"/>
    <p:sldId id="392" r:id="rId74"/>
    <p:sldId id="394" r:id="rId75"/>
    <p:sldId id="395" r:id="rId76"/>
    <p:sldId id="396" r:id="rId77"/>
    <p:sldId id="397" r:id="rId78"/>
    <p:sldId id="361" r:id="rId79"/>
    <p:sldId id="400" r:id="rId80"/>
    <p:sldId id="349" r:id="rId81"/>
    <p:sldId id="380" r:id="rId82"/>
    <p:sldId id="366" r:id="rId83"/>
    <p:sldId id="402" r:id="rId84"/>
    <p:sldId id="368" r:id="rId85"/>
    <p:sldId id="398" r:id="rId86"/>
    <p:sldId id="407" r:id="rId87"/>
    <p:sldId id="399" r:id="rId88"/>
    <p:sldId id="486" r:id="rId89"/>
    <p:sldId id="416" r:id="rId90"/>
    <p:sldId id="470" r:id="rId91"/>
    <p:sldId id="471" r:id="rId92"/>
    <p:sldId id="487" r:id="rId93"/>
    <p:sldId id="472" r:id="rId94"/>
    <p:sldId id="415" r:id="rId95"/>
    <p:sldId id="372" r:id="rId96"/>
    <p:sldId id="411" r:id="rId97"/>
    <p:sldId id="412" r:id="rId98"/>
    <p:sldId id="410" r:id="rId99"/>
    <p:sldId id="417" r:id="rId100"/>
    <p:sldId id="418" r:id="rId101"/>
    <p:sldId id="419" r:id="rId102"/>
    <p:sldId id="420" r:id="rId103"/>
    <p:sldId id="421" r:id="rId104"/>
    <p:sldId id="422" r:id="rId105"/>
    <p:sldId id="423" r:id="rId106"/>
    <p:sldId id="405" r:id="rId107"/>
    <p:sldId id="430" r:id="rId108"/>
    <p:sldId id="481" r:id="rId109"/>
    <p:sldId id="482" r:id="rId110"/>
    <p:sldId id="429" r:id="rId111"/>
    <p:sldId id="401" r:id="rId112"/>
    <p:sldId id="378" r:id="rId113"/>
    <p:sldId id="432" r:id="rId114"/>
    <p:sldId id="262" r:id="rId115"/>
    <p:sldId id="433" r:id="rId116"/>
    <p:sldId id="270" r:id="rId117"/>
    <p:sldId id="434" r:id="rId118"/>
    <p:sldId id="435" r:id="rId119"/>
    <p:sldId id="436" r:id="rId120"/>
    <p:sldId id="431" r:id="rId121"/>
    <p:sldId id="485" r:id="rId122"/>
    <p:sldId id="263" r:id="rId123"/>
    <p:sldId id="408" r:id="rId124"/>
    <p:sldId id="409" r:id="rId125"/>
    <p:sldId id="376" r:id="rId126"/>
    <p:sldId id="483" r:id="rId127"/>
    <p:sldId id="403" r:id="rId128"/>
    <p:sldId id="404" r:id="rId129"/>
    <p:sldId id="406" r:id="rId130"/>
    <p:sldId id="377" r:id="rId131"/>
    <p:sldId id="348" r:id="rId132"/>
    <p:sldId id="364" r:id="rId133"/>
    <p:sldId id="369" r:id="rId134"/>
    <p:sldId id="365" r:id="rId135"/>
    <p:sldId id="373" r:id="rId136"/>
    <p:sldId id="374" r:id="rId137"/>
    <p:sldId id="375" r:id="rId138"/>
    <p:sldId id="316" r:id="rId139"/>
    <p:sldId id="317" r:id="rId140"/>
    <p:sldId id="318" r:id="rId141"/>
    <p:sldId id="437" r:id="rId142"/>
    <p:sldId id="320" r:id="rId143"/>
    <p:sldId id="352" r:id="rId144"/>
    <p:sldId id="353" r:id="rId145"/>
    <p:sldId id="357" r:id="rId146"/>
    <p:sldId id="358" r:id="rId147"/>
    <p:sldId id="359" r:id="rId148"/>
    <p:sldId id="360" r:id="rId149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99" autoAdjust="0"/>
    <p:restoredTop sz="77440" autoAdjust="0"/>
  </p:normalViewPr>
  <p:slideViewPr>
    <p:cSldViewPr snapToGrid="0">
      <p:cViewPr varScale="1">
        <p:scale>
          <a:sx n="105" d="100"/>
          <a:sy n="105" d="100"/>
        </p:scale>
        <p:origin x="2648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notesMaster" Target="notesMasters/notesMaster1.xml"/><Relationship Id="rId155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handoutMaster" Target="handoutMasters/handoutMaster1.xml"/><Relationship Id="rId156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849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BE7-17DC-925A-80F2-54127094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CD07-EEA9-C801-80C0-D00A9A888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AF47D-28D5-CEFC-76F1-1FF79E064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8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B97E1-E558-A4DA-B3EC-DF2D537A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214C4-E37C-A094-ADC5-0DA45F0ED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B1CD-BF1C-EEDD-5F7D-33E9FE9E8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368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8096-8FC8-CB5D-9424-2AACCA03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6F485-BB03-E965-2C08-F4C867CDE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71D5-97D4-7DFE-F893-D30898EE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0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E5EA-FA67-3321-74F7-34A01511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6583-CC53-84C2-E746-1CF7997E1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E003-BAB8-7766-841D-6BDD4B5A8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919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5142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13,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13,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13,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e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design frameworks and libraries?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1A5167E0-722C-9149-46B0-EC7BD017E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4426B4-97C5-A4E4-EFFC-DC4B55BB355D}"/>
              </a:ext>
            </a:extLst>
          </p:cNvPr>
          <p:cNvSpPr txBox="1"/>
          <p:nvPr/>
        </p:nvSpPr>
        <p:spPr>
          <a:xfrm>
            <a:off x="4277399" y="280368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user:100 "Alice"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B32E07A-346A-0C7F-1158-3B356BAB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39BC46-B30A-BD68-6A9D-6D4D8018130D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A32CA01-255B-5B1B-C70A-E344C915B913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259AE-F8AA-84BF-62EC-945499F3452E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AE3F3-539A-F4BD-8FDA-81474E3FF69C}"/>
              </a:ext>
            </a:extLst>
          </p:cNvPr>
          <p:cNvSpPr/>
          <p:nvPr/>
        </p:nvSpPr>
        <p:spPr>
          <a:xfrm>
            <a:off x="6088380" y="2758457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6A7BE9-C49E-D635-937A-F36E3E52D6DA}"/>
              </a:ext>
            </a:extLst>
          </p:cNvPr>
          <p:cNvSpPr txBox="1"/>
          <p:nvPr/>
        </p:nvSpPr>
        <p:spPr>
          <a:xfrm>
            <a:off x="6303835" y="2352311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2" animBg="1"/>
      <p:bldP spid="10" grpId="3" animBg="1"/>
      <p:bldP spid="11" grpId="0"/>
      <p:bldP spid="11" grpId="1"/>
      <p:bldP spid="12" grpId="0" animBg="1"/>
      <p:bldP spid="12" grpId="1" animBg="1"/>
      <p:bldP spid="13" grpId="0"/>
      <p:bldP spid="1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855C-55C2-A151-EAAC-55C8841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25929-F3A6-F468-606B-2E5D3131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F7D047-8AC6-D162-8862-124F56EE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BB3F4DE3-F885-51BA-B797-81041BE1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FB462-C9B8-C526-4E04-11226B326A1B}"/>
              </a:ext>
            </a:extLst>
          </p:cNvPr>
          <p:cNvSpPr txBox="1"/>
          <p:nvPr/>
        </p:nvSpPr>
        <p:spPr>
          <a:xfrm>
            <a:off x="4277399" y="2803682"/>
            <a:ext cx="1842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GET user:100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CFD5E92F-2214-3B78-1A57-285473C7D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290C21-4801-8BD9-AFC8-0864EFC38340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E6EAA5D-BD62-CD05-E87C-383A6CD5148D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1F3CA-6CA8-8978-EFA3-72DD1818CFAB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</p:spTree>
    <p:extLst>
      <p:ext uri="{BB962C8B-B14F-4D97-AF65-F5344CB8AC3E}">
        <p14:creationId xmlns:p14="http://schemas.microsoft.com/office/powerpoint/2010/main" val="93583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44E1-4E64-F683-3F76-787974E4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86252B-5BEB-4F15-53B5-F0F3B8040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252B76-A017-46E3-B20A-D698C642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FD37A63-63E8-1698-DD93-6FD7552BF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F87BD-92BA-D25C-0294-11075D5376BA}"/>
              </a:ext>
            </a:extLst>
          </p:cNvPr>
          <p:cNvSpPr txBox="1"/>
          <p:nvPr/>
        </p:nvSpPr>
        <p:spPr>
          <a:xfrm>
            <a:off x="4973066" y="2789051"/>
            <a:ext cx="93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Alice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E5868EE4-EA5A-4262-8043-3B20705A9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79F776-FCA8-4039-EB60-9B0EF568EBF6}"/>
              </a:ext>
            </a:extLst>
          </p:cNvPr>
          <p:cNvCxnSpPr>
            <a:cxnSpLocks/>
            <a:stCxn id="2" idx="1"/>
            <a:endCxn id="1026" idx="3"/>
          </p:cNvCxnSpPr>
          <p:nvPr/>
        </p:nvCxnSpPr>
        <p:spPr>
          <a:xfrm flipH="1"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2025574-B783-6D9C-7251-6C02BD3A236C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5FF8FC-3885-4EEF-09DC-A11994F9CB4B}"/>
              </a:ext>
            </a:extLst>
          </p:cNvPr>
          <p:cNvSpPr txBox="1"/>
          <p:nvPr/>
        </p:nvSpPr>
        <p:spPr>
          <a:xfrm>
            <a:off x="4973066" y="2369435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40842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C74A-6FD8-306B-2C85-E3161BF5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FBCCA-0129-1A64-CCAD-AF04FA2D3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089B7-F2E6-B402-0653-6333C84D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CE026F9-B3C2-111F-CFAC-4F0A4E3D6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1176D065-8057-0CB9-F7D0-ED5BC6AC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C5B56-FF5B-1A64-113E-5A77CFC53619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95D12A-D607-986D-B7A7-7ADBD7E66732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98" name="Picture 2" descr="How to Install and Run Redis Server on Ubuntu 24.04 or 22.04 Linux -  LinuxShout">
            <a:extLst>
              <a:ext uri="{FF2B5EF4-FFF2-40B4-BE49-F238E27FC236}">
                <a16:creationId xmlns:a16="http://schemas.microsoft.com/office/drawing/2014/main" id="{66329A11-16EA-4DA9-105F-49E94C090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270" y="3864394"/>
            <a:ext cx="6536436" cy="2757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54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4B67-9018-4DC6-7C4E-D41B5E0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F92163-A5FB-AD11-1646-776C5249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C78DD-9D07-FD85-1EF2-2EA2338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85AF6C42-AEF9-1AF9-9AE5-7C325F428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3B0CEB9-8C9B-7D17-0D78-07CD69EC9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B478D-701B-5CAE-27DF-457C7362A934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9EA6C0-231A-849B-18DA-BC154CAA6BE3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3457CF7-CDFF-C292-F5DB-56831661A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96" y="3614243"/>
            <a:ext cx="7772400" cy="280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1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Student { </a:t>
            </a:r>
          </a:p>
          <a:p>
            <a:r>
              <a:rPr lang="en-US" dirty="0"/>
              <a:t>	// ... Fields and </a:t>
            </a:r>
            <a:r>
              <a:rPr lang="en-US" dirty="0" err="1"/>
              <a:t>methodss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jedis;</a:t>
            </a:r>
          </a:p>
          <a:p>
            <a:r>
              <a:rPr lang="en-US" dirty="0"/>
              <a:t>		</a:t>
            </a:r>
          </a:p>
          <a:p>
            <a:r>
              <a:rPr lang="en-US" dirty="0"/>
              <a:t>	</a:t>
            </a:r>
            <a:r>
              <a:rPr lang="en-US" dirty="0" err="1"/>
              <a:t>RedisDB</a:t>
            </a:r>
            <a:r>
              <a:rPr lang="en-US" dirty="0"/>
              <a:t>() { jedis = ...;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Student objects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classes for social media platform</a:t>
            </a:r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wrote the persistence code once, why should I have to write it again?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dirty="0"/>
              <a:t>… what can we do with these objects of type Class, Method, Field, </a:t>
            </a:r>
            <a:r>
              <a:rPr lang="en-US" dirty="0" err="1"/>
              <a:t>etc</a:t>
            </a:r>
            <a:r>
              <a:rPr lang="en-US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 methods in an object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168564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38582" y="3423026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843223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“Tapti”, “Welcome to ECS 160”,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           Class c = </a:t>
            </a:r>
            <a:r>
              <a:rPr lang="en-US" dirty="0" err="1"/>
              <a:t>obj.getClass</a:t>
            </a:r>
            <a:r>
              <a:rPr lang="en-US"/>
              <a:t>();</a:t>
            </a:r>
            <a:endParaRPr lang="en-US" dirty="0"/>
          </a:p>
          <a:p>
            <a:r>
              <a:rPr lang="en-US" dirty="0"/>
              <a:t>		for (Field f: </a:t>
            </a:r>
            <a:r>
              <a:rPr lang="en-US" b="1" dirty="0" err="1"/>
              <a:t>c.getDeclaredFields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1"/>
              <a:ext cx="1054204" cy="846481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persist(Post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persist(User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B792BCD-5733-5275-74C5-3B31296527F5}"/>
              </a:ext>
            </a:extLst>
          </p:cNvPr>
          <p:cNvSpPr/>
          <p:nvPr/>
        </p:nvSpPr>
        <p:spPr>
          <a:xfrm>
            <a:off x="7337779" y="2499303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8C4BA3-4FD2-7446-D56F-BBE91B9A43F4}"/>
              </a:ext>
            </a:extLst>
          </p:cNvPr>
          <p:cNvSpPr/>
          <p:nvPr/>
        </p:nvSpPr>
        <p:spPr>
          <a:xfrm>
            <a:off x="7362357" y="3703974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/>
              <a:t>extends SQL{</a:t>
            </a:r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 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10904485" y="1406076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 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698090-DD4A-36CB-D11B-4549E573E9D0}"/>
              </a:ext>
            </a:extLst>
          </p:cNvPr>
          <p:cNvSpPr/>
          <p:nvPr/>
        </p:nvSpPr>
        <p:spPr>
          <a:xfrm>
            <a:off x="1338550" y="4268141"/>
            <a:ext cx="3306106" cy="4616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24CC6-CF51-0B6C-B58A-E766098027D7}"/>
              </a:ext>
            </a:extLst>
          </p:cNvPr>
          <p:cNvSpPr txBox="1"/>
          <p:nvPr/>
        </p:nvSpPr>
        <p:spPr>
          <a:xfrm>
            <a:off x="3233949" y="4867358"/>
            <a:ext cx="32012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Return a dynamic proxy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18" grpId="0"/>
      <p:bldP spid="18" grpId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b="1" dirty="0"/>
              <a:t>		// Logic to lazy load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4" y="3722021"/>
            <a:ext cx="5813885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3774036" y="4699403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18929</TotalTime>
  <Words>14575</Words>
  <Application>Microsoft Macintosh PowerPoint</Application>
  <PresentationFormat>Widescreen</PresentationFormat>
  <Paragraphs>2422</Paragraphs>
  <Slides>148</Slides>
  <Notes>65</Notes>
  <HiddenSlides>44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5" baseType="lpstr">
      <vt:lpstr>Arial</vt:lpstr>
      <vt:lpstr>Calibri</vt:lpstr>
      <vt:lpstr>Consolas</vt:lpstr>
      <vt:lpstr>Courier New</vt:lpstr>
      <vt:lpstr>Helvetica</vt:lpstr>
      <vt:lpstr>ui-monospace</vt:lpstr>
      <vt:lpstr>Preso 2022 Watertower Stats</vt:lpstr>
      <vt:lpstr>PowerPoint Presentation</vt:lpstr>
      <vt:lpstr>Next few topics</vt:lpstr>
      <vt:lpstr>Use case: saving records in Redis</vt:lpstr>
      <vt:lpstr>Use case: saving records in Redis</vt:lpstr>
      <vt:lpstr>Use case: saving records in Redis</vt:lpstr>
      <vt:lpstr>Use case: Redis persistence from HW1</vt:lpstr>
      <vt:lpstr>Use case: Redis persistence from HW1</vt:lpstr>
      <vt:lpstr>Potential design</vt:lpstr>
      <vt:lpstr>Goal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Reflection and metaprogramming</vt:lpstr>
      <vt:lpstr>Key classes</vt:lpstr>
      <vt:lpstr>Reflection recap</vt:lpstr>
      <vt:lpstr>Reflection recap</vt:lpstr>
      <vt:lpstr>Why reflection?</vt:lpstr>
      <vt:lpstr>Possible alternatives</vt:lpstr>
      <vt:lpstr>Possible alternatives</vt:lpstr>
      <vt:lpstr>Possible alternatives</vt:lpstr>
      <vt:lpstr>Possible alternatives</vt:lpstr>
      <vt:lpstr>Why reflection?</vt:lpstr>
      <vt:lpstr>Reflection recap</vt:lpstr>
      <vt:lpstr>Loading all classes</vt:lpstr>
      <vt:lpstr>Discussion: design problem</vt:lpstr>
      <vt:lpstr>Discussion: 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Reflection alternatives and optimizations</vt:lpstr>
      <vt:lpstr>Reflection alternatives and optimizations</vt:lpstr>
      <vt:lpstr>Bytecode instrumentation</vt:lpstr>
      <vt:lpstr>Runtime bytecode generation and manipulation</vt:lpstr>
      <vt:lpstr>Bytecode instrumentation</vt:lpstr>
      <vt:lpstr>Runtime bytecode generation and manipulation</vt:lpstr>
      <vt:lpstr>Reflection in JavaScript [Not in Syllabus]</vt:lpstr>
      <vt:lpstr>Background: super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</vt:lpstr>
      <vt:lpstr>Proxying using Javassist</vt:lpstr>
      <vt:lpstr>Proxying using Javassist</vt:lpstr>
      <vt:lpstr>Complete solution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1629</cp:revision>
  <dcterms:created xsi:type="dcterms:W3CDTF">2019-06-30T03:25:06Z</dcterms:created>
  <dcterms:modified xsi:type="dcterms:W3CDTF">2026-10-14T01:09:13Z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