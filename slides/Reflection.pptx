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E8_2DBB55C8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7"/>
  </p:notesMasterIdLst>
  <p:handoutMasterIdLst>
    <p:handoutMasterId r:id="rId178"/>
  </p:handoutMasterIdLst>
  <p:sldIdLst>
    <p:sldId id="256" r:id="rId2"/>
    <p:sldId id="488" r:id="rId3"/>
    <p:sldId id="279" r:id="rId4"/>
    <p:sldId id="277" r:id="rId5"/>
    <p:sldId id="489" r:id="rId6"/>
    <p:sldId id="490" r:id="rId7"/>
    <p:sldId id="491" r:id="rId8"/>
    <p:sldId id="492" r:id="rId9"/>
    <p:sldId id="278" r:id="rId10"/>
    <p:sldId id="282" r:id="rId11"/>
    <p:sldId id="283" r:id="rId12"/>
    <p:sldId id="443" r:id="rId13"/>
    <p:sldId id="330" r:id="rId14"/>
    <p:sldId id="291" r:id="rId15"/>
    <p:sldId id="265" r:id="rId16"/>
    <p:sldId id="442" r:id="rId17"/>
    <p:sldId id="289" r:id="rId18"/>
    <p:sldId id="266" r:id="rId19"/>
    <p:sldId id="440" r:id="rId20"/>
    <p:sldId id="439" r:id="rId21"/>
    <p:sldId id="441" r:id="rId22"/>
    <p:sldId id="267" r:id="rId23"/>
    <p:sldId id="285" r:id="rId24"/>
    <p:sldId id="287" r:id="rId25"/>
    <p:sldId id="290" r:id="rId26"/>
    <p:sldId id="324" r:id="rId27"/>
    <p:sldId id="325" r:id="rId28"/>
    <p:sldId id="451" r:id="rId29"/>
    <p:sldId id="453" r:id="rId30"/>
    <p:sldId id="444" r:id="rId31"/>
    <p:sldId id="449" r:id="rId32"/>
    <p:sldId id="327" r:id="rId33"/>
    <p:sldId id="341" r:id="rId34"/>
    <p:sldId id="454" r:id="rId35"/>
    <p:sldId id="328" r:id="rId36"/>
    <p:sldId id="331" r:id="rId37"/>
    <p:sldId id="333" r:id="rId38"/>
    <p:sldId id="332" r:id="rId39"/>
    <p:sldId id="335" r:id="rId40"/>
    <p:sldId id="329" r:id="rId41"/>
    <p:sldId id="458" r:id="rId42"/>
    <p:sldId id="452" r:id="rId43"/>
    <p:sldId id="456" r:id="rId44"/>
    <p:sldId id="459" r:id="rId45"/>
    <p:sldId id="450" r:id="rId46"/>
    <p:sldId id="460" r:id="rId47"/>
    <p:sldId id="461" r:id="rId48"/>
    <p:sldId id="462" r:id="rId49"/>
    <p:sldId id="463" r:id="rId50"/>
    <p:sldId id="336" r:id="rId51"/>
    <p:sldId id="258" r:id="rId52"/>
    <p:sldId id="261" r:id="rId53"/>
    <p:sldId id="259" r:id="rId54"/>
    <p:sldId id="260" r:id="rId55"/>
    <p:sldId id="264" r:id="rId56"/>
    <p:sldId id="321" r:id="rId57"/>
    <p:sldId id="323" r:id="rId58"/>
    <p:sldId id="337" r:id="rId59"/>
    <p:sldId id="338" r:id="rId60"/>
    <p:sldId id="354" r:id="rId61"/>
    <p:sldId id="355" r:id="rId62"/>
    <p:sldId id="294" r:id="rId63"/>
    <p:sldId id="273" r:id="rId64"/>
    <p:sldId id="275" r:id="rId65"/>
    <p:sldId id="274" r:id="rId66"/>
    <p:sldId id="271" r:id="rId67"/>
    <p:sldId id="272" r:id="rId68"/>
    <p:sldId id="340" r:id="rId69"/>
    <p:sldId id="345" r:id="rId70"/>
    <p:sldId id="464" r:id="rId71"/>
    <p:sldId id="465" r:id="rId72"/>
    <p:sldId id="346" r:id="rId73"/>
    <p:sldId id="468" r:id="rId74"/>
    <p:sldId id="466" r:id="rId75"/>
    <p:sldId id="467" r:id="rId76"/>
    <p:sldId id="344" r:id="rId77"/>
    <p:sldId id="347" r:id="rId78"/>
    <p:sldId id="342" r:id="rId79"/>
    <p:sldId id="343" r:id="rId80"/>
    <p:sldId id="381" r:id="rId81"/>
    <p:sldId id="382" r:id="rId82"/>
    <p:sldId id="393" r:id="rId83"/>
    <p:sldId id="257" r:id="rId84"/>
    <p:sldId id="391" r:id="rId85"/>
    <p:sldId id="350" r:id="rId86"/>
    <p:sldId id="392" r:id="rId87"/>
    <p:sldId id="394" r:id="rId88"/>
    <p:sldId id="395" r:id="rId89"/>
    <p:sldId id="396" r:id="rId90"/>
    <p:sldId id="397" r:id="rId91"/>
    <p:sldId id="361" r:id="rId92"/>
    <p:sldId id="400" r:id="rId93"/>
    <p:sldId id="349" r:id="rId94"/>
    <p:sldId id="380" r:id="rId95"/>
    <p:sldId id="366" r:id="rId96"/>
    <p:sldId id="402" r:id="rId97"/>
    <p:sldId id="368" r:id="rId98"/>
    <p:sldId id="398" r:id="rId99"/>
    <p:sldId id="407" r:id="rId100"/>
    <p:sldId id="399" r:id="rId101"/>
    <p:sldId id="486" r:id="rId102"/>
    <p:sldId id="414" r:id="rId103"/>
    <p:sldId id="473" r:id="rId104"/>
    <p:sldId id="474" r:id="rId105"/>
    <p:sldId id="475" r:id="rId106"/>
    <p:sldId id="413" r:id="rId107"/>
    <p:sldId id="469" r:id="rId108"/>
    <p:sldId id="416" r:id="rId109"/>
    <p:sldId id="470" r:id="rId110"/>
    <p:sldId id="471" r:id="rId111"/>
    <p:sldId id="487" r:id="rId112"/>
    <p:sldId id="472" r:id="rId113"/>
    <p:sldId id="415" r:id="rId114"/>
    <p:sldId id="372" r:id="rId115"/>
    <p:sldId id="411" r:id="rId116"/>
    <p:sldId id="412" r:id="rId117"/>
    <p:sldId id="410" r:id="rId118"/>
    <p:sldId id="417" r:id="rId119"/>
    <p:sldId id="418" r:id="rId120"/>
    <p:sldId id="419" r:id="rId121"/>
    <p:sldId id="420" r:id="rId122"/>
    <p:sldId id="421" r:id="rId123"/>
    <p:sldId id="422" r:id="rId124"/>
    <p:sldId id="423" r:id="rId125"/>
    <p:sldId id="424" r:id="rId126"/>
    <p:sldId id="478" r:id="rId127"/>
    <p:sldId id="479" r:id="rId128"/>
    <p:sldId id="484" r:id="rId129"/>
    <p:sldId id="480" r:id="rId130"/>
    <p:sldId id="476" r:id="rId131"/>
    <p:sldId id="477" r:id="rId132"/>
    <p:sldId id="427" r:id="rId133"/>
    <p:sldId id="405" r:id="rId134"/>
    <p:sldId id="430" r:id="rId135"/>
    <p:sldId id="481" r:id="rId136"/>
    <p:sldId id="482" r:id="rId137"/>
    <p:sldId id="429" r:id="rId138"/>
    <p:sldId id="401" r:id="rId139"/>
    <p:sldId id="378" r:id="rId140"/>
    <p:sldId id="432" r:id="rId141"/>
    <p:sldId id="262" r:id="rId142"/>
    <p:sldId id="433" r:id="rId143"/>
    <p:sldId id="270" r:id="rId144"/>
    <p:sldId id="434" r:id="rId145"/>
    <p:sldId id="435" r:id="rId146"/>
    <p:sldId id="436" r:id="rId147"/>
    <p:sldId id="431" r:id="rId148"/>
    <p:sldId id="485" r:id="rId149"/>
    <p:sldId id="263" r:id="rId150"/>
    <p:sldId id="408" r:id="rId151"/>
    <p:sldId id="409" r:id="rId152"/>
    <p:sldId id="376" r:id="rId153"/>
    <p:sldId id="483" r:id="rId154"/>
    <p:sldId id="403" r:id="rId155"/>
    <p:sldId id="404" r:id="rId156"/>
    <p:sldId id="406" r:id="rId157"/>
    <p:sldId id="377" r:id="rId158"/>
    <p:sldId id="348" r:id="rId159"/>
    <p:sldId id="364" r:id="rId160"/>
    <p:sldId id="369" r:id="rId161"/>
    <p:sldId id="365" r:id="rId162"/>
    <p:sldId id="373" r:id="rId163"/>
    <p:sldId id="374" r:id="rId164"/>
    <p:sldId id="375" r:id="rId165"/>
    <p:sldId id="316" r:id="rId166"/>
    <p:sldId id="317" r:id="rId167"/>
    <p:sldId id="318" r:id="rId168"/>
    <p:sldId id="437" r:id="rId169"/>
    <p:sldId id="320" r:id="rId170"/>
    <p:sldId id="352" r:id="rId171"/>
    <p:sldId id="353" r:id="rId172"/>
    <p:sldId id="357" r:id="rId173"/>
    <p:sldId id="358" r:id="rId174"/>
    <p:sldId id="359" r:id="rId175"/>
    <p:sldId id="360" r:id="rId176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36" autoAdjust="0"/>
    <p:restoredTop sz="77440" autoAdjust="0"/>
  </p:normalViewPr>
  <p:slideViewPr>
    <p:cSldViewPr snapToGrid="0">
      <p:cViewPr varScale="1">
        <p:scale>
          <a:sx n="105" d="100"/>
          <a:sy n="105" d="100"/>
        </p:scale>
        <p:origin x="1680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theme" Target="theme/theme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tableStyles" Target="tableStyles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microsoft.com/office/2015/10/relationships/revisionInfo" Target="revisionInfo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viewProps" Target="viewProp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omments/modernComment_1E8_2DBB55C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B93409E-9A2C-4120-B25F-79E2BBB07454}" authorId="{D1E25939-87C3-F195-CD78-1C83D60CD0CB}" created="2025-12-20T22:24:36.764">
    <pc:sldMkLst xmlns:pc="http://schemas.microsoft.com/office/powerpoint/2013/main/command">
      <pc:docMk/>
      <pc:sldMk cId="767251912" sldId="488"/>
    </pc:sldMkLst>
    <p188:txBody>
      <a:bodyPr/>
      <a:lstStyle/>
      <a:p>
        <a:r>
          <a:rPr lang="en-US"/>
          <a:t>Add motivation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849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0BE7-17DC-925A-80F2-54127094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ECD07-EEA9-C801-80C0-D00A9A888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AF47D-28D5-CEFC-76F1-1FF79E064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387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B97E1-E558-A4DA-B3EC-DF2D537A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214C4-E37C-A094-ADC5-0DA45F0ED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BB1CD-BF1C-EEDD-5F7D-33E9FE9E8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368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8096-8FC8-CB5D-9424-2AACCA03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6F485-BB03-E965-2C08-F4C867CDE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771D5-97D4-7DFE-F893-D30898EEE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003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E5EA-FA67-3321-74F7-34A015115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16583-CC53-84C2-E746-1CF7997E1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8E003-BAB8-7766-841D-6BDD4B5A8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919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29,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29,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29,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29,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September 29,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E8_2DBB55C8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eg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2E57D1-66D5-7040-B183-16BDE7998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FA4FEB-38C4-ECC7-72CB-EB7366555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reflection?</a:t>
            </a:r>
          </a:p>
        </p:txBody>
      </p:sp>
    </p:spTree>
    <p:extLst>
      <p:ext uri="{BB962C8B-B14F-4D97-AF65-F5344CB8AC3E}">
        <p14:creationId xmlns:p14="http://schemas.microsoft.com/office/powerpoint/2010/main" val="7672519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1A5167E0-722C-9149-46B0-EC7BD017E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4426B4-97C5-A4E4-EFFC-DC4B55BB355D}"/>
              </a:ext>
            </a:extLst>
          </p:cNvPr>
          <p:cNvSpPr txBox="1"/>
          <p:nvPr/>
        </p:nvSpPr>
        <p:spPr>
          <a:xfrm>
            <a:off x="4277399" y="2803682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user:100 "Alice"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B32E07A-346A-0C7F-1158-3B356BAB2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39BC46-B30A-BD68-6A9D-6D4D8018130D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A32CA01-255B-5B1B-C70A-E344C915B913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259AE-F8AA-84BF-62EC-945499F3452E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4AE3F3-539A-F4BD-8FDA-81474E3FF69C}"/>
              </a:ext>
            </a:extLst>
          </p:cNvPr>
          <p:cNvSpPr/>
          <p:nvPr/>
        </p:nvSpPr>
        <p:spPr>
          <a:xfrm>
            <a:off x="6088380" y="2758457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6A7BE9-C49E-D635-937A-F36E3E52D6DA}"/>
              </a:ext>
            </a:extLst>
          </p:cNvPr>
          <p:cNvSpPr txBox="1"/>
          <p:nvPr/>
        </p:nvSpPr>
        <p:spPr>
          <a:xfrm>
            <a:off x="6303835" y="2352311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2" animBg="1"/>
      <p:bldP spid="10" grpId="3" animBg="1"/>
      <p:bldP spid="11" grpId="0"/>
      <p:bldP spid="11" grpId="1"/>
      <p:bldP spid="12" grpId="0" animBg="1"/>
      <p:bldP spid="12" grpId="1" animBg="1"/>
      <p:bldP spid="13" grpId="0"/>
      <p:bldP spid="13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855C-55C2-A151-EAAC-55C8841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25929-F3A6-F468-606B-2E5D3131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F7D047-8AC6-D162-8862-124F56EE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BB3F4DE3-F885-51BA-B797-81041BE1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FB462-C9B8-C526-4E04-11226B326A1B}"/>
              </a:ext>
            </a:extLst>
          </p:cNvPr>
          <p:cNvSpPr txBox="1"/>
          <p:nvPr/>
        </p:nvSpPr>
        <p:spPr>
          <a:xfrm>
            <a:off x="4277399" y="2803682"/>
            <a:ext cx="1842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GET user:100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CFD5E92F-2214-3B78-1A57-285473C7D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8290C21-4801-8BD9-AFC8-0864EFC38340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E6EAA5D-BD62-CD05-E87C-383A6CD5148D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51F3CA-6CA8-8978-EFA3-72DD1818CFAB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</p:spTree>
    <p:extLst>
      <p:ext uri="{BB962C8B-B14F-4D97-AF65-F5344CB8AC3E}">
        <p14:creationId xmlns:p14="http://schemas.microsoft.com/office/powerpoint/2010/main" val="93583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44E1-4E64-F683-3F76-787974E4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86252B-5BEB-4F15-53B5-F0F3B8040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252B76-A017-46E3-B20A-D698C642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FD37A63-63E8-1698-DD93-6FD7552BF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F87BD-92BA-D25C-0294-11075D5376BA}"/>
              </a:ext>
            </a:extLst>
          </p:cNvPr>
          <p:cNvSpPr txBox="1"/>
          <p:nvPr/>
        </p:nvSpPr>
        <p:spPr>
          <a:xfrm>
            <a:off x="4973066" y="2789051"/>
            <a:ext cx="93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Alice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E5868EE4-EA5A-4262-8043-3B20705A9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79F776-FCA8-4039-EB60-9B0EF568EBF6}"/>
              </a:ext>
            </a:extLst>
          </p:cNvPr>
          <p:cNvCxnSpPr>
            <a:cxnSpLocks/>
            <a:stCxn id="2" idx="1"/>
            <a:endCxn id="1026" idx="3"/>
          </p:cNvCxnSpPr>
          <p:nvPr/>
        </p:nvCxnSpPr>
        <p:spPr>
          <a:xfrm flipH="1"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2025574-B783-6D9C-7251-6C02BD3A236C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5FF8FC-3885-4EEF-09DC-A11994F9CB4B}"/>
              </a:ext>
            </a:extLst>
          </p:cNvPr>
          <p:cNvSpPr txBox="1"/>
          <p:nvPr/>
        </p:nvSpPr>
        <p:spPr>
          <a:xfrm>
            <a:off x="4973066" y="2369435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408421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C74A-6FD8-306B-2C85-E3161BF5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FBCCA-0129-1A64-CCAD-AF04FA2D3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2089B7-F2E6-B402-0653-6333C84D9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CE026F9-B3C2-111F-CFAC-4F0A4E3D6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1176D065-8057-0CB9-F7D0-ED5BC6AC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BC5B56-FF5B-1A64-113E-5A77CFC53619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95D12A-D607-986D-B7A7-7ADBD7E66732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098" name="Picture 2" descr="How to Install and Run Redis Server on Ubuntu 24.04 or 22.04 Linux -  LinuxShout">
            <a:extLst>
              <a:ext uri="{FF2B5EF4-FFF2-40B4-BE49-F238E27FC236}">
                <a16:creationId xmlns:a16="http://schemas.microsoft.com/office/drawing/2014/main" id="{66329A11-16EA-4DA9-105F-49E94C090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270" y="3864394"/>
            <a:ext cx="6536436" cy="2757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454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4B67-9018-4DC6-7C4E-D41B5E0E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F92163-A5FB-AD11-1646-776C5249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FC78DD-9D07-FD85-1EF2-2EA2338C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85AF6C42-AEF9-1AF9-9AE5-7C325F428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3B0CEB9-8C9B-7D17-0D78-07CD69EC9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B478D-701B-5CAE-27DF-457C7362A934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9EA6C0-231A-849B-18DA-BC154CAA6BE3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3457CF7-CDFF-C292-F5DB-56831661A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696" y="3614243"/>
            <a:ext cx="7772400" cy="280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51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(final thoughts)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  <a:p>
            <a:pPr lvl="1"/>
            <a:r>
              <a:rPr lang="en-US" dirty="0"/>
              <a:t>Lazy-loading</a:t>
            </a:r>
          </a:p>
          <a:p>
            <a:pPr lvl="1"/>
            <a:r>
              <a:rPr lang="en-US" dirty="0"/>
              <a:t>Mock-testing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522F5-D582-2078-7F84-3E499CCD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919D0B-98CD-2A27-8F17-3D15B023D52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1AB453-F602-A19F-391C-DB15593D3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41E82567-130A-B2F1-D1C9-C5162EC2EDC6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F58648-06CD-B430-E44E-9C32EC9C6D9B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01A9DD-8129-5798-C21C-B02F8A83F4CE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E260C1-7386-CD52-91DF-3C45BB1F35D2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F726DB-538B-8EA6-F16A-6DEF0AF8FA86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AB4F8-10D2-0DAC-0E17-2D6D4D1A80DD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9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70AF09-587F-D678-94B4-8D392D63C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in Java</a:t>
            </a:r>
          </a:p>
          <a:p>
            <a:pPr lvl="1"/>
            <a:r>
              <a:rPr lang="en-US" dirty="0"/>
              <a:t>Recap</a:t>
            </a:r>
          </a:p>
          <a:p>
            <a:pPr lvl="1"/>
            <a:r>
              <a:rPr lang="en-US" dirty="0"/>
              <a:t>Demo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Lazy loading</a:t>
            </a:r>
          </a:p>
          <a:p>
            <a:pPr lvl="2"/>
            <a:r>
              <a:rPr lang="en-US" dirty="0"/>
              <a:t>Mock testing</a:t>
            </a:r>
          </a:p>
          <a:p>
            <a:r>
              <a:rPr lang="en-US" dirty="0"/>
              <a:t>Software architecture</a:t>
            </a:r>
          </a:p>
          <a:p>
            <a:r>
              <a:rPr lang="en-US" dirty="0"/>
              <a:t>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5BAF34-0591-8AA5-E155-B1880F9C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07C56E-5D96-53EB-DAE3-066C826CAD36}"/>
              </a:ext>
            </a:extLst>
          </p:cNvPr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106160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5EA87BB-C102-D254-1BD3-807C8283F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HW1 submission</a:t>
            </a:r>
          </a:p>
          <a:p>
            <a:pPr lvl="1"/>
            <a:r>
              <a:rPr lang="en-US" dirty="0"/>
              <a:t>On Canvas – HW will be created when Canvas comes up</a:t>
            </a:r>
          </a:p>
          <a:p>
            <a:r>
              <a:rPr lang="en-US" dirty="0"/>
              <a:t>Submission instructions (added to handout)</a:t>
            </a:r>
          </a:p>
          <a:p>
            <a:pPr lvl="1"/>
            <a:r>
              <a:rPr lang="en-US" dirty="0"/>
              <a:t>Make sure you don't have any private keys hardcoded in the code. You will lose points if we find that!</a:t>
            </a:r>
          </a:p>
          <a:p>
            <a:pPr lvl="1"/>
            <a:r>
              <a:rPr lang="en-US" dirty="0"/>
              <a:t>Please add a README.md file to your repository that explicitly specifies any assumptions you have made, beyond what the assignment already specifies. </a:t>
            </a:r>
          </a:p>
          <a:p>
            <a:pPr lvl="2"/>
            <a:r>
              <a:rPr lang="en-US" dirty="0"/>
              <a:t>This README.md should also explain how to set up the GITHUB API key.</a:t>
            </a:r>
          </a:p>
          <a:p>
            <a:pPr lvl="1"/>
            <a:r>
              <a:rPr lang="en-US" dirty="0"/>
              <a:t>Make sure your solution runs if we execute the command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&amp;&amp;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exec:java</a:t>
            </a:r>
            <a:r>
              <a:rPr lang="en-US" dirty="0"/>
              <a:t>. (We will have Redis server running already)</a:t>
            </a:r>
          </a:p>
          <a:p>
            <a:pPr lvl="1"/>
            <a:r>
              <a:rPr lang="en-US" dirty="0"/>
              <a:t>Zip the contents of your repository. Do NOT include the repository/s you cloned as part of this homework.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024C7E-DCBB-56FC-EEC9-B8EC50C9F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56733913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61002D-A478-096E-48F7-CEE50FAC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Emails: Add ECS 160 to subject line</a:t>
            </a:r>
          </a:p>
          <a:p>
            <a:pPr lvl="1"/>
            <a:r>
              <a:rPr lang="en-US" dirty="0"/>
              <a:t>No need for High Priority, unless really High Priority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Only for 1-on-1 discussions</a:t>
            </a:r>
          </a:p>
          <a:p>
            <a:r>
              <a:rPr lang="en-US" dirty="0">
                <a:sym typeface="Wingdings" panose="05000000000000000000" pitchFamily="2" charset="2"/>
              </a:rPr>
              <a:t>Midterm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Everything including dynamic proxies + some software architecture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A3FB3-F3B9-8CA0-C859-6B78A90DE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9307820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20A5F2-01DD-D454-95B4-0E14B2CAE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allow you to create Proxy classes at runtime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any additional functionality</a:t>
            </a:r>
          </a:p>
          <a:p>
            <a:r>
              <a:rPr lang="en-US" dirty="0"/>
              <a:t>Needs bytecode instrumentation (using </a:t>
            </a:r>
            <a:r>
              <a:rPr lang="en-US" dirty="0" err="1"/>
              <a:t>JavaAssist</a:t>
            </a:r>
            <a:r>
              <a:rPr lang="en-US" dirty="0"/>
              <a:t>)</a:t>
            </a:r>
          </a:p>
          <a:p>
            <a:r>
              <a:rPr lang="en-US" dirty="0"/>
              <a:t>Imagine you have a method </a:t>
            </a:r>
            <a:r>
              <a:rPr lang="en-US" dirty="0">
                <a:latin typeface="Consolas" panose="020B0609020204030204" pitchFamily="49" charset="0"/>
              </a:rPr>
              <a:t>Object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(Object target)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Jedis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(student);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E07155-4FB5-F193-DA89-0F41E4FE0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</p:spTree>
    <p:extLst>
      <p:ext uri="{BB962C8B-B14F-4D97-AF65-F5344CB8AC3E}">
        <p14:creationId xmlns:p14="http://schemas.microsoft.com/office/powerpoint/2010/main" val="60206210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9794354" y="16201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</a:t>
            </a:r>
            <a:r>
              <a:rPr lang="en-US">
                <a:highlight>
                  <a:srgbClr val="FFFF00"/>
                </a:highlight>
              </a:rPr>
              <a:t>additional functionality;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8904-1EA7-B386-F174-EDEFA5E1E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4D36EF-A47F-1B09-5CC9-F34C9774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TargetClass</a:t>
            </a:r>
            <a:r>
              <a:rPr lang="en-US" sz="1200" dirty="0"/>
              <a:t> {</a:t>
            </a:r>
          </a:p>
          <a:p>
            <a:r>
              <a:rPr lang="en-US" sz="1200" dirty="0"/>
              <a:t>	// private fields</a:t>
            </a:r>
          </a:p>
          <a:p>
            <a:r>
              <a:rPr lang="en-US" sz="1200" dirty="0"/>
              <a:t>	// public methods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doThis</a:t>
            </a:r>
            <a:r>
              <a:rPr lang="en-US" sz="1200" dirty="0"/>
              <a:t>() { //… }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doThat</a:t>
            </a:r>
            <a:r>
              <a:rPr lang="en-US" sz="1200" dirty="0"/>
              <a:t>() { //… 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r>
              <a:rPr lang="en-US" sz="1200" dirty="0">
                <a:highlight>
                  <a:srgbClr val="B9B9FF"/>
                </a:highlight>
              </a:rPr>
              <a:t>class Proxy0 extends </a:t>
            </a:r>
            <a:r>
              <a:rPr lang="en-US" sz="1200" dirty="0" err="1">
                <a:highlight>
                  <a:srgbClr val="B9B9FF"/>
                </a:highlight>
              </a:rPr>
              <a:t>TargetClass</a:t>
            </a:r>
            <a:r>
              <a:rPr lang="en-US" sz="1200" dirty="0">
                <a:highlight>
                  <a:srgbClr val="B9B9FF"/>
                </a:highlight>
              </a:rPr>
              <a:t> implements </a:t>
            </a:r>
            <a:r>
              <a:rPr lang="en-US" sz="1200" dirty="0" err="1">
                <a:highlight>
                  <a:srgbClr val="B9B9FF"/>
                </a:highlight>
              </a:rPr>
              <a:t>javassist.util.proxy.Proxy</a:t>
            </a:r>
            <a:r>
              <a:rPr lang="en-US" sz="1200" dirty="0">
                <a:highlight>
                  <a:srgbClr val="B9B9FF"/>
                </a:highlight>
              </a:rPr>
              <a:t> </a:t>
            </a:r>
            <a:r>
              <a:rPr lang="en-US" sz="1200" dirty="0"/>
              <a:t>{</a:t>
            </a:r>
            <a:br>
              <a:rPr lang="en-US" sz="1200" dirty="0"/>
            </a:br>
            <a:r>
              <a:rPr lang="en-US" sz="1200" dirty="0"/>
              <a:t>	private </a:t>
            </a:r>
            <a:r>
              <a:rPr lang="en-US" sz="1200" dirty="0" err="1"/>
              <a:t>MethodHandler</a:t>
            </a:r>
            <a:r>
              <a:rPr lang="en-US" sz="1200" dirty="0"/>
              <a:t> handler;</a:t>
            </a:r>
            <a:br>
              <a:rPr lang="en-US" sz="1200" dirty="0"/>
            </a:br>
            <a:endParaRPr lang="en-US" sz="1200" dirty="0"/>
          </a:p>
          <a:p>
            <a:r>
              <a:rPr lang="en-US" sz="1200" dirty="0"/>
              <a:t>	Method </a:t>
            </a:r>
            <a:r>
              <a:rPr lang="en-US" sz="1200" dirty="0" err="1"/>
              <a:t>getSuperMethod</a:t>
            </a:r>
            <a:r>
              <a:rPr lang="en-US" sz="1200" dirty="0"/>
              <a:t>(String name) {// use reflection }</a:t>
            </a:r>
            <a:br>
              <a:rPr lang="en-US" sz="1200" dirty="0"/>
            </a:br>
            <a:r>
              <a:rPr lang="en-US" sz="1200" dirty="0"/>
              <a:t>	Method </a:t>
            </a:r>
            <a:r>
              <a:rPr lang="en-US" sz="1200" dirty="0" err="1"/>
              <a:t>getMethod</a:t>
            </a:r>
            <a:r>
              <a:rPr lang="en-US" sz="1200" dirty="0"/>
              <a:t>(String name) {// use reflection } 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r>
              <a:rPr lang="en-US" sz="1200" dirty="0">
                <a:highlight>
                  <a:srgbClr val="FFFF00"/>
                </a:highlight>
              </a:rPr>
              <a:t>public void 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	public void 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 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86B47D-BF78-BB61-B877-135E33B7D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… behind the scenes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726ED690-B035-2A63-DE3F-3388DA93566D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t = new </a:t>
            </a:r>
            <a:r>
              <a:rPr lang="en-US" dirty="0" err="1"/>
              <a:t>TargetClass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</a:t>
            </a:r>
            <a:r>
              <a:rPr lang="en-US" dirty="0" err="1"/>
              <a:t>proxyT</a:t>
            </a:r>
            <a:r>
              <a:rPr lang="en-US" dirty="0"/>
              <a:t> = (</a:t>
            </a:r>
            <a:r>
              <a:rPr lang="en-US" dirty="0" err="1"/>
              <a:t>TargetClass</a:t>
            </a:r>
            <a:r>
              <a:rPr lang="en-US" dirty="0"/>
              <a:t>) </a:t>
            </a:r>
            <a:r>
              <a:rPr lang="en-US" dirty="0" err="1"/>
              <a:t>createProxy</a:t>
            </a:r>
            <a:r>
              <a:rPr lang="en-US" dirty="0"/>
              <a:t>(t);</a:t>
            </a:r>
            <a:br>
              <a:rPr lang="en-US" dirty="0"/>
            </a:br>
            <a:r>
              <a:rPr lang="en-US" dirty="0" err="1"/>
              <a:t>proxyT.doThis</a:t>
            </a:r>
            <a:r>
              <a:rPr lang="en-US" dirty="0"/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32FAB-088C-DFDD-2660-7EA131188BBF}"/>
              </a:ext>
            </a:extLst>
          </p:cNvPr>
          <p:cNvSpPr txBox="1"/>
          <p:nvPr/>
        </p:nvSpPr>
        <p:spPr>
          <a:xfrm>
            <a:off x="6096000" y="5396964"/>
            <a:ext cx="5353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 err="1"/>
              <a:t>Javassist</a:t>
            </a:r>
            <a:r>
              <a:rPr lang="en-US" sz="2800" b="1" i="1" dirty="0"/>
              <a:t> runtime-generated class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DFE7A9-159E-8040-3BD7-4A4703618105}"/>
              </a:ext>
            </a:extLst>
          </p:cNvPr>
          <p:cNvGrpSpPr/>
          <p:nvPr/>
        </p:nvGrpSpPr>
        <p:grpSpPr>
          <a:xfrm>
            <a:off x="543099" y="1845763"/>
            <a:ext cx="9579469" cy="727297"/>
            <a:chOff x="543100" y="2206710"/>
            <a:chExt cx="9579469" cy="72729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48358A-3B34-A041-F408-10C431F8A960}"/>
                </a:ext>
              </a:extLst>
            </p:cNvPr>
            <p:cNvSpPr/>
            <p:nvPr/>
          </p:nvSpPr>
          <p:spPr>
            <a:xfrm>
              <a:off x="543100" y="2206710"/>
              <a:ext cx="5175911" cy="408154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9B36D2-9915-2C4B-E4DE-C024637DA9D4}"/>
                </a:ext>
              </a:extLst>
            </p:cNvPr>
            <p:cNvSpPr/>
            <p:nvPr/>
          </p:nvSpPr>
          <p:spPr>
            <a:xfrm>
              <a:off x="6176513" y="2410787"/>
              <a:ext cx="3946056" cy="52322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D7611D88-1292-2099-AEDE-DBE3C0DD30C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719011" y="2410787"/>
              <a:ext cx="457502" cy="261610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EB97D2-00D3-A497-E8A4-1B4DD3D0FB08}"/>
              </a:ext>
            </a:extLst>
          </p:cNvPr>
          <p:cNvGrpSpPr/>
          <p:nvPr/>
        </p:nvGrpSpPr>
        <p:grpSpPr>
          <a:xfrm>
            <a:off x="543099" y="3672381"/>
            <a:ext cx="10694395" cy="1622544"/>
            <a:chOff x="543100" y="845776"/>
            <a:chExt cx="10694395" cy="162254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323B84-AC58-9998-BF99-5234D093C9B9}"/>
                </a:ext>
              </a:extLst>
            </p:cNvPr>
            <p:cNvSpPr/>
            <p:nvPr/>
          </p:nvSpPr>
          <p:spPr>
            <a:xfrm>
              <a:off x="543100" y="2206710"/>
              <a:ext cx="5175911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BA817-D064-1AC7-1FEE-7A0B9EB55915}"/>
                </a:ext>
              </a:extLst>
            </p:cNvPr>
            <p:cNvSpPr/>
            <p:nvPr/>
          </p:nvSpPr>
          <p:spPr>
            <a:xfrm>
              <a:off x="6176512" y="845776"/>
              <a:ext cx="5060983" cy="87416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8E6B81EF-02A2-7C39-574D-766C56425689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5719011" y="1282861"/>
              <a:ext cx="457501" cy="1054654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4D71965-556C-B197-E2DD-E222E12E8B19}"/>
              </a:ext>
            </a:extLst>
          </p:cNvPr>
          <p:cNvGrpSpPr/>
          <p:nvPr/>
        </p:nvGrpSpPr>
        <p:grpSpPr>
          <a:xfrm>
            <a:off x="903763" y="3428999"/>
            <a:ext cx="10278587" cy="1067783"/>
            <a:chOff x="903763" y="3428999"/>
            <a:chExt cx="10278587" cy="10677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98E2600-18E4-0410-6EEE-3C33206DB0CE}"/>
                </a:ext>
              </a:extLst>
            </p:cNvPr>
            <p:cNvSpPr/>
            <p:nvPr/>
          </p:nvSpPr>
          <p:spPr>
            <a:xfrm>
              <a:off x="7073900" y="3931141"/>
              <a:ext cx="4108450" cy="24080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A4583D6-32E1-F860-FC59-32D526A0461E}"/>
                </a:ext>
              </a:extLst>
            </p:cNvPr>
            <p:cNvSpPr/>
            <p:nvPr/>
          </p:nvSpPr>
          <p:spPr>
            <a:xfrm>
              <a:off x="903763" y="3428999"/>
              <a:ext cx="3744437" cy="1067783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705D260E-2EB9-8788-D3AE-865D4D2C14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rot="10800000">
              <a:off x="4648200" y="3931144"/>
              <a:ext cx="2425700" cy="12040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789BDF2-4634-BB7C-AF37-9134E4DCCCA5}"/>
              </a:ext>
            </a:extLst>
          </p:cNvPr>
          <p:cNvGrpSpPr/>
          <p:nvPr/>
        </p:nvGrpSpPr>
        <p:grpSpPr>
          <a:xfrm>
            <a:off x="1071315" y="1293227"/>
            <a:ext cx="9131765" cy="3096421"/>
            <a:chOff x="543101" y="-628101"/>
            <a:chExt cx="9131765" cy="309642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D81DD2C-E515-EC3C-5364-B933152F6429}"/>
                </a:ext>
              </a:extLst>
            </p:cNvPr>
            <p:cNvSpPr/>
            <p:nvPr/>
          </p:nvSpPr>
          <p:spPr>
            <a:xfrm>
              <a:off x="543101" y="2206710"/>
              <a:ext cx="3744438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BB3DA7-1F0C-905C-43D2-2BE16A7CB934}"/>
                </a:ext>
              </a:extLst>
            </p:cNvPr>
            <p:cNvSpPr/>
            <p:nvPr/>
          </p:nvSpPr>
          <p:spPr>
            <a:xfrm>
              <a:off x="5728810" y="-628101"/>
              <a:ext cx="3946056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7098EEFE-E6B6-EA1C-07DC-FE077FD0B6E0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 flipV="1">
              <a:off x="4287539" y="-497296"/>
              <a:ext cx="1441271" cy="283481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878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F2D32F-616D-77EE-99CC-3A74B3664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EBC5-14AD-AF99-98CC-E5A3155FF8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proxy use cases</a:t>
            </a:r>
          </a:p>
        </p:txBody>
      </p:sp>
    </p:spTree>
    <p:extLst>
      <p:ext uri="{BB962C8B-B14F-4D97-AF65-F5344CB8AC3E}">
        <p14:creationId xmlns:p14="http://schemas.microsoft.com/office/powerpoint/2010/main" val="22711926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8B45D7-2456-EA4B-BD50-C0409BF48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Lazy loading with dynamic proxies</a:t>
            </a:r>
          </a:p>
          <a:p>
            <a:r>
              <a:rPr lang="en-US" dirty="0"/>
              <a:t>Mock testing</a:t>
            </a:r>
          </a:p>
          <a:p>
            <a:r>
              <a:rPr lang="en-US" dirty="0"/>
              <a:t>Reflection, annotations, dynamic proxies – final thoughts</a:t>
            </a:r>
          </a:p>
          <a:p>
            <a:r>
              <a:rPr lang="en-US" dirty="0"/>
              <a:t>Software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BAF6A4-E4DB-31D6-185C-EFB5E438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21D508-0127-AB8E-20DA-885AE73A3CC0}"/>
              </a:ext>
            </a:extLst>
          </p:cNvPr>
          <p:cNvCxnSpPr/>
          <p:nvPr/>
        </p:nvCxnSpPr>
        <p:spPr>
          <a:xfrm>
            <a:off x="0" y="2867378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303319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3CB6E4-2584-AB7E-B7EA-84B42E2BA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Homework due tomorrow 11:59 PM</a:t>
            </a:r>
          </a:p>
          <a:p>
            <a:r>
              <a:rPr lang="en-US" dirty="0"/>
              <a:t>Canvas HW will be created soon</a:t>
            </a:r>
          </a:p>
          <a:p>
            <a:r>
              <a:rPr lang="en-US" dirty="0"/>
              <a:t>Quiz on Friday</a:t>
            </a:r>
          </a:p>
          <a:p>
            <a:pPr lvl="1"/>
            <a:r>
              <a:rPr lang="en-US" dirty="0"/>
              <a:t>10 minutes</a:t>
            </a:r>
          </a:p>
          <a:p>
            <a:pPr lvl="1"/>
            <a:r>
              <a:rPr lang="en-US" dirty="0"/>
              <a:t>Will cover reflective programming </a:t>
            </a:r>
          </a:p>
          <a:p>
            <a:pPr lvl="2"/>
            <a:r>
              <a:rPr lang="en-US" dirty="0"/>
              <a:t>Reflection, annotations, and proxies</a:t>
            </a:r>
          </a:p>
          <a:p>
            <a:pPr lvl="3"/>
            <a:r>
              <a:rPr lang="en-US"/>
              <a:t>Not </a:t>
            </a:r>
            <a:r>
              <a:rPr lang="en-US" dirty="0"/>
              <a:t>include lazy loading, mock testing</a:t>
            </a:r>
          </a:p>
          <a:p>
            <a:pPr lvl="1"/>
            <a:r>
              <a:rPr lang="en-US" dirty="0"/>
              <a:t>Will have MCQs and short answers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570FDD-9BEB-C655-EB6C-66CC053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3681600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</a:t>
            </a:r>
            <a:r>
              <a:rPr lang="en-US" i="1" dirty="0"/>
              <a:t>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// if </a:t>
            </a:r>
            <a:r>
              <a:rPr lang="en-US" dirty="0" err="1"/>
              <a:t>getReplies</a:t>
            </a:r>
            <a:r>
              <a:rPr lang="en-US" dirty="0"/>
              <a:t>() is invoked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5" y="3722021"/>
            <a:ext cx="5085574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2276423" y="4985726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15433</TotalTime>
  <Words>15678</Words>
  <Application>Microsoft Macintosh PowerPoint</Application>
  <PresentationFormat>Widescreen</PresentationFormat>
  <Paragraphs>2626</Paragraphs>
  <Slides>175</Slides>
  <Notes>68</Notes>
  <HiddenSlides>18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175</vt:i4>
      </vt:variant>
    </vt:vector>
  </HeadingPairs>
  <TitlesOfParts>
    <vt:vector size="183" baseType="lpstr">
      <vt:lpstr>Arial</vt:lpstr>
      <vt:lpstr>Calibri</vt:lpstr>
      <vt:lpstr>Consolas</vt:lpstr>
      <vt:lpstr>Courier New</vt:lpstr>
      <vt:lpstr>Helvetica</vt:lpstr>
      <vt:lpstr>ui-monospace</vt:lpstr>
      <vt:lpstr>Wingdings</vt:lpstr>
      <vt:lpstr>Preso 2022 Watertower Stats</vt:lpstr>
      <vt:lpstr>PowerPoint Presentation</vt:lpstr>
      <vt:lpstr>Why do we need reflection?</vt:lpstr>
      <vt:lpstr>Next few topics</vt:lpstr>
      <vt:lpstr>Use case: Redis persistence from HW1</vt:lpstr>
      <vt:lpstr>Use case: Redis persistence from HW1</vt:lpstr>
      <vt:lpstr>Use case: Redis persistence from HW1</vt:lpstr>
      <vt:lpstr>Use case: Redis persistence from HW1</vt:lpstr>
      <vt:lpstr>Use case: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Agenda</vt:lpstr>
      <vt:lpstr>Announcements</vt:lpstr>
      <vt:lpstr>Announcements</vt:lpstr>
      <vt:lpstr>Proxies: recap</vt:lpstr>
      <vt:lpstr>Proxies: recap</vt:lpstr>
      <vt:lpstr>Proxies: recap</vt:lpstr>
      <vt:lpstr>Proxies: recap</vt:lpstr>
      <vt:lpstr>Proxies: recap</vt:lpstr>
      <vt:lpstr>Javassist … behind the scenes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Agenda</vt:lpstr>
      <vt:lpstr>Announcements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1564</cp:revision>
  <dcterms:created xsi:type="dcterms:W3CDTF">2019-06-30T03:25:06Z</dcterms:created>
  <dcterms:modified xsi:type="dcterms:W3CDTF">2026-09-29T21:43:14Z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