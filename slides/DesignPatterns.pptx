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9"/>
  </p:notesMasterIdLst>
  <p:handoutMasterIdLst>
    <p:handoutMasterId r:id="rId140"/>
  </p:handoutMasterIdLst>
  <p:sldIdLst>
    <p:sldId id="1250" r:id="rId2"/>
    <p:sldId id="266" r:id="rId3"/>
    <p:sldId id="1244" r:id="rId4"/>
    <p:sldId id="326" r:id="rId5"/>
    <p:sldId id="1245" r:id="rId6"/>
    <p:sldId id="327" r:id="rId7"/>
    <p:sldId id="1246" r:id="rId8"/>
    <p:sldId id="1247" r:id="rId9"/>
    <p:sldId id="1248" r:id="rId10"/>
    <p:sldId id="1249" r:id="rId11"/>
    <p:sldId id="1252" r:id="rId12"/>
    <p:sldId id="1253" r:id="rId13"/>
    <p:sldId id="256" r:id="rId14"/>
    <p:sldId id="257" r:id="rId15"/>
    <p:sldId id="344" r:id="rId16"/>
    <p:sldId id="258" r:id="rId17"/>
    <p:sldId id="263" r:id="rId18"/>
    <p:sldId id="1256" r:id="rId19"/>
    <p:sldId id="338" r:id="rId20"/>
    <p:sldId id="264" r:id="rId21"/>
    <p:sldId id="1215" r:id="rId22"/>
    <p:sldId id="330" r:id="rId23"/>
    <p:sldId id="267" r:id="rId24"/>
    <p:sldId id="268" r:id="rId25"/>
    <p:sldId id="259" r:id="rId26"/>
    <p:sldId id="333" r:id="rId27"/>
    <p:sldId id="262" r:id="rId28"/>
    <p:sldId id="340" r:id="rId29"/>
    <p:sldId id="270" r:id="rId30"/>
    <p:sldId id="272" r:id="rId31"/>
    <p:sldId id="271" r:id="rId32"/>
    <p:sldId id="269" r:id="rId33"/>
    <p:sldId id="273" r:id="rId34"/>
    <p:sldId id="331" r:id="rId35"/>
    <p:sldId id="332" r:id="rId36"/>
    <p:sldId id="345" r:id="rId37"/>
    <p:sldId id="274" r:id="rId38"/>
    <p:sldId id="341" r:id="rId39"/>
    <p:sldId id="275" r:id="rId40"/>
    <p:sldId id="1263" r:id="rId41"/>
    <p:sldId id="335" r:id="rId42"/>
    <p:sldId id="276" r:id="rId43"/>
    <p:sldId id="334" r:id="rId44"/>
    <p:sldId id="277" r:id="rId45"/>
    <p:sldId id="339" r:id="rId46"/>
    <p:sldId id="336" r:id="rId47"/>
    <p:sldId id="1262" r:id="rId48"/>
    <p:sldId id="1266" r:id="rId49"/>
    <p:sldId id="1267" r:id="rId50"/>
    <p:sldId id="1258" r:id="rId51"/>
    <p:sldId id="1259" r:id="rId52"/>
    <p:sldId id="337" r:id="rId53"/>
    <p:sldId id="358" r:id="rId54"/>
    <p:sldId id="279" r:id="rId55"/>
    <p:sldId id="280" r:id="rId56"/>
    <p:sldId id="281" r:id="rId57"/>
    <p:sldId id="282" r:id="rId58"/>
    <p:sldId id="361" r:id="rId59"/>
    <p:sldId id="278" r:id="rId60"/>
    <p:sldId id="288" r:id="rId61"/>
    <p:sldId id="371" r:id="rId62"/>
    <p:sldId id="372" r:id="rId63"/>
    <p:sldId id="374" r:id="rId64"/>
    <p:sldId id="375" r:id="rId65"/>
    <p:sldId id="377" r:id="rId66"/>
    <p:sldId id="343" r:id="rId67"/>
    <p:sldId id="351" r:id="rId68"/>
    <p:sldId id="289" r:id="rId69"/>
    <p:sldId id="1218" r:id="rId70"/>
    <p:sldId id="292" r:id="rId71"/>
    <p:sldId id="293" r:id="rId72"/>
    <p:sldId id="294" r:id="rId73"/>
    <p:sldId id="355" r:id="rId74"/>
    <p:sldId id="368" r:id="rId75"/>
    <p:sldId id="350" r:id="rId76"/>
    <p:sldId id="352" r:id="rId77"/>
    <p:sldId id="353" r:id="rId78"/>
    <p:sldId id="354" r:id="rId79"/>
    <p:sldId id="295" r:id="rId80"/>
    <p:sldId id="385" r:id="rId81"/>
    <p:sldId id="296" r:id="rId82"/>
    <p:sldId id="364" r:id="rId83"/>
    <p:sldId id="298" r:id="rId84"/>
    <p:sldId id="297" r:id="rId85"/>
    <p:sldId id="383" r:id="rId86"/>
    <p:sldId id="299" r:id="rId87"/>
    <p:sldId id="300" r:id="rId88"/>
    <p:sldId id="301" r:id="rId89"/>
    <p:sldId id="302" r:id="rId90"/>
    <p:sldId id="365" r:id="rId91"/>
    <p:sldId id="367" r:id="rId92"/>
    <p:sldId id="305" r:id="rId93"/>
    <p:sldId id="306" r:id="rId94"/>
    <p:sldId id="307" r:id="rId95"/>
    <p:sldId id="308" r:id="rId96"/>
    <p:sldId id="303" r:id="rId97"/>
    <p:sldId id="309" r:id="rId98"/>
    <p:sldId id="366" r:id="rId99"/>
    <p:sldId id="311" r:id="rId100"/>
    <p:sldId id="312" r:id="rId101"/>
    <p:sldId id="313" r:id="rId102"/>
    <p:sldId id="1294" r:id="rId103"/>
    <p:sldId id="310" r:id="rId104"/>
    <p:sldId id="314" r:id="rId105"/>
    <p:sldId id="384" r:id="rId106"/>
    <p:sldId id="1275" r:id="rId107"/>
    <p:sldId id="1276" r:id="rId108"/>
    <p:sldId id="1295" r:id="rId109"/>
    <p:sldId id="386" r:id="rId110"/>
    <p:sldId id="387" r:id="rId111"/>
    <p:sldId id="388" r:id="rId112"/>
    <p:sldId id="1268" r:id="rId113"/>
    <p:sldId id="1235" r:id="rId114"/>
    <p:sldId id="1271" r:id="rId115"/>
    <p:sldId id="392" r:id="rId116"/>
    <p:sldId id="1272" r:id="rId117"/>
    <p:sldId id="1274" r:id="rId118"/>
    <p:sldId id="1292" r:id="rId119"/>
    <p:sldId id="1277" r:id="rId120"/>
    <p:sldId id="1278" r:id="rId121"/>
    <p:sldId id="1236" r:id="rId122"/>
    <p:sldId id="1279" r:id="rId123"/>
    <p:sldId id="1285" r:id="rId124"/>
    <p:sldId id="1286" r:id="rId125"/>
    <p:sldId id="1287" r:id="rId126"/>
    <p:sldId id="1288" r:id="rId127"/>
    <p:sldId id="1289" r:id="rId128"/>
    <p:sldId id="1290" r:id="rId129"/>
    <p:sldId id="1291" r:id="rId130"/>
    <p:sldId id="396" r:id="rId131"/>
    <p:sldId id="315" r:id="rId132"/>
    <p:sldId id="1293" r:id="rId133"/>
    <p:sldId id="400" r:id="rId134"/>
    <p:sldId id="1280" r:id="rId135"/>
    <p:sldId id="1283" r:id="rId136"/>
    <p:sldId id="1281" r:id="rId137"/>
    <p:sldId id="1282" r:id="rId138"/>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FFB3B3"/>
    <a:srgbClr val="E6E0EC"/>
    <a:srgbClr val="003399"/>
    <a:srgbClr val="FFFFFF"/>
    <a:srgbClr val="B9B9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50" autoAdjust="0"/>
    <p:restoredTop sz="77440" autoAdjust="0"/>
  </p:normalViewPr>
  <p:slideViewPr>
    <p:cSldViewPr snapToGrid="0">
      <p:cViewPr varScale="1">
        <p:scale>
          <a:sx n="105" d="100"/>
          <a:sy n="105" d="100"/>
        </p:scale>
        <p:origin x="1832" y="19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handoutMaster" Target="handoutMasters/handoutMaster1.xml"/><Relationship Id="rId14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14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8/10/relationships/authors" Targe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9/21/26</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9/21/26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Will have code … slow down?</a:t>
            </a:r>
          </a:p>
        </p:txBody>
      </p:sp>
    </p:spTree>
    <p:extLst>
      <p:ext uri="{BB962C8B-B14F-4D97-AF65-F5344CB8AC3E}">
        <p14:creationId xmlns:p14="http://schemas.microsoft.com/office/powerpoint/2010/main" val="25651689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1055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501066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Going back to our code</a:t>
            </a:r>
          </a:p>
          <a:p>
            <a:pPr marL="171450" indent="-171450">
              <a:buFontTx/>
              <a:buChar char="-"/>
            </a:pPr>
            <a:r>
              <a:rPr lang="en-US" dirty="0"/>
              <a:t>Do we want to prevent the instantiation of Vehicle?</a:t>
            </a:r>
          </a:p>
        </p:txBody>
      </p:sp>
    </p:spTree>
    <p:extLst>
      <p:ext uri="{BB962C8B-B14F-4D97-AF65-F5344CB8AC3E}">
        <p14:creationId xmlns:p14="http://schemas.microsoft.com/office/powerpoint/2010/main" val="563455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4695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3836161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781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do I mean? Let’s look at a bit of details</a:t>
            </a:r>
          </a:p>
        </p:txBody>
      </p:sp>
    </p:spTree>
    <p:extLst>
      <p:ext uri="{BB962C8B-B14F-4D97-AF65-F5344CB8AC3E}">
        <p14:creationId xmlns:p14="http://schemas.microsoft.com/office/powerpoint/2010/main" val="2524440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B6DBA-1E36-B006-40EC-9AC9DEF6FD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5A319-4AD5-3781-E894-8B7701F6B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C7BEA3-247C-EC48-01E7-EB6D2C49CE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325084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027A2-29C4-4F2E-9715-0F484BF67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DE9B10-E8F6-E25C-AA6D-30AD410A9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6C0511-63F1-9454-CA68-A04F22405209}"/>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31968943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BC0F1-463B-3B9E-8414-5E4933B94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167E9-21A1-1740-2DDE-126B12A38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AAF74-41A5-623B-83E0-227AD95F9E31}"/>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25004446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176242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A5951-DB51-4939-C07E-A63104A76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2A89F-2141-1132-6F52-5ACE00FC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CE477-0154-2615-866B-2EA7424940AA}"/>
              </a:ext>
            </a:extLst>
          </p:cNvPr>
          <p:cNvSpPr>
            <a:spLocks noGrp="1"/>
          </p:cNvSpPr>
          <p:nvPr>
            <p:ph type="body" idx="1"/>
          </p:nvPr>
        </p:nvSpPr>
        <p:spPr/>
        <p:txBody>
          <a:bodyPr/>
          <a:lstStyle/>
          <a:p>
            <a:r>
              <a:rPr lang="en-US" dirty="0"/>
              <a:t>- </a:t>
            </a:r>
            <a:r>
              <a:rPr lang="en-US"/>
              <a:t>Common design patterns</a:t>
            </a:r>
            <a:endParaRPr lang="en-US" dirty="0"/>
          </a:p>
        </p:txBody>
      </p:sp>
    </p:spTree>
    <p:extLst>
      <p:ext uri="{BB962C8B-B14F-4D97-AF65-F5344CB8AC3E}">
        <p14:creationId xmlns:p14="http://schemas.microsoft.com/office/powerpoint/2010/main" val="8442503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19038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r>
              <a:rPr lang="en-US" dirty="0"/>
              <a:t>- Typically use decorator pattern there are more than one decorator</a:t>
            </a:r>
          </a:p>
        </p:txBody>
      </p:sp>
    </p:spTree>
    <p:extLst>
      <p:ext uri="{BB962C8B-B14F-4D97-AF65-F5344CB8AC3E}">
        <p14:creationId xmlns:p14="http://schemas.microsoft.com/office/powerpoint/2010/main" val="33321138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9517574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1573192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251355829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252C4-1159-850A-F442-AD67E5BCF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CA33B4-D237-D100-3B8F-92174CE41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85DD37-9948-513D-85FD-A906B8E39F03}"/>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p:txBody>
      </p:sp>
    </p:spTree>
    <p:extLst>
      <p:ext uri="{BB962C8B-B14F-4D97-AF65-F5344CB8AC3E}">
        <p14:creationId xmlns:p14="http://schemas.microsoft.com/office/powerpoint/2010/main" val="90707640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992AB-5D1A-1BB1-2495-5D3080C1D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E9FE49-7BD5-C43C-1405-946422D95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AC1B4-4177-B324-E1A4-D8F411D3D08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8081329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C72DE-5D9D-FCCC-9D29-256744C6C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967D6-3515-F5AB-EE05-8A8D78F07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95B3B-C354-DF4D-2AB2-B36C595EB379}"/>
              </a:ext>
            </a:extLst>
          </p:cNvPr>
          <p:cNvSpPr>
            <a:spLocks noGrp="1"/>
          </p:cNvSpPr>
          <p:nvPr>
            <p:ph type="body" idx="1"/>
          </p:nvPr>
        </p:nvSpPr>
        <p:spPr/>
        <p:txBody>
          <a:bodyPr/>
          <a:lstStyle/>
          <a:p>
            <a:pPr marL="171450" indent="-171450">
              <a:buFontTx/>
              <a:buChar char="-"/>
            </a:pPr>
            <a:r>
              <a:rPr lang="en-US" dirty="0"/>
              <a:t>Not the complete story</a:t>
            </a:r>
          </a:p>
          <a:p>
            <a:pPr marL="171450" indent="-171450">
              <a:buFontTx/>
              <a:buChar char="-"/>
            </a:pPr>
            <a:r>
              <a:rPr lang="en-US" dirty="0"/>
              <a:t>Visitor is abstract</a:t>
            </a:r>
          </a:p>
          <a:p>
            <a:pPr marL="171450" indent="-171450">
              <a:buFontTx/>
              <a:buChar char="-"/>
            </a:pPr>
            <a:r>
              <a:rPr lang="en-US" dirty="0"/>
              <a:t>Haven’t yet provided implementation </a:t>
            </a:r>
          </a:p>
        </p:txBody>
      </p:sp>
    </p:spTree>
    <p:extLst>
      <p:ext uri="{BB962C8B-B14F-4D97-AF65-F5344CB8AC3E}">
        <p14:creationId xmlns:p14="http://schemas.microsoft.com/office/powerpoint/2010/main" val="13060499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Abstract visitor abstracts most of the visiting logic</a:t>
            </a:r>
          </a:p>
        </p:txBody>
      </p:sp>
    </p:spTree>
    <p:extLst>
      <p:ext uri="{BB962C8B-B14F-4D97-AF65-F5344CB8AC3E}">
        <p14:creationId xmlns:p14="http://schemas.microsoft.com/office/powerpoint/2010/main" val="24958580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CAE29-344C-CF9C-37AC-C7434DFC9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BDD967-1317-C08E-8DD6-8DC0940C3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06675-D88C-577F-53C6-43220BE7CE6C}"/>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237056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A3339-C866-F53F-66C5-7913DBEF7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C113A4-0BD9-2031-8D93-14B2735F5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53A703-A343-DC4F-E97C-8A9C714E777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6280280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B476F-C29C-19BF-8653-BB1E1E273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41BF7-DA41-7996-E15C-412082A320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431BCE-3D48-BB3C-A7B5-592C3FCB64D8}"/>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9946087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3C943-167C-2813-1AA1-8EDC5DA504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924A4-376C-9253-0AE8-1C60173D6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BCDB6-F44E-F8E9-ABC3-6F27218EF107}"/>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16422082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1E741-7E18-84C1-B5B4-0486E01CD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0108E-3751-AD94-792F-A7D9C8B4E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C76CE-2F76-F063-7EDF-62E82F0EDAA2}"/>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29068190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89D5-62EA-FEE8-B5F0-AC4489FA1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E09B2-1856-EB03-0B8B-386BEEFD4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CC1C2-1524-B13C-1C1D-8B6D98C960B4}"/>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8909316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E70C1-6885-FC58-2F7B-65CC3920B4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C7F34-7F27-F362-7F45-F9355E5BBA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8BEFA-6ED8-E337-F5D4-7097489B22A9}"/>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36768356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6AFFC-1711-B2F2-4080-E9E1D813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F71962-31F4-160D-618D-0CAA1CA86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4B437-FA15-5F3C-0490-E87EC41AE741}"/>
              </a:ext>
            </a:extLst>
          </p:cNvPr>
          <p:cNvSpPr>
            <a:spLocks noGrp="1"/>
          </p:cNvSpPr>
          <p:nvPr>
            <p:ph type="body" idx="1"/>
          </p:nvPr>
        </p:nvSpPr>
        <p:spPr/>
        <p:txBody>
          <a:bodyPr/>
          <a:lstStyle/>
          <a:p>
            <a:pPr marL="171450" indent="-171450">
              <a:buFontTx/>
              <a:buChar char="-"/>
            </a:pPr>
            <a:endParaRPr lang="en-US" dirty="0"/>
          </a:p>
        </p:txBody>
      </p:sp>
    </p:spTree>
    <p:extLst>
      <p:ext uri="{BB962C8B-B14F-4D97-AF65-F5344CB8AC3E}">
        <p14:creationId xmlns:p14="http://schemas.microsoft.com/office/powerpoint/2010/main" val="412452118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September 21, 2026</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panel-takeaway">
    <p:spTree>
      <p:nvGrpSpPr>
        <p:cNvPr id="1" name=""/>
        <p:cNvGrpSpPr/>
        <p:nvPr/>
      </p:nvGrpSpPr>
      <p:grpSpPr>
        <a:xfrm>
          <a:off x="0" y="0"/>
          <a:ext cx="0" cy="0"/>
          <a:chOff x="0" y="0"/>
          <a:chExt cx="0" cy="0"/>
        </a:xfrm>
      </p:grpSpPr>
      <p:sp>
        <p:nvSpPr>
          <p:cNvPr id="3" name="Content Placeholder 2"/>
          <p:cNvSpPr>
            <a:spLocks noGrp="1"/>
          </p:cNvSpPr>
          <p:nvPr>
            <p:ph idx="1"/>
          </p:nvPr>
        </p:nvSpPr>
        <p:spPr>
          <a:xfrm>
            <a:off x="360607" y="785004"/>
            <a:ext cx="11449319" cy="5046453"/>
          </a:xfrm>
        </p:spPr>
        <p:txBody>
          <a:bodyPr>
            <a:normAutofit/>
          </a:bodyPr>
          <a:lstStyle>
            <a:lvl1pPr>
              <a:defRPr sz="2800"/>
            </a:lvl1pPr>
            <a:lvl2pPr>
              <a:defRPr sz="2400"/>
            </a:lvl2pPr>
            <a:lvl3pPr>
              <a:defRPr sz="2000"/>
            </a:lvl3pPr>
            <a:lvl4pPr>
              <a:defRPr sz="1800"/>
            </a:lvl4pPr>
            <a:lvl5pPr>
              <a:defRPr sz="18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mj-lt"/>
                <a:cs typeface="Arial" panose="020B0604020202020204" pitchFamily="34" charset="0"/>
              </a:defRPr>
            </a:lvl1pPr>
          </a:lstStyle>
          <a:p>
            <a:r>
              <a:rPr lang="en-US"/>
              <a:t>Click to edit Master title style</a:t>
            </a:r>
          </a:p>
        </p:txBody>
      </p:sp>
      <p:sp>
        <p:nvSpPr>
          <p:cNvPr id="6" name="Slide Number Placeholder 5"/>
          <p:cNvSpPr>
            <a:spLocks noGrp="1"/>
          </p:cNvSpPr>
          <p:nvPr>
            <p:ph type="sldNum" sz="quarter" idx="12"/>
          </p:nvPr>
        </p:nvSpPr>
        <p:spPr>
          <a:xfrm>
            <a:off x="11360241" y="5466332"/>
            <a:ext cx="471152" cy="365125"/>
          </a:xfrm>
          <a:prstGeom prst="rect">
            <a:avLst/>
          </a:prstGeom>
        </p:spPr>
        <p:txBody>
          <a:bodyPr/>
          <a:lstStyle>
            <a:lvl1pPr>
              <a:defRPr>
                <a:solidFill>
                  <a:srgbClr val="C00000"/>
                </a:solidFill>
              </a:defRPr>
            </a:lvl1pPr>
          </a:lstStyle>
          <a:p>
            <a:fld id="{AFFE10B8-FF50-4557-9ED8-E3FFB0CBA088}" type="slidenum">
              <a:rPr lang="en-US" smtClean="0"/>
              <a:pPr/>
              <a:t>‹#›</a:t>
            </a:fld>
            <a:endParaRPr lang="en-US"/>
          </a:p>
        </p:txBody>
      </p:sp>
      <p:sp>
        <p:nvSpPr>
          <p:cNvPr id="5" name="Subtitle 2">
            <a:extLst>
              <a:ext uri="{FF2B5EF4-FFF2-40B4-BE49-F238E27FC236}">
                <a16:creationId xmlns:a16="http://schemas.microsoft.com/office/drawing/2014/main" id="{D6696F96-BE01-5647-CDCB-DE7A5BC74867}"/>
              </a:ext>
            </a:extLst>
          </p:cNvPr>
          <p:cNvSpPr>
            <a:spLocks noGrp="1"/>
          </p:cNvSpPr>
          <p:nvPr>
            <p:ph type="subTitle" idx="13" hasCustomPrompt="1"/>
          </p:nvPr>
        </p:nvSpPr>
        <p:spPr>
          <a:xfrm>
            <a:off x="360607" y="5951500"/>
            <a:ext cx="11470787" cy="435939"/>
          </a:xfrm>
          <a:noFill/>
        </p:spPr>
        <p:txBody>
          <a:bodyPr>
            <a:spAutoFit/>
          </a:bodyPr>
          <a:lstStyle>
            <a:lvl1pPr marL="0" indent="0" algn="ctr">
              <a:buNone/>
              <a:defRPr sz="2400" b="1" i="1">
                <a:solidFill>
                  <a:schemeClr val="tx1"/>
                </a:solidFill>
                <a:latin typeface="+mn-lt"/>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takeaway bullet</a:t>
            </a:r>
          </a:p>
        </p:txBody>
      </p:sp>
    </p:spTree>
    <p:extLst>
      <p:ext uri="{BB962C8B-B14F-4D97-AF65-F5344CB8AC3E}">
        <p14:creationId xmlns:p14="http://schemas.microsoft.com/office/powerpoint/2010/main" val="21007256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September 21, 2026</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 id="2147483692" r:id="rId7"/>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4721BA-5EF3-C305-13FF-9C9B4AE72C6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6D790A4-E045-8D6C-8CC5-43B5A71E2508}"/>
              </a:ext>
            </a:extLst>
          </p:cNvPr>
          <p:cNvSpPr>
            <a:spLocks noGrp="1"/>
          </p:cNvSpPr>
          <p:nvPr>
            <p:ph type="body" sz="quarter" idx="13"/>
          </p:nvPr>
        </p:nvSpPr>
        <p:spPr/>
        <p:txBody>
          <a:bodyPr/>
          <a:lstStyle/>
          <a:p>
            <a:r>
              <a:rPr lang="en-US" dirty="0"/>
              <a:t>Java + OO overview</a:t>
            </a:r>
          </a:p>
        </p:txBody>
      </p:sp>
    </p:spTree>
    <p:extLst>
      <p:ext uri="{BB962C8B-B14F-4D97-AF65-F5344CB8AC3E}">
        <p14:creationId xmlns:p14="http://schemas.microsoft.com/office/powerpoint/2010/main" val="33748439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621BA15-C3D0-E790-7EB0-F28B2BB8A297}"/>
              </a:ext>
            </a:extLst>
          </p:cNvPr>
          <p:cNvSpPr>
            <a:spLocks noGrp="1"/>
          </p:cNvSpPr>
          <p:nvPr>
            <p:ph idx="1"/>
          </p:nvPr>
        </p:nvSpPr>
        <p:spPr/>
        <p:txBody>
          <a:bodyPr/>
          <a:lstStyle/>
          <a:p>
            <a:r>
              <a:rPr lang="en-US" sz="1400" dirty="0">
                <a:cs typeface="Arial" panose="020B0604020202020204" pitchFamily="34" charset="0"/>
              </a:rPr>
              <a:t>public class Car {</a:t>
            </a:r>
          </a:p>
          <a:p>
            <a:r>
              <a:rPr lang="en-US" sz="1400" dirty="0">
                <a:cs typeface="Arial" panose="020B0604020202020204" pitchFamily="34" charset="0"/>
              </a:rPr>
              <a:t>    private String model;</a:t>
            </a:r>
          </a:p>
          <a:p>
            <a:r>
              <a:rPr lang="en-US" sz="1400" dirty="0">
                <a:cs typeface="Arial" panose="020B0604020202020204" pitchFamily="34" charset="0"/>
              </a:rPr>
              <a:t>    private int year;</a:t>
            </a:r>
          </a:p>
          <a:p>
            <a:r>
              <a:rPr lang="en-US" sz="1400" dirty="0">
                <a:cs typeface="Arial" panose="020B0604020202020204" pitchFamily="34" charset="0"/>
              </a:rPr>
              <a:t>    private int mileage;</a:t>
            </a:r>
          </a:p>
          <a:p>
            <a:r>
              <a:rPr lang="en-US" sz="1400" dirty="0">
                <a:cs typeface="Arial" panose="020B0604020202020204" pitchFamily="34" charset="0"/>
              </a:rPr>
              <a:t>    </a:t>
            </a:r>
          </a:p>
          <a:p>
            <a:r>
              <a:rPr lang="en-US" sz="1400" dirty="0">
                <a:cs typeface="Arial" panose="020B0604020202020204" pitchFamily="34" charset="0"/>
              </a:rPr>
              <a:t>    public void start() { …}</a:t>
            </a:r>
          </a:p>
          <a:p>
            <a:r>
              <a:rPr lang="en-US" sz="1400" dirty="0">
                <a:cs typeface="Arial" panose="020B0604020202020204" pitchFamily="34" charset="0"/>
              </a:rPr>
              <a:t>    public void stop() { … }</a:t>
            </a:r>
          </a:p>
          <a:p>
            <a:r>
              <a:rPr lang="en-US" sz="1400" dirty="0">
                <a:cs typeface="Arial" panose="020B0604020202020204" pitchFamily="34" charset="0"/>
              </a:rPr>
              <a:t>    public void accelerate() { … }</a:t>
            </a:r>
          </a:p>
          <a:p>
            <a:r>
              <a:rPr lang="en-US" sz="1400" dirty="0">
                <a:cs typeface="Arial" panose="020B0604020202020204" pitchFamily="34" charset="0"/>
              </a:rPr>
              <a:t>    public void brake() { … }</a:t>
            </a:r>
          </a:p>
          <a:p>
            <a:r>
              <a:rPr lang="en-US" sz="1400" dirty="0">
                <a:cs typeface="Arial" panose="020B0604020202020204" pitchFamily="34" charset="0"/>
              </a:rPr>
              <a:t>}</a:t>
            </a:r>
          </a:p>
          <a:p>
            <a:r>
              <a:rPr lang="en-US" sz="1400" dirty="0">
                <a:cs typeface="Arial" panose="020B0604020202020204" pitchFamily="34" charset="0"/>
              </a:rPr>
              <a:t>public class </a:t>
            </a:r>
            <a:r>
              <a:rPr lang="en-US" sz="1400" dirty="0" err="1">
                <a:cs typeface="Arial" panose="020B0604020202020204" pitchFamily="34" charset="0"/>
              </a:rPr>
              <a:t>MyApplication</a:t>
            </a:r>
            <a:r>
              <a:rPr lang="en-US" sz="1400" dirty="0">
                <a:cs typeface="Arial" panose="020B0604020202020204" pitchFamily="34" charset="0"/>
              </a:rPr>
              <a:t> {</a:t>
            </a:r>
          </a:p>
          <a:p>
            <a:r>
              <a:rPr lang="en-US" sz="1400" dirty="0">
                <a:cs typeface="Arial" panose="020B0604020202020204" pitchFamily="34" charset="0"/>
              </a:rPr>
              <a:t>    public static void main(String[] </a:t>
            </a:r>
            <a:r>
              <a:rPr lang="en-US" sz="1400" dirty="0" err="1">
                <a:cs typeface="Arial" panose="020B0604020202020204" pitchFamily="34" charset="0"/>
              </a:rPr>
              <a:t>args</a:t>
            </a:r>
            <a:r>
              <a:rPr lang="en-US" sz="1400" dirty="0">
                <a:cs typeface="Arial" panose="020B0604020202020204" pitchFamily="34" charset="0"/>
              </a:rPr>
              <a:t>) {</a:t>
            </a:r>
          </a:p>
          <a:p>
            <a:r>
              <a:rPr lang="en-US" sz="1400" dirty="0">
                <a:cs typeface="Arial" panose="020B0604020202020204" pitchFamily="34" charset="0"/>
              </a:rPr>
              <a:t>       Car </a:t>
            </a:r>
            <a:r>
              <a:rPr lang="en-US" sz="1400" dirty="0" err="1">
                <a:cs typeface="Arial" panose="020B0604020202020204" pitchFamily="34" charset="0"/>
              </a:rPr>
              <a:t>car</a:t>
            </a:r>
            <a:r>
              <a:rPr lang="en-US" sz="1400" dirty="0">
                <a:cs typeface="Arial" panose="020B0604020202020204" pitchFamily="34" charset="0"/>
              </a:rPr>
              <a:t> = new Car();</a:t>
            </a:r>
          </a:p>
          <a:p>
            <a:r>
              <a:rPr lang="en-US" sz="1400" dirty="0">
                <a:cs typeface="Arial" panose="020B0604020202020204" pitchFamily="34" charset="0"/>
              </a:rPr>
              <a:t>    }</a:t>
            </a:r>
            <a:br>
              <a:rPr lang="en-US" sz="1400" dirty="0">
                <a:cs typeface="Arial" panose="020B0604020202020204" pitchFamily="34" charset="0"/>
              </a:rPr>
            </a:br>
            <a:r>
              <a:rPr lang="en-US" sz="1400" dirty="0">
                <a:cs typeface="Arial" panose="020B0604020202020204" pitchFamily="34" charset="0"/>
              </a:rPr>
              <a:t>}</a:t>
            </a:r>
          </a:p>
          <a:p>
            <a:endParaRPr lang="en-US" sz="1400" dirty="0">
              <a:cs typeface="Arial" panose="020B0604020202020204" pitchFamily="34" charset="0"/>
            </a:endParaRPr>
          </a:p>
        </p:txBody>
      </p:sp>
      <p:sp>
        <p:nvSpPr>
          <p:cNvPr id="3" name="Title 2">
            <a:extLst>
              <a:ext uri="{FF2B5EF4-FFF2-40B4-BE49-F238E27FC236}">
                <a16:creationId xmlns:a16="http://schemas.microsoft.com/office/drawing/2014/main" id="{5EBF28F7-F706-2FB6-90F5-C0BEFF8D4F0E}"/>
              </a:ext>
            </a:extLst>
          </p:cNvPr>
          <p:cNvSpPr>
            <a:spLocks noGrp="1"/>
          </p:cNvSpPr>
          <p:nvPr>
            <p:ph type="title"/>
          </p:nvPr>
        </p:nvSpPr>
        <p:spPr/>
        <p:txBody>
          <a:bodyPr/>
          <a:lstStyle/>
          <a:p>
            <a:r>
              <a:rPr lang="en-US" dirty="0"/>
              <a:t>Java is an object-oriented language</a:t>
            </a:r>
          </a:p>
        </p:txBody>
      </p:sp>
      <p:sp>
        <p:nvSpPr>
          <p:cNvPr id="11" name="Content Placeholder 10">
            <a:extLst>
              <a:ext uri="{FF2B5EF4-FFF2-40B4-BE49-F238E27FC236}">
                <a16:creationId xmlns:a16="http://schemas.microsoft.com/office/drawing/2014/main" id="{9B5A3E43-A10B-838C-825B-2AF51F085923}"/>
              </a:ext>
            </a:extLst>
          </p:cNvPr>
          <p:cNvSpPr>
            <a:spLocks noGrp="1"/>
          </p:cNvSpPr>
          <p:nvPr>
            <p:ph idx="13"/>
          </p:nvPr>
        </p:nvSpPr>
        <p:spPr/>
        <p:txBody>
          <a:bodyPr>
            <a:normAutofit fontScale="92500" lnSpcReduction="20000"/>
          </a:bodyPr>
          <a:lstStyle/>
          <a:p>
            <a:r>
              <a:rPr lang="en-US" dirty="0"/>
              <a:t>Java is an object-oriented programming language</a:t>
            </a:r>
          </a:p>
          <a:p>
            <a:pPr lvl="1"/>
            <a:r>
              <a:rPr lang="en-US" dirty="0"/>
              <a:t>Everything is an object</a:t>
            </a:r>
            <a:br>
              <a:rPr lang="en-US" dirty="0"/>
            </a:br>
            <a:endParaRPr lang="en-US" dirty="0"/>
          </a:p>
          <a:p>
            <a:r>
              <a:rPr lang="en-US" dirty="0"/>
              <a:t>A class is a blueprint for creating objects</a:t>
            </a:r>
          </a:p>
          <a:p>
            <a:pPr lvl="1"/>
            <a:r>
              <a:rPr lang="en-US" dirty="0"/>
              <a:t>Defines properties (fields) and behaviors (methods)</a:t>
            </a:r>
            <a:br>
              <a:rPr lang="en-US" dirty="0"/>
            </a:br>
            <a:endParaRPr lang="en-US" dirty="0"/>
          </a:p>
          <a:p>
            <a:r>
              <a:rPr lang="en-US" dirty="0"/>
              <a:t>An object is an instance of a class</a:t>
            </a:r>
            <a:br>
              <a:rPr lang="en-US" dirty="0"/>
            </a:br>
            <a:endParaRPr lang="en-US" dirty="0"/>
          </a:p>
          <a:p>
            <a:endParaRPr lang="en-US" dirty="0"/>
          </a:p>
        </p:txBody>
      </p:sp>
      <p:sp>
        <p:nvSpPr>
          <p:cNvPr id="12" name="Rectangle 11">
            <a:extLst>
              <a:ext uri="{FF2B5EF4-FFF2-40B4-BE49-F238E27FC236}">
                <a16:creationId xmlns:a16="http://schemas.microsoft.com/office/drawing/2014/main" id="{60E95350-F00E-CD96-8F70-91487D9A233D}"/>
              </a:ext>
            </a:extLst>
          </p:cNvPr>
          <p:cNvSpPr/>
          <p:nvPr/>
        </p:nvSpPr>
        <p:spPr>
          <a:xfrm>
            <a:off x="6176512" y="803804"/>
            <a:ext cx="3678688" cy="2176463"/>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734CD13C-BE21-A1FC-FBE5-492D48887B39}"/>
              </a:ext>
            </a:extLst>
          </p:cNvPr>
          <p:cNvSpPr/>
          <p:nvPr/>
        </p:nvSpPr>
        <p:spPr>
          <a:xfrm>
            <a:off x="6667579" y="3317630"/>
            <a:ext cx="2566732"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9C573C7E-6459-9E70-66D9-B94B445816AC}"/>
              </a:ext>
            </a:extLst>
          </p:cNvPr>
          <p:cNvSpPr/>
          <p:nvPr/>
        </p:nvSpPr>
        <p:spPr>
          <a:xfrm>
            <a:off x="6824261" y="3308230"/>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4E60E7B5-B7E4-2D07-0432-90CD04022487}"/>
              </a:ext>
            </a:extLst>
          </p:cNvPr>
          <p:cNvSpPr/>
          <p:nvPr/>
        </p:nvSpPr>
        <p:spPr>
          <a:xfrm>
            <a:off x="7939008" y="3308229"/>
            <a:ext cx="958065"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5" name="TextBox 4">
            <a:extLst>
              <a:ext uri="{FF2B5EF4-FFF2-40B4-BE49-F238E27FC236}">
                <a16:creationId xmlns:a16="http://schemas.microsoft.com/office/drawing/2014/main" id="{5C4FDAB1-4191-1BA6-86BD-FA7BAD9F11CF}"/>
              </a:ext>
            </a:extLst>
          </p:cNvPr>
          <p:cNvSpPr txBox="1"/>
          <p:nvPr/>
        </p:nvSpPr>
        <p:spPr>
          <a:xfrm>
            <a:off x="6667579" y="3821985"/>
            <a:ext cx="1238159" cy="400110"/>
          </a:xfrm>
          <a:prstGeom prst="rect">
            <a:avLst/>
          </a:prstGeom>
          <a:noFill/>
        </p:spPr>
        <p:txBody>
          <a:bodyPr wrap="none" rtlCol="0">
            <a:spAutoFit/>
          </a:bodyPr>
          <a:lstStyle/>
          <a:p>
            <a:r>
              <a:rPr lang="en-US" sz="2000" b="1" i="1" dirty="0"/>
              <a:t>Reference</a:t>
            </a:r>
          </a:p>
        </p:txBody>
      </p:sp>
      <p:sp>
        <p:nvSpPr>
          <p:cNvPr id="6" name="TextBox 5">
            <a:extLst>
              <a:ext uri="{FF2B5EF4-FFF2-40B4-BE49-F238E27FC236}">
                <a16:creationId xmlns:a16="http://schemas.microsoft.com/office/drawing/2014/main" id="{CB42ED99-D662-A210-756E-BCF59839D874}"/>
              </a:ext>
            </a:extLst>
          </p:cNvPr>
          <p:cNvSpPr txBox="1"/>
          <p:nvPr/>
        </p:nvSpPr>
        <p:spPr>
          <a:xfrm>
            <a:off x="7939008" y="3823326"/>
            <a:ext cx="877163" cy="400110"/>
          </a:xfrm>
          <a:prstGeom prst="rect">
            <a:avLst/>
          </a:prstGeom>
          <a:noFill/>
        </p:spPr>
        <p:txBody>
          <a:bodyPr wrap="none" rtlCol="0">
            <a:spAutoFit/>
          </a:bodyPr>
          <a:lstStyle/>
          <a:p>
            <a:r>
              <a:rPr lang="en-US" sz="2000" b="1" i="1" dirty="0"/>
              <a:t>Object</a:t>
            </a:r>
          </a:p>
        </p:txBody>
      </p:sp>
    </p:spTree>
    <p:extLst>
      <p:ext uri="{BB962C8B-B14F-4D97-AF65-F5344CB8AC3E}">
        <p14:creationId xmlns:p14="http://schemas.microsoft.com/office/powerpoint/2010/main" val="1246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4" grpId="0" animBg="1"/>
      <p:bldP spid="14" grpId="1" animBg="1"/>
      <p:bldP spid="2" grpId="0" animBg="1"/>
      <p:bldP spid="4" grpId="0" animBg="1"/>
      <p:bldP spid="5" grpId="0"/>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34CB96-F0F9-4B0C-68B8-E0A7F8BAD45E}"/>
              </a:ext>
            </a:extLst>
          </p:cNvPr>
          <p:cNvSpPr>
            <a:spLocks noGrp="1"/>
          </p:cNvSpPr>
          <p:nvPr>
            <p:ph idx="1"/>
          </p:nvPr>
        </p:nvSpPr>
        <p:spPr/>
        <p:txBody>
          <a:bodyPr>
            <a:normAutofit/>
          </a:bodyPr>
          <a:lstStyle/>
          <a:p>
            <a:endParaRPr lang="en-US" dirty="0"/>
          </a:p>
          <a:p>
            <a:endParaRPr lang="en-US" dirty="0"/>
          </a:p>
        </p:txBody>
      </p:sp>
      <p:sp>
        <p:nvSpPr>
          <p:cNvPr id="3" name="Title 2">
            <a:extLst>
              <a:ext uri="{FF2B5EF4-FFF2-40B4-BE49-F238E27FC236}">
                <a16:creationId xmlns:a16="http://schemas.microsoft.com/office/drawing/2014/main" id="{B252DBCA-30ED-FAF9-ECC0-9CA056CDCEA2}"/>
              </a:ext>
            </a:extLst>
          </p:cNvPr>
          <p:cNvSpPr>
            <a:spLocks noGrp="1"/>
          </p:cNvSpPr>
          <p:nvPr>
            <p:ph type="title"/>
          </p:nvPr>
        </p:nvSpPr>
        <p:spPr/>
        <p:txBody>
          <a:bodyPr/>
          <a:lstStyle/>
          <a:p>
            <a:r>
              <a:rPr lang="en-US"/>
              <a:t>Encapsulation</a:t>
            </a:r>
            <a:endParaRPr lang="en-US" dirty="0"/>
          </a:p>
        </p:txBody>
      </p:sp>
      <p:sp>
        <p:nvSpPr>
          <p:cNvPr id="13" name="Content Placeholder 12">
            <a:extLst>
              <a:ext uri="{FF2B5EF4-FFF2-40B4-BE49-F238E27FC236}">
                <a16:creationId xmlns:a16="http://schemas.microsoft.com/office/drawing/2014/main" id="{E1565AFB-E9AB-CBE9-6C77-7B7791358935}"/>
              </a:ext>
            </a:extLst>
          </p:cNvPr>
          <p:cNvSpPr>
            <a:spLocks noGrp="1"/>
          </p:cNvSpPr>
          <p:nvPr>
            <p:ph idx="13"/>
          </p:nvPr>
        </p:nvSpPr>
        <p:spPr/>
        <p:txBody>
          <a:bodyPr>
            <a:normAutofit/>
          </a:bodyPr>
          <a:lstStyle/>
          <a:p>
            <a:r>
              <a:rPr lang="en-US" dirty="0"/>
              <a:t>Internal details of a class are hidden from outside world</a:t>
            </a:r>
          </a:p>
          <a:p>
            <a:r>
              <a:rPr lang="en-US" dirty="0"/>
              <a:t>Access is controlled using public, private, protected access modifiers</a:t>
            </a:r>
          </a:p>
          <a:p>
            <a:pPr lvl="1"/>
            <a:r>
              <a:rPr lang="en-US" dirty="0"/>
              <a:t>Direct access to private fields prevented</a:t>
            </a:r>
          </a:p>
          <a:p>
            <a:pPr lvl="1"/>
            <a:r>
              <a:rPr lang="en-US" dirty="0"/>
              <a:t>Needs getter and setter methods</a:t>
            </a:r>
          </a:p>
        </p:txBody>
      </p:sp>
      <p:sp>
        <p:nvSpPr>
          <p:cNvPr id="5" name="Content Placeholder 1">
            <a:extLst>
              <a:ext uri="{FF2B5EF4-FFF2-40B4-BE49-F238E27FC236}">
                <a16:creationId xmlns:a16="http://schemas.microsoft.com/office/drawing/2014/main" id="{FE5D8E08-CB85-E3EE-E06E-EB2D39C42965}"/>
              </a:ext>
            </a:extLst>
          </p:cNvPr>
          <p:cNvSpPr txBox="1">
            <a:spLocks/>
          </p:cNvSpPr>
          <p:nvPr/>
        </p:nvSpPr>
        <p:spPr>
          <a:xfrm>
            <a:off x="6304207" y="785003"/>
            <a:ext cx="5735393" cy="51664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latin typeface="Consolas" panose="020B0609020204030204" pitchFamily="49" charset="0"/>
              </a:rPr>
              <a:t>public class Car {</a:t>
            </a:r>
          </a:p>
          <a:p>
            <a:pPr marL="0" indent="0">
              <a:buNone/>
            </a:pPr>
            <a:r>
              <a:rPr lang="en-US" sz="1400" dirty="0">
                <a:latin typeface="Consolas" panose="020B0609020204030204" pitchFamily="49" charset="0"/>
              </a:rPr>
              <a:t>    private String model;</a:t>
            </a:r>
          </a:p>
          <a:p>
            <a:pPr marL="0" indent="0">
              <a:buNone/>
            </a:pPr>
            <a:r>
              <a:rPr lang="en-US" sz="1400" dirty="0">
                <a:latin typeface="Consolas" panose="020B0609020204030204" pitchFamily="49" charset="0"/>
              </a:rPr>
              <a:t>    public String </a:t>
            </a:r>
            <a:r>
              <a:rPr lang="en-US" sz="1400" dirty="0" err="1">
                <a:latin typeface="Consolas" panose="020B0609020204030204" pitchFamily="49" charset="0"/>
              </a:rPr>
              <a:t>getModel</a:t>
            </a:r>
            <a:r>
              <a:rPr lang="en-US" sz="1400" dirty="0">
                <a:latin typeface="Consolas" panose="020B0609020204030204" pitchFamily="49" charset="0"/>
              </a:rPr>
              <a:t>() {</a:t>
            </a:r>
          </a:p>
          <a:p>
            <a:pPr marL="0" indent="0">
              <a:buNone/>
            </a:pPr>
            <a:r>
              <a:rPr lang="en-US" sz="1400" dirty="0">
                <a:latin typeface="Consolas" panose="020B0609020204030204" pitchFamily="49" charset="0"/>
              </a:rPr>
              <a:t>       return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public void </a:t>
            </a:r>
            <a:r>
              <a:rPr lang="en-US" sz="1400" dirty="0" err="1">
                <a:latin typeface="Consolas" panose="020B0609020204030204" pitchFamily="49" charset="0"/>
              </a:rPr>
              <a:t>setModel</a:t>
            </a:r>
            <a:r>
              <a:rPr lang="en-US" sz="1400" dirty="0">
                <a:latin typeface="Consolas" panose="020B0609020204030204" pitchFamily="49" charset="0"/>
              </a:rPr>
              <a:t>(String model) {</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this.model</a:t>
            </a:r>
            <a:r>
              <a:rPr lang="en-US" sz="1400" dirty="0">
                <a:latin typeface="Consolas" panose="020B0609020204030204" pitchFamily="49" charset="0"/>
              </a:rPr>
              <a:t> = model;</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    // … other fields and methods</a:t>
            </a:r>
          </a:p>
          <a:p>
            <a:pPr marL="0" indent="0">
              <a:buNone/>
            </a:pPr>
            <a:r>
              <a:rPr lang="en-US" sz="1400" dirty="0">
                <a:latin typeface="Consolas" panose="020B0609020204030204" pitchFamily="49" charset="0"/>
              </a:rPr>
              <a:t>}</a:t>
            </a:r>
          </a:p>
          <a:p>
            <a:pPr marL="0" indent="0">
              <a:buNone/>
            </a:pPr>
            <a:r>
              <a:rPr lang="en-US" sz="1400" dirty="0">
                <a:latin typeface="Consolas" panose="020B0609020204030204" pitchFamily="49" charset="0"/>
              </a:rPr>
              <a:t>public class </a:t>
            </a:r>
            <a:r>
              <a:rPr lang="en-US" sz="1400" dirty="0" err="1">
                <a:latin typeface="Consolas" panose="020B0609020204030204" pitchFamily="49" charset="0"/>
              </a:rPr>
              <a:t>MyApplication</a:t>
            </a:r>
            <a:r>
              <a:rPr lang="en-US" sz="1400" dirty="0">
                <a:latin typeface="Consolas" panose="020B0609020204030204" pitchFamily="49" charset="0"/>
              </a:rPr>
              <a:t> {</a:t>
            </a:r>
          </a:p>
          <a:p>
            <a:pPr marL="0" indent="0">
              <a:buNone/>
            </a:pPr>
            <a:r>
              <a:rPr lang="en-US" sz="1400" dirty="0">
                <a:latin typeface="Consolas" panose="020B0609020204030204" pitchFamily="49" charset="0"/>
              </a:rPr>
              <a:t>    public static void main(String[] </a:t>
            </a:r>
            <a:r>
              <a:rPr lang="en-US" sz="1400" dirty="0" err="1">
                <a:latin typeface="Consolas" panose="020B0609020204030204" pitchFamily="49" charset="0"/>
              </a:rPr>
              <a:t>args</a:t>
            </a:r>
            <a:r>
              <a:rPr lang="en-US" sz="1400" dirty="0">
                <a:latin typeface="Consolas" panose="020B0609020204030204" pitchFamily="49" charset="0"/>
              </a:rPr>
              <a:t>) {</a:t>
            </a:r>
          </a:p>
          <a:p>
            <a:pPr marL="0" indent="0">
              <a:buNone/>
            </a:pPr>
            <a:r>
              <a:rPr lang="en-US" sz="1400" dirty="0">
                <a:latin typeface="Consolas" panose="020B0609020204030204" pitchFamily="49" charset="0"/>
              </a:rPr>
              <a:t>       Car </a:t>
            </a:r>
            <a:r>
              <a:rPr lang="en-US" sz="1400" dirty="0" err="1">
                <a:latin typeface="Consolas" panose="020B0609020204030204" pitchFamily="49" charset="0"/>
              </a:rPr>
              <a:t>car</a:t>
            </a:r>
            <a:r>
              <a:rPr lang="en-US" sz="1400" dirty="0">
                <a:latin typeface="Consolas" panose="020B0609020204030204" pitchFamily="49" charset="0"/>
              </a:rPr>
              <a:t> = new Car();</a:t>
            </a:r>
          </a:p>
          <a:p>
            <a:pPr marL="0" indent="0">
              <a:buNone/>
            </a:pPr>
            <a:r>
              <a:rPr lang="en-US" sz="1400" dirty="0">
                <a:latin typeface="Consolas" panose="020B0609020204030204" pitchFamily="49" charset="0"/>
              </a:rPr>
              <a:t>       </a:t>
            </a:r>
            <a:r>
              <a:rPr lang="en-US" sz="1400" dirty="0" err="1">
                <a:latin typeface="Consolas" panose="020B0609020204030204" pitchFamily="49" charset="0"/>
              </a:rPr>
              <a:t>car.model</a:t>
            </a:r>
            <a:r>
              <a:rPr lang="en-US" sz="1400" dirty="0">
                <a:latin typeface="Consolas" panose="020B0609020204030204" pitchFamily="49" charset="0"/>
              </a:rPr>
              <a:t> = “Toyota Hybrid”; </a:t>
            </a:r>
            <a:r>
              <a:rPr lang="en-US" sz="1400" b="1" dirty="0">
                <a:latin typeface="Consolas" panose="020B0609020204030204" pitchFamily="49" charset="0"/>
              </a:rPr>
              <a:t>// COMPILER ERROR</a:t>
            </a:r>
          </a:p>
          <a:p>
            <a:pPr marL="0" indent="0">
              <a:buNone/>
            </a:pPr>
            <a:r>
              <a:rPr lang="en-US" sz="1400" dirty="0">
                <a:latin typeface="Consolas" panose="020B0609020204030204" pitchFamily="49" charset="0"/>
              </a:rPr>
              <a:t>    }</a:t>
            </a:r>
          </a:p>
          <a:p>
            <a:pPr marL="0" indent="0">
              <a:buNone/>
            </a:pPr>
            <a:r>
              <a:rPr lang="en-US" sz="1400" dirty="0">
                <a:latin typeface="Consolas" panose="020B0609020204030204" pitchFamily="49" charset="0"/>
              </a:rPr>
              <a:t>}</a:t>
            </a:r>
          </a:p>
        </p:txBody>
      </p:sp>
      <p:sp>
        <p:nvSpPr>
          <p:cNvPr id="19" name="Rectangle 18">
            <a:extLst>
              <a:ext uri="{FF2B5EF4-FFF2-40B4-BE49-F238E27FC236}">
                <a16:creationId xmlns:a16="http://schemas.microsoft.com/office/drawing/2014/main" id="{46C88E32-4A25-E4EA-37F6-905F5DE942BB}"/>
              </a:ext>
            </a:extLst>
          </p:cNvPr>
          <p:cNvSpPr/>
          <p:nvPr/>
        </p:nvSpPr>
        <p:spPr>
          <a:xfrm>
            <a:off x="6672904" y="1026543"/>
            <a:ext cx="992251"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20" name="Rectangle 19">
            <a:extLst>
              <a:ext uri="{FF2B5EF4-FFF2-40B4-BE49-F238E27FC236}">
                <a16:creationId xmlns:a16="http://schemas.microsoft.com/office/drawing/2014/main" id="{C1599DF0-822B-D5C2-3BBF-3FCA224DC60A}"/>
              </a:ext>
            </a:extLst>
          </p:cNvPr>
          <p:cNvSpPr/>
          <p:nvPr/>
        </p:nvSpPr>
        <p:spPr>
          <a:xfrm>
            <a:off x="7073660" y="4870409"/>
            <a:ext cx="4632918" cy="43028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71060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26FD241-D478-845A-77DF-B1DB38B6DC4C}"/>
              </a:ext>
            </a:extLst>
          </p:cNvPr>
          <p:cNvSpPr>
            <a:spLocks noGrp="1"/>
          </p:cNvSpPr>
          <p:nvPr>
            <p:ph idx="1"/>
          </p:nvPr>
        </p:nvSpPr>
        <p:spPr/>
        <p:txBody>
          <a:bodyPr/>
          <a:lstStyle/>
          <a:p>
            <a:r>
              <a:rPr lang="en-US" dirty="0"/>
              <a:t>// Breaking abstractions</a:t>
            </a:r>
          </a:p>
          <a:p>
            <a:r>
              <a:rPr lang="en-US" dirty="0"/>
              <a:t>class </a:t>
            </a:r>
            <a:r>
              <a:rPr lang="en-US" dirty="0" err="1"/>
              <a:t>ClassDetails</a:t>
            </a:r>
            <a:r>
              <a:rPr lang="en-US" dirty="0"/>
              <a:t> {</a:t>
            </a:r>
            <a:br>
              <a:rPr lang="en-US" dirty="0"/>
            </a:br>
            <a:r>
              <a:rPr lang="en-US" dirty="0"/>
              <a:t>  public List&lt;Student&gt; students;</a:t>
            </a:r>
            <a:br>
              <a:rPr lang="en-US" dirty="0"/>
            </a:br>
            <a:r>
              <a:rPr lang="en-US" dirty="0"/>
              <a:t>  public void </a:t>
            </a:r>
            <a:r>
              <a:rPr lang="en-US" dirty="0" err="1"/>
              <a:t>dropStudent</a:t>
            </a:r>
            <a:r>
              <a:rPr lang="en-US" dirty="0"/>
              <a:t>(Student s) {</a:t>
            </a:r>
          </a:p>
          <a:p>
            <a:r>
              <a:rPr lang="en-US" dirty="0"/>
              <a:t>	</a:t>
            </a:r>
            <a:r>
              <a:rPr lang="en-US" dirty="0" err="1"/>
              <a:t>students.remove</a:t>
            </a:r>
            <a:r>
              <a:rPr lang="en-US" dirty="0"/>
              <a:t>(s);</a:t>
            </a:r>
            <a:br>
              <a:rPr lang="en-US" dirty="0"/>
            </a:br>
            <a:r>
              <a:rPr lang="en-US" dirty="0"/>
              <a:t>	if (</a:t>
            </a:r>
            <a:r>
              <a:rPr lang="en-US" dirty="0" err="1"/>
              <a:t>s.isInternational</a:t>
            </a:r>
            <a:r>
              <a:rPr lang="en-US" dirty="0"/>
              <a:t>() </a:t>
            </a:r>
          </a:p>
          <a:p>
            <a:r>
              <a:rPr lang="en-US" dirty="0"/>
              <a:t>		&amp;&amp; !</a:t>
            </a:r>
            <a:r>
              <a:rPr lang="en-US" dirty="0" err="1"/>
              <a:t>s.hasMinCredits</a:t>
            </a:r>
            <a:r>
              <a:rPr lang="en-US" dirty="0"/>
              <a:t>()) {</a:t>
            </a:r>
          </a:p>
          <a:p>
            <a:r>
              <a:rPr lang="en-US" dirty="0"/>
              <a:t>		</a:t>
            </a:r>
            <a:r>
              <a:rPr lang="en-US" dirty="0" err="1"/>
              <a:t>s.notifyEmail</a:t>
            </a:r>
            <a:r>
              <a:rPr lang="en-US" dirty="0"/>
              <a:t>();</a:t>
            </a:r>
          </a:p>
          <a:p>
            <a:r>
              <a:rPr lang="en-US" dirty="0"/>
              <a:t>	}</a:t>
            </a:r>
            <a:br>
              <a:rPr lang="en-US" dirty="0"/>
            </a:br>
            <a:r>
              <a:rPr lang="en-US" dirty="0"/>
              <a:t>  }</a:t>
            </a:r>
            <a:br>
              <a:rPr lang="en-US" dirty="0"/>
            </a:br>
            <a:r>
              <a:rPr lang="en-US" dirty="0"/>
              <a:t>}</a:t>
            </a:r>
          </a:p>
          <a:p>
            <a:br>
              <a:rPr lang="en-US" dirty="0"/>
            </a:br>
            <a:r>
              <a:rPr lang="en-US" dirty="0"/>
              <a:t>Student s = …;</a:t>
            </a:r>
            <a:br>
              <a:rPr lang="en-US" dirty="0"/>
            </a:br>
            <a:r>
              <a:rPr lang="en-US" dirty="0" err="1"/>
              <a:t>ClassDetails</a:t>
            </a:r>
            <a:r>
              <a:rPr lang="en-US" dirty="0"/>
              <a:t> details = …;</a:t>
            </a:r>
          </a:p>
          <a:p>
            <a:r>
              <a:rPr lang="en-US" dirty="0" err="1"/>
              <a:t>details.students.remove</a:t>
            </a:r>
            <a:r>
              <a:rPr lang="en-US" dirty="0"/>
              <a:t>(s); </a:t>
            </a:r>
            <a:r>
              <a:rPr lang="en-US" b="1" dirty="0"/>
              <a:t>// no check!</a:t>
            </a:r>
          </a:p>
        </p:txBody>
      </p:sp>
      <p:sp>
        <p:nvSpPr>
          <p:cNvPr id="5" name="Title 4">
            <a:extLst>
              <a:ext uri="{FF2B5EF4-FFF2-40B4-BE49-F238E27FC236}">
                <a16:creationId xmlns:a16="http://schemas.microsoft.com/office/drawing/2014/main" id="{93F2E5C6-8F56-6F5C-05EA-6F7E90A72D62}"/>
              </a:ext>
            </a:extLst>
          </p:cNvPr>
          <p:cNvSpPr>
            <a:spLocks noGrp="1"/>
          </p:cNvSpPr>
          <p:nvPr>
            <p:ph type="title"/>
          </p:nvPr>
        </p:nvSpPr>
        <p:spPr/>
        <p:txBody>
          <a:bodyPr/>
          <a:lstStyle/>
          <a:p>
            <a:r>
              <a:rPr lang="en-US" dirty="0"/>
              <a:t>Abstraction</a:t>
            </a:r>
          </a:p>
        </p:txBody>
      </p:sp>
      <p:sp>
        <p:nvSpPr>
          <p:cNvPr id="7" name="Content Placeholder 6">
            <a:extLst>
              <a:ext uri="{FF2B5EF4-FFF2-40B4-BE49-F238E27FC236}">
                <a16:creationId xmlns:a16="http://schemas.microsoft.com/office/drawing/2014/main" id="{85AC793D-21F7-CFF1-8A08-374E129BC63C}"/>
              </a:ext>
            </a:extLst>
          </p:cNvPr>
          <p:cNvSpPr>
            <a:spLocks noGrp="1"/>
          </p:cNvSpPr>
          <p:nvPr>
            <p:ph idx="13"/>
          </p:nvPr>
        </p:nvSpPr>
        <p:spPr/>
        <p:txBody>
          <a:bodyPr>
            <a:normAutofit/>
          </a:bodyPr>
          <a:lstStyle/>
          <a:p>
            <a:r>
              <a:rPr lang="en-US" dirty="0"/>
              <a:t>Abstraction means hiding details</a:t>
            </a:r>
          </a:p>
          <a:p>
            <a:pPr lvl="1"/>
            <a:r>
              <a:rPr lang="en-US" dirty="0"/>
              <a:t>Enables user to use component without knowing details</a:t>
            </a:r>
          </a:p>
          <a:p>
            <a:r>
              <a:rPr lang="en-US" dirty="0"/>
              <a:t>Encapsulation </a:t>
            </a:r>
            <a:r>
              <a:rPr lang="en-US" b="1" i="1" dirty="0"/>
              <a:t>enforces</a:t>
            </a:r>
            <a:r>
              <a:rPr lang="en-US" dirty="0"/>
              <a:t> abstraction</a:t>
            </a:r>
          </a:p>
          <a:p>
            <a:r>
              <a:rPr lang="en-US" b="1" dirty="0"/>
              <a:t>Critical </a:t>
            </a:r>
            <a:r>
              <a:rPr lang="en-US" dirty="0"/>
              <a:t>to ensuring users of your code use it in the way you intend!</a:t>
            </a:r>
          </a:p>
        </p:txBody>
      </p:sp>
      <p:sp>
        <p:nvSpPr>
          <p:cNvPr id="8" name="Rectangle 7">
            <a:extLst>
              <a:ext uri="{FF2B5EF4-FFF2-40B4-BE49-F238E27FC236}">
                <a16:creationId xmlns:a16="http://schemas.microsoft.com/office/drawing/2014/main" id="{F52D2CAD-E48D-8758-5C00-A55967422E6E}"/>
              </a:ext>
            </a:extLst>
          </p:cNvPr>
          <p:cNvSpPr/>
          <p:nvPr/>
        </p:nvSpPr>
        <p:spPr>
          <a:xfrm>
            <a:off x="6317304" y="1303120"/>
            <a:ext cx="885007" cy="3111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CAE3DD90-D9EF-095D-051A-FC6542CCFE6A}"/>
              </a:ext>
            </a:extLst>
          </p:cNvPr>
          <p:cNvSpPr/>
          <p:nvPr/>
        </p:nvSpPr>
        <p:spPr>
          <a:xfrm>
            <a:off x="6176512" y="1976831"/>
            <a:ext cx="4403256" cy="10711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780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5B0134-08BC-B800-C16A-BF11B1ED52DF}"/>
              </a:ext>
            </a:extLst>
          </p:cNvPr>
          <p:cNvSpPr>
            <a:spLocks noGrp="1"/>
          </p:cNvSpPr>
          <p:nvPr>
            <p:ph idx="1"/>
          </p:nvPr>
        </p:nvSpPr>
        <p:spPr/>
        <p:txBody>
          <a:bodyPr>
            <a:normAutofit/>
          </a:bodyPr>
          <a:lstStyle/>
          <a:p>
            <a:pPr lvl="0"/>
            <a:r>
              <a:rPr lang="en-US" noProof="0" dirty="0"/>
              <a:t>public class Car {</a:t>
            </a:r>
          </a:p>
          <a:p>
            <a:pPr lvl="0"/>
            <a:r>
              <a:rPr lang="en-US" noProof="0" dirty="0"/>
              <a:t>    private String model;</a:t>
            </a:r>
          </a:p>
          <a:p>
            <a:pPr lvl="0"/>
            <a:r>
              <a:rPr lang="en-US" noProof="0" dirty="0"/>
              <a:t>    private int year;</a:t>
            </a:r>
          </a:p>
          <a:p>
            <a:pPr lvl="0"/>
            <a:r>
              <a:rPr lang="en-US" noProof="0" dirty="0"/>
              <a:t>    private int mileage;</a:t>
            </a:r>
          </a:p>
          <a:p>
            <a:pPr lvl="0"/>
            <a:r>
              <a:rPr lang="en-US" dirty="0"/>
              <a:t>    </a:t>
            </a:r>
            <a:r>
              <a:rPr lang="en-US" noProof="0" dirty="0"/>
              <a:t>public void start() { …}</a:t>
            </a:r>
          </a:p>
          <a:p>
            <a:pPr lvl="0"/>
            <a:r>
              <a:rPr lang="en-US" noProof="0" dirty="0"/>
              <a:t>    public void stop() { … }</a:t>
            </a:r>
          </a:p>
          <a:p>
            <a:pPr lvl="0"/>
            <a:r>
              <a:rPr lang="en-US" noProof="0" dirty="0"/>
              <a:t>    public void accelerate() { … }</a:t>
            </a:r>
          </a:p>
          <a:p>
            <a:pPr lvl="0"/>
            <a:r>
              <a:rPr lang="en-US" noProof="0" dirty="0"/>
              <a:t>    public void brake() { … }</a:t>
            </a:r>
            <a:r>
              <a:rPr lang="en-US" dirty="0"/>
              <a:t> </a:t>
            </a:r>
          </a:p>
          <a:p>
            <a:pPr lvl="0"/>
            <a:r>
              <a:rPr lang="en-US" noProof="0" dirty="0"/>
              <a:t>}</a:t>
            </a:r>
          </a:p>
          <a:p>
            <a:pPr lvl="0"/>
            <a:endParaRPr lang="en-US" dirty="0"/>
          </a:p>
          <a:p>
            <a:pPr lvl="0"/>
            <a:r>
              <a:rPr lang="en-US" noProof="0" dirty="0"/>
              <a:t>public class Bicycle {</a:t>
            </a:r>
          </a:p>
          <a:p>
            <a:pPr lvl="0"/>
            <a:r>
              <a:rPr lang="en-US" dirty="0"/>
              <a:t>    private String model;</a:t>
            </a:r>
          </a:p>
          <a:p>
            <a:pPr lvl="0"/>
            <a:r>
              <a:rPr lang="en-US" noProof="0" dirty="0"/>
              <a:t>    private int year;</a:t>
            </a:r>
            <a:br>
              <a:rPr lang="en-US" noProof="0" dirty="0"/>
            </a:br>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a:t>
            </a:r>
          </a:p>
          <a:p>
            <a:pPr lvl="0"/>
            <a:r>
              <a:rPr lang="en-US" dirty="0"/>
              <a:t>    public void </a:t>
            </a:r>
            <a:r>
              <a:rPr lang="en-US" dirty="0" err="1"/>
              <a:t>ringBell</a:t>
            </a:r>
            <a:r>
              <a:rPr lang="en-US" dirty="0"/>
              <a:t>() { … }</a:t>
            </a:r>
            <a:br>
              <a:rPr lang="en-US" noProof="0" dirty="0"/>
            </a:br>
            <a:r>
              <a:rPr lang="en-US" noProof="0" dirty="0"/>
              <a:t>}</a:t>
            </a:r>
          </a:p>
          <a:p>
            <a:pPr lvl="0"/>
            <a:r>
              <a:rPr lang="en-US" noProof="0" dirty="0"/>
              <a:t>    </a:t>
            </a:r>
          </a:p>
          <a:p>
            <a:endParaRPr lang="en-US" dirty="0"/>
          </a:p>
        </p:txBody>
      </p:sp>
      <p:sp>
        <p:nvSpPr>
          <p:cNvPr id="3" name="Title 2">
            <a:extLst>
              <a:ext uri="{FF2B5EF4-FFF2-40B4-BE49-F238E27FC236}">
                <a16:creationId xmlns:a16="http://schemas.microsoft.com/office/drawing/2014/main" id="{7B8EF271-C053-1020-1224-2986697AB9FE}"/>
              </a:ext>
            </a:extLst>
          </p:cNvPr>
          <p:cNvSpPr>
            <a:spLocks noGrp="1"/>
          </p:cNvSpPr>
          <p:nvPr>
            <p:ph type="title"/>
          </p:nvPr>
        </p:nvSpPr>
        <p:spPr/>
        <p:txBody>
          <a:bodyPr/>
          <a:lstStyle/>
          <a:p>
            <a:r>
              <a:rPr lang="en-US" dirty="0"/>
              <a:t>Inheritance</a:t>
            </a:r>
          </a:p>
        </p:txBody>
      </p:sp>
      <p:sp>
        <p:nvSpPr>
          <p:cNvPr id="12" name="Content Placeholder 11">
            <a:extLst>
              <a:ext uri="{FF2B5EF4-FFF2-40B4-BE49-F238E27FC236}">
                <a16:creationId xmlns:a16="http://schemas.microsoft.com/office/drawing/2014/main" id="{867879F0-99C8-237F-F115-36413EFC1AF2}"/>
              </a:ext>
            </a:extLst>
          </p:cNvPr>
          <p:cNvSpPr>
            <a:spLocks noGrp="1"/>
          </p:cNvSpPr>
          <p:nvPr>
            <p:ph idx="13"/>
          </p:nvPr>
        </p:nvSpPr>
        <p:spPr/>
        <p:txBody>
          <a:bodyPr/>
          <a:lstStyle/>
          <a:p>
            <a:pPr marL="0" indent="0">
              <a:buNone/>
            </a:pPr>
            <a:r>
              <a:rPr lang="en-US" dirty="0"/>
              <a:t>Inheritance allows code reuse</a:t>
            </a:r>
          </a:p>
        </p:txBody>
      </p:sp>
      <p:pic>
        <p:nvPicPr>
          <p:cNvPr id="5" name="Picture 2" descr="Best Cars of 2024 and 2025 - Top-Rated New Cars Ranked | KBB.com">
            <a:extLst>
              <a:ext uri="{FF2B5EF4-FFF2-40B4-BE49-F238E27FC236}">
                <a16:creationId xmlns:a16="http://schemas.microsoft.com/office/drawing/2014/main" id="{1EE587AC-F2B5-BD07-E604-11AEF7BD249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2419" y="1900954"/>
            <a:ext cx="3330859" cy="134795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06D4856A-7D4A-354A-263C-FB6B245F16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7376" y="3609089"/>
            <a:ext cx="3527778" cy="21166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AFB7A62-7546-4251-5907-6F90188952BB}"/>
              </a:ext>
            </a:extLst>
          </p:cNvPr>
          <p:cNvSpPr txBox="1"/>
          <p:nvPr/>
        </p:nvSpPr>
        <p:spPr>
          <a:xfrm>
            <a:off x="9206963" y="1123830"/>
            <a:ext cx="2485304" cy="914400"/>
          </a:xfrm>
          <a:prstGeom prst="rect">
            <a:avLst/>
          </a:prstGeom>
          <a:noFill/>
        </p:spPr>
        <p:txBody>
          <a:bodyPr wrap="none" rtlCol="0">
            <a:noAutofit/>
          </a:bodyPr>
          <a:lstStyle/>
          <a:p>
            <a:pPr algn="l"/>
            <a:r>
              <a:rPr lang="en-US" sz="2400" b="1" i="1" dirty="0"/>
              <a:t>Code duplication!</a:t>
            </a:r>
          </a:p>
        </p:txBody>
      </p:sp>
      <p:sp>
        <p:nvSpPr>
          <p:cNvPr id="13" name="Rectangle 12">
            <a:extLst>
              <a:ext uri="{FF2B5EF4-FFF2-40B4-BE49-F238E27FC236}">
                <a16:creationId xmlns:a16="http://schemas.microsoft.com/office/drawing/2014/main" id="{94B49CC1-72A1-B9AB-1D20-718BD8427A97}"/>
              </a:ext>
            </a:extLst>
          </p:cNvPr>
          <p:cNvSpPr/>
          <p:nvPr/>
        </p:nvSpPr>
        <p:spPr>
          <a:xfrm>
            <a:off x="6505833" y="1045445"/>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4" name="Rectangle 13">
            <a:extLst>
              <a:ext uri="{FF2B5EF4-FFF2-40B4-BE49-F238E27FC236}">
                <a16:creationId xmlns:a16="http://schemas.microsoft.com/office/drawing/2014/main" id="{CFD7D678-DD45-40FE-91A0-3950B99922E4}"/>
              </a:ext>
            </a:extLst>
          </p:cNvPr>
          <p:cNvSpPr/>
          <p:nvPr/>
        </p:nvSpPr>
        <p:spPr>
          <a:xfrm>
            <a:off x="6590500" y="3429000"/>
            <a:ext cx="3733190" cy="19799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336729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animBg="1"/>
      <p:bldP spid="13" grpId="1" animBg="1"/>
      <p:bldP spid="14" grpId="0" animBg="1"/>
      <p:bldP spid="14"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ECDAF-5BA2-343C-541B-8BC893720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E15354-5798-B90C-FC02-F2550E153D79}"/>
              </a:ext>
            </a:extLst>
          </p:cNvPr>
          <p:cNvSpPr>
            <a:spLocks noGrp="1"/>
          </p:cNvSpPr>
          <p:nvPr>
            <p:ph idx="1"/>
          </p:nvPr>
        </p:nvSpPr>
        <p:spPr/>
        <p:txBody>
          <a:bodyPr>
            <a:normAutofit fontScale="92500" lnSpcReduction="10000"/>
          </a:bodyPr>
          <a:lstStyle/>
          <a:p>
            <a:pPr lvl="0"/>
            <a:r>
              <a:rPr lang="en-US" noProof="0"/>
              <a:t>public class Vehicle { // shared properties </a:t>
            </a:r>
          </a:p>
          <a:p>
            <a:pPr lvl="0"/>
            <a:r>
              <a:rPr lang="en-US"/>
              <a:t>                       // and functions</a:t>
            </a:r>
            <a:endParaRPr lang="en-US" noProof="0"/>
          </a:p>
          <a:p>
            <a:pPr lvl="0"/>
            <a:r>
              <a:rPr lang="en-US" noProof="0"/>
              <a:t>    private String model;</a:t>
            </a:r>
          </a:p>
          <a:p>
            <a:pPr lvl="0"/>
            <a:r>
              <a:rPr lang="en-US" noProof="0"/>
              <a:t>    private int year;</a:t>
            </a:r>
          </a:p>
          <a:p>
            <a:pPr lvl="0"/>
            <a:r>
              <a:rPr lang="en-US" noProof="0"/>
              <a:t>    public void start() { …}</a:t>
            </a:r>
          </a:p>
          <a:p>
            <a:pPr lvl="0"/>
            <a:r>
              <a:rPr lang="en-US" noProof="0"/>
              <a:t>    public void stop() { … }</a:t>
            </a:r>
          </a:p>
          <a:p>
            <a:pPr lvl="0"/>
            <a:r>
              <a:rPr lang="en-US" noProof="0"/>
              <a:t>    public void accelerate() { … }</a:t>
            </a:r>
          </a:p>
          <a:p>
            <a:pPr lvl="0"/>
            <a:r>
              <a:rPr lang="en-US" noProof="0"/>
              <a:t>    public void brake() { … } </a:t>
            </a:r>
          </a:p>
          <a:p>
            <a:pPr lvl="0"/>
            <a:r>
              <a:rPr lang="en-US" noProof="0"/>
              <a:t>}</a:t>
            </a:r>
          </a:p>
          <a:p>
            <a:pPr lvl="0"/>
            <a:endParaRPr lang="en-US" noProof="0"/>
          </a:p>
          <a:p>
            <a:pPr lvl="0"/>
            <a:r>
              <a:rPr lang="en-US"/>
              <a:t>public class Car extends Vehicle {</a:t>
            </a:r>
          </a:p>
          <a:p>
            <a:pPr lvl="0"/>
            <a:r>
              <a:rPr lang="en-US"/>
              <a:t>    private int mileage;</a:t>
            </a:r>
          </a:p>
          <a:p>
            <a:pPr lvl="0"/>
            <a:r>
              <a:rPr lang="en-US"/>
              <a:t>    // getter and setter for mileage</a:t>
            </a:r>
          </a:p>
          <a:p>
            <a:pPr lvl="0"/>
            <a:r>
              <a:rPr lang="en-US" noProof="0"/>
              <a:t>}</a:t>
            </a:r>
          </a:p>
          <a:p>
            <a:pPr lvl="0"/>
            <a:r>
              <a:rPr lang="en-US" noProof="0"/>
              <a:t>public class Bicycle extends Vehicle {</a:t>
            </a:r>
          </a:p>
          <a:p>
            <a:pPr lvl="0"/>
            <a:r>
              <a:rPr lang="en-US" noProof="0"/>
              <a:t>    public void ringBell() { … }</a:t>
            </a:r>
            <a:br>
              <a:rPr lang="en-US" noProof="0"/>
            </a:br>
            <a:r>
              <a:rPr lang="en-US" noProof="0"/>
              <a:t>}</a:t>
            </a:r>
          </a:p>
          <a:p>
            <a:pPr lvl="0"/>
            <a:endParaRPr lang="en-US"/>
          </a:p>
          <a:p>
            <a:pPr lvl="0"/>
            <a:r>
              <a:rPr lang="en-US" noProof="0"/>
              <a:t>public static void main(String[] args) {</a:t>
            </a:r>
          </a:p>
          <a:p>
            <a:pPr lvl="0"/>
            <a:r>
              <a:rPr lang="en-US" noProof="0"/>
              <a:t>    Bicycle bicycle = new Bicycle();</a:t>
            </a:r>
          </a:p>
          <a:p>
            <a:pPr lvl="0"/>
            <a:r>
              <a:rPr lang="en-US"/>
              <a:t>    bicycle.start(); </a:t>
            </a:r>
          </a:p>
          <a:p>
            <a:pPr lvl="0"/>
            <a:r>
              <a:rPr lang="en-US" noProof="0"/>
              <a:t>    bicycle.ringBell();</a:t>
            </a:r>
          </a:p>
          <a:p>
            <a:pPr lvl="0"/>
            <a:r>
              <a:rPr lang="en-US"/>
              <a:t>}</a:t>
            </a:r>
            <a:endParaRPr lang="en-US" noProof="0"/>
          </a:p>
          <a:p>
            <a:endParaRPr lang="en-US" dirty="0"/>
          </a:p>
        </p:txBody>
      </p:sp>
      <p:sp>
        <p:nvSpPr>
          <p:cNvPr id="3" name="Title 2">
            <a:extLst>
              <a:ext uri="{FF2B5EF4-FFF2-40B4-BE49-F238E27FC236}">
                <a16:creationId xmlns:a16="http://schemas.microsoft.com/office/drawing/2014/main" id="{A098DDDB-C4C7-E8E0-F086-03D7BCA23264}"/>
              </a:ext>
            </a:extLst>
          </p:cNvPr>
          <p:cNvSpPr>
            <a:spLocks noGrp="1"/>
          </p:cNvSpPr>
          <p:nvPr>
            <p:ph type="title"/>
          </p:nvPr>
        </p:nvSpPr>
        <p:spPr/>
        <p:txBody>
          <a:bodyPr/>
          <a:lstStyle/>
          <a:p>
            <a:r>
              <a:rPr lang="en-US"/>
              <a:t>Inheritance</a:t>
            </a:r>
            <a:endParaRPr lang="en-US" dirty="0"/>
          </a:p>
        </p:txBody>
      </p:sp>
      <p:pic>
        <p:nvPicPr>
          <p:cNvPr id="5" name="Picture 2" descr="Best Cars of 2024 and 2025 - Top-Rated New Cars Ranked | KBB.com">
            <a:extLst>
              <a:ext uri="{FF2B5EF4-FFF2-40B4-BE49-F238E27FC236}">
                <a16:creationId xmlns:a16="http://schemas.microsoft.com/office/drawing/2014/main" id="{B5877ED5-45A7-59C3-B465-06AFDB986D5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0607" y="3622988"/>
            <a:ext cx="2372947" cy="96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oll: Bicycle Company A:1 Adventure Bike">
            <a:extLst>
              <a:ext uri="{FF2B5EF4-FFF2-40B4-BE49-F238E27FC236}">
                <a16:creationId xmlns:a16="http://schemas.microsoft.com/office/drawing/2014/main" id="{B54E5762-5243-1047-867D-EC881E5D818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87524" y="3603670"/>
            <a:ext cx="2065007" cy="1239004"/>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B5DF85DD-8550-6461-8521-756D5A26BECE}"/>
              </a:ext>
            </a:extLst>
          </p:cNvPr>
          <p:cNvSpPr/>
          <p:nvPr/>
        </p:nvSpPr>
        <p:spPr>
          <a:xfrm>
            <a:off x="1264356" y="1478844"/>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VEHICLE</a:t>
            </a:r>
          </a:p>
        </p:txBody>
      </p:sp>
      <p:cxnSp>
        <p:nvCxnSpPr>
          <p:cNvPr id="9" name="Straight Arrow Connector 8">
            <a:extLst>
              <a:ext uri="{FF2B5EF4-FFF2-40B4-BE49-F238E27FC236}">
                <a16:creationId xmlns:a16="http://schemas.microsoft.com/office/drawing/2014/main" id="{FD866D72-5F29-95A9-72A9-B123214244FB}"/>
              </a:ext>
            </a:extLst>
          </p:cNvPr>
          <p:cNvCxnSpPr>
            <a:stCxn id="7" idx="2"/>
            <a:endCxn id="5" idx="0"/>
          </p:cNvCxnSpPr>
          <p:nvPr/>
        </p:nvCxnSpPr>
        <p:spPr>
          <a:xfrm flipH="1">
            <a:off x="1547081" y="2494844"/>
            <a:ext cx="1088875" cy="1128144"/>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38DF7A2-5A34-59B7-470F-6B785EBCC41E}"/>
              </a:ext>
            </a:extLst>
          </p:cNvPr>
          <p:cNvCxnSpPr>
            <a:cxnSpLocks/>
            <a:stCxn id="7" idx="2"/>
            <a:endCxn id="6" idx="0"/>
          </p:cNvCxnSpPr>
          <p:nvPr/>
        </p:nvCxnSpPr>
        <p:spPr>
          <a:xfrm>
            <a:off x="2635956" y="2494844"/>
            <a:ext cx="1284072" cy="110882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835A2DD-5E59-01D3-9A1D-86362205AA4A}"/>
              </a:ext>
            </a:extLst>
          </p:cNvPr>
          <p:cNvSpPr txBox="1"/>
          <p:nvPr/>
        </p:nvSpPr>
        <p:spPr>
          <a:xfrm>
            <a:off x="587022" y="2856089"/>
            <a:ext cx="914400" cy="914400"/>
          </a:xfrm>
          <a:prstGeom prst="rect">
            <a:avLst/>
          </a:prstGeom>
          <a:noFill/>
        </p:spPr>
        <p:txBody>
          <a:bodyPr wrap="none" rtlCol="0">
            <a:noAutofit/>
          </a:bodyPr>
          <a:lstStyle/>
          <a:p>
            <a:pPr algn="l"/>
            <a:r>
              <a:rPr lang="en-US" sz="2400" b="1" i="1" dirty="0"/>
              <a:t>extends</a:t>
            </a:r>
          </a:p>
        </p:txBody>
      </p:sp>
      <p:sp>
        <p:nvSpPr>
          <p:cNvPr id="12" name="TextBox 11">
            <a:extLst>
              <a:ext uri="{FF2B5EF4-FFF2-40B4-BE49-F238E27FC236}">
                <a16:creationId xmlns:a16="http://schemas.microsoft.com/office/drawing/2014/main" id="{C4514180-FF91-24B7-DE67-852ADED1D9D6}"/>
              </a:ext>
            </a:extLst>
          </p:cNvPr>
          <p:cNvSpPr txBox="1"/>
          <p:nvPr/>
        </p:nvSpPr>
        <p:spPr>
          <a:xfrm>
            <a:off x="3577362" y="2809313"/>
            <a:ext cx="914400" cy="914400"/>
          </a:xfrm>
          <a:prstGeom prst="rect">
            <a:avLst/>
          </a:prstGeom>
          <a:noFill/>
        </p:spPr>
        <p:txBody>
          <a:bodyPr wrap="none" rtlCol="0">
            <a:noAutofit/>
          </a:bodyPr>
          <a:lstStyle/>
          <a:p>
            <a:pPr algn="l"/>
            <a:r>
              <a:rPr lang="en-US" sz="2400" b="1" i="1" dirty="0"/>
              <a:t>extends</a:t>
            </a:r>
          </a:p>
        </p:txBody>
      </p:sp>
      <p:sp>
        <p:nvSpPr>
          <p:cNvPr id="4" name="TextBox 3">
            <a:extLst>
              <a:ext uri="{FF2B5EF4-FFF2-40B4-BE49-F238E27FC236}">
                <a16:creationId xmlns:a16="http://schemas.microsoft.com/office/drawing/2014/main" id="{06B5B8EA-82D5-894C-7609-D8BA15ADD07F}"/>
              </a:ext>
            </a:extLst>
          </p:cNvPr>
          <p:cNvSpPr txBox="1"/>
          <p:nvPr/>
        </p:nvSpPr>
        <p:spPr>
          <a:xfrm>
            <a:off x="2887524" y="5458519"/>
            <a:ext cx="7715767" cy="461665"/>
          </a:xfrm>
          <a:prstGeom prst="rect">
            <a:avLst/>
          </a:prstGeom>
          <a:noFill/>
        </p:spPr>
        <p:txBody>
          <a:bodyPr wrap="none" rtlCol="0">
            <a:spAutoFit/>
          </a:bodyPr>
          <a:lstStyle/>
          <a:p>
            <a:r>
              <a:rPr lang="en-US" sz="2400" b="1" i="1" dirty="0"/>
              <a:t>What does it mean to instantiate an object of type Vehicle?</a:t>
            </a:r>
          </a:p>
        </p:txBody>
      </p:sp>
    </p:spTree>
    <p:extLst>
      <p:ext uri="{BB962C8B-B14F-4D97-AF65-F5344CB8AC3E}">
        <p14:creationId xmlns:p14="http://schemas.microsoft.com/office/powerpoint/2010/main" val="265762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A3608-A5BB-6A27-5E13-FE926B7E1960}"/>
            </a:ext>
          </a:extLst>
        </p:cNvPr>
        <p:cNvGrpSpPr/>
        <p:nvPr/>
      </p:nvGrpSpPr>
      <p:grpSpPr>
        <a:xfrm>
          <a:off x="0" y="0"/>
          <a:ext cx="0" cy="0"/>
          <a:chOff x="0" y="0"/>
          <a:chExt cx="0" cy="0"/>
        </a:xfrm>
      </p:grpSpPr>
      <p:sp>
        <p:nvSpPr>
          <p:cNvPr id="11" name="Content Placeholder 1">
            <a:extLst>
              <a:ext uri="{FF2B5EF4-FFF2-40B4-BE49-F238E27FC236}">
                <a16:creationId xmlns:a16="http://schemas.microsoft.com/office/drawing/2014/main" id="{D8A6037A-3CF5-3FE5-E668-5FACBC467D51}"/>
              </a:ext>
            </a:extLst>
          </p:cNvPr>
          <p:cNvSpPr>
            <a:spLocks noGrp="1"/>
          </p:cNvSpPr>
          <p:nvPr>
            <p:ph idx="1"/>
          </p:nvPr>
        </p:nvSpPr>
        <p:spPr/>
        <p:txBody>
          <a:bodyPr>
            <a:normAutofit lnSpcReduction="10000"/>
          </a:bodyPr>
          <a:lstStyle/>
          <a:p>
            <a:pPr lvl="0"/>
            <a:r>
              <a:rPr lang="en-US" noProof="0" dirty="0"/>
              <a:t>public abstract class Vehicle {</a:t>
            </a:r>
          </a:p>
          <a:p>
            <a:pPr lvl="0"/>
            <a:r>
              <a:rPr lang="en-US" dirty="0"/>
              <a:t>    </a:t>
            </a:r>
            <a:r>
              <a:rPr lang="en-US" noProof="0" dirty="0"/>
              <a:t>private String model;</a:t>
            </a:r>
          </a:p>
          <a:p>
            <a:pPr lvl="0"/>
            <a:r>
              <a:rPr lang="en-US" noProof="0" dirty="0"/>
              <a:t>    private int year;</a:t>
            </a:r>
          </a:p>
          <a:p>
            <a:pPr lvl="0"/>
            <a:r>
              <a:rPr lang="en-US" noProof="0" dirty="0"/>
              <a:t>    public void start() { …}</a:t>
            </a:r>
          </a:p>
          <a:p>
            <a:pPr lvl="0"/>
            <a:r>
              <a:rPr lang="en-US" noProof="0" dirty="0"/>
              <a:t>    public void stop() { … }</a:t>
            </a:r>
          </a:p>
          <a:p>
            <a:pPr lvl="0"/>
            <a:r>
              <a:rPr lang="en-US" noProof="0" dirty="0"/>
              <a:t>    public void accelerate() { … }</a:t>
            </a:r>
          </a:p>
          <a:p>
            <a:pPr lvl="0"/>
            <a:r>
              <a:rPr lang="en-US" noProof="0" dirty="0"/>
              <a:t>    public void brake() { … } </a:t>
            </a:r>
          </a:p>
          <a:p>
            <a:pPr lvl="0"/>
            <a:r>
              <a:rPr lang="en-US" noProof="0" dirty="0"/>
              <a:t>}</a:t>
            </a:r>
          </a:p>
          <a:p>
            <a:pPr lvl="0"/>
            <a:endParaRPr lang="en-US" noProof="0" dirty="0"/>
          </a:p>
          <a:p>
            <a:pPr lvl="0"/>
            <a:r>
              <a:rPr lang="en-US" dirty="0"/>
              <a:t>public class Car extends Vehicle {</a:t>
            </a:r>
          </a:p>
          <a:p>
            <a:pPr lvl="0"/>
            <a:r>
              <a:rPr lang="en-US" dirty="0"/>
              <a:t>    private int mileage;</a:t>
            </a:r>
          </a:p>
          <a:p>
            <a:pPr lvl="0"/>
            <a:r>
              <a:rPr lang="en-US" dirty="0"/>
              <a:t>    // getter and setter for mileage</a:t>
            </a:r>
          </a:p>
          <a:p>
            <a:pPr lvl="0"/>
            <a:r>
              <a:rPr lang="en-US" noProof="0" dirty="0"/>
              <a:t>}</a:t>
            </a:r>
          </a:p>
          <a:p>
            <a:pPr lvl="0"/>
            <a:r>
              <a:rPr lang="en-US" noProof="0" dirty="0"/>
              <a:t>public class Bicycle extends Vehicle {</a:t>
            </a:r>
          </a:p>
          <a:p>
            <a:pPr lvl="0"/>
            <a:r>
              <a:rPr lang="en-US" noProof="0" dirty="0"/>
              <a:t>    public void </a:t>
            </a:r>
            <a:r>
              <a:rPr lang="en-US" noProof="0" dirty="0" err="1"/>
              <a:t>ringBell</a:t>
            </a:r>
            <a:r>
              <a:rPr lang="en-US" noProof="0" dirty="0"/>
              <a:t>() { … }</a:t>
            </a:r>
            <a:br>
              <a:rPr lang="en-US" noProof="0" dirty="0"/>
            </a:br>
            <a:r>
              <a:rPr lang="en-US" noProof="0" dirty="0"/>
              <a:t>}</a:t>
            </a:r>
          </a:p>
          <a:p>
            <a:pPr lvl="0"/>
            <a:endParaRPr lang="en-US" dirty="0"/>
          </a:p>
          <a:p>
            <a:pPr lvl="0"/>
            <a:r>
              <a:rPr lang="en-US" noProof="0" dirty="0"/>
              <a:t>public static void main(String[] </a:t>
            </a:r>
            <a:r>
              <a:rPr lang="en-US" noProof="0" dirty="0" err="1"/>
              <a:t>args</a:t>
            </a:r>
            <a:r>
              <a:rPr lang="en-US" noProof="0" dirty="0"/>
              <a:t>) {</a:t>
            </a:r>
          </a:p>
          <a:p>
            <a:pPr lvl="0"/>
            <a:r>
              <a:rPr lang="en-US" noProof="0" dirty="0"/>
              <a:t>    Vehicle </a:t>
            </a:r>
            <a:r>
              <a:rPr lang="en-US" noProof="0" dirty="0" err="1"/>
              <a:t>vehicle</a:t>
            </a:r>
            <a:r>
              <a:rPr lang="en-US" noProof="0" dirty="0"/>
              <a:t> = new Vehicle(); </a:t>
            </a:r>
            <a:r>
              <a:rPr lang="en-US" b="1" noProof="0" dirty="0">
                <a:solidFill>
                  <a:srgbClr val="C00000"/>
                </a:solidFill>
              </a:rPr>
              <a:t>// Compiler error!!</a:t>
            </a:r>
          </a:p>
          <a:p>
            <a:pPr lvl="0"/>
            <a:r>
              <a:rPr lang="en-US" dirty="0"/>
              <a:t>}</a:t>
            </a:r>
            <a:endParaRPr lang="en-US" noProof="0" dirty="0"/>
          </a:p>
          <a:p>
            <a:endParaRPr lang="en-US" dirty="0"/>
          </a:p>
        </p:txBody>
      </p:sp>
      <p:sp>
        <p:nvSpPr>
          <p:cNvPr id="3" name="Title 2">
            <a:extLst>
              <a:ext uri="{FF2B5EF4-FFF2-40B4-BE49-F238E27FC236}">
                <a16:creationId xmlns:a16="http://schemas.microsoft.com/office/drawing/2014/main" id="{18CD4B47-FF9F-5173-EA67-8F6AF147F09D}"/>
              </a:ext>
            </a:extLst>
          </p:cNvPr>
          <p:cNvSpPr>
            <a:spLocks noGrp="1"/>
          </p:cNvSpPr>
          <p:nvPr>
            <p:ph type="title"/>
          </p:nvPr>
        </p:nvSpPr>
        <p:spPr/>
        <p:txBody>
          <a:bodyPr/>
          <a:lstStyle/>
          <a:p>
            <a:r>
              <a:rPr lang="en-US"/>
              <a:t>Abstraction via abstract classes</a:t>
            </a:r>
            <a:endParaRPr lang="en-US" dirty="0"/>
          </a:p>
        </p:txBody>
      </p:sp>
      <p:sp>
        <p:nvSpPr>
          <p:cNvPr id="7" name="Content Placeholder 6">
            <a:extLst>
              <a:ext uri="{FF2B5EF4-FFF2-40B4-BE49-F238E27FC236}">
                <a16:creationId xmlns:a16="http://schemas.microsoft.com/office/drawing/2014/main" id="{DFCC383D-2875-6431-AEA4-3EE2E93A21CA}"/>
              </a:ext>
            </a:extLst>
          </p:cNvPr>
          <p:cNvSpPr>
            <a:spLocks noGrp="1"/>
          </p:cNvSpPr>
          <p:nvPr>
            <p:ph idx="13"/>
          </p:nvPr>
        </p:nvSpPr>
        <p:spPr/>
        <p:txBody>
          <a:bodyPr/>
          <a:lstStyle/>
          <a:p>
            <a:r>
              <a:rPr lang="en-US" dirty="0"/>
              <a:t>An abstract class cannot be instantiated</a:t>
            </a:r>
          </a:p>
          <a:p>
            <a:r>
              <a:rPr lang="en-US" dirty="0"/>
              <a:t>Must be extended</a:t>
            </a:r>
          </a:p>
          <a:p>
            <a:r>
              <a:rPr lang="en-US" dirty="0"/>
              <a:t>Subclass must implement all unimplemented methods</a:t>
            </a:r>
          </a:p>
          <a:p>
            <a:pPr marL="0" indent="0">
              <a:buNone/>
            </a:pPr>
            <a:endParaRPr lang="en-US" dirty="0"/>
          </a:p>
        </p:txBody>
      </p:sp>
      <p:sp>
        <p:nvSpPr>
          <p:cNvPr id="8" name="Rectangle 7">
            <a:extLst>
              <a:ext uri="{FF2B5EF4-FFF2-40B4-BE49-F238E27FC236}">
                <a16:creationId xmlns:a16="http://schemas.microsoft.com/office/drawing/2014/main" id="{A5ECB322-4BFB-C83B-6521-1EDDBC1B6C6D}"/>
              </a:ext>
            </a:extLst>
          </p:cNvPr>
          <p:cNvSpPr/>
          <p:nvPr/>
        </p:nvSpPr>
        <p:spPr>
          <a:xfrm>
            <a:off x="6176512" y="785004"/>
            <a:ext cx="4197977" cy="1879174"/>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98F386FE-A0E2-5011-FA83-CF8B6F493798}"/>
              </a:ext>
            </a:extLst>
          </p:cNvPr>
          <p:cNvSpPr/>
          <p:nvPr/>
        </p:nvSpPr>
        <p:spPr>
          <a:xfrm>
            <a:off x="6176512" y="470789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042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6B7280-350D-C6F7-74BD-3FF02D737793}"/>
              </a:ext>
            </a:extLst>
          </p:cNvPr>
          <p:cNvSpPr>
            <a:spLocks noGrp="1"/>
          </p:cNvSpPr>
          <p:nvPr>
            <p:ph type="title"/>
          </p:nvPr>
        </p:nvSpPr>
        <p:spPr/>
        <p:txBody>
          <a:bodyPr/>
          <a:lstStyle/>
          <a:p>
            <a:r>
              <a:rPr lang="en-US"/>
              <a:t>Abstraction via interfaces</a:t>
            </a:r>
            <a:endParaRPr lang="en-US" dirty="0"/>
          </a:p>
        </p:txBody>
      </p:sp>
      <p:sp>
        <p:nvSpPr>
          <p:cNvPr id="13" name="Content Placeholder 12">
            <a:extLst>
              <a:ext uri="{FF2B5EF4-FFF2-40B4-BE49-F238E27FC236}">
                <a16:creationId xmlns:a16="http://schemas.microsoft.com/office/drawing/2014/main" id="{A8783D3A-1448-B790-BF92-19E6B23E2C51}"/>
              </a:ext>
            </a:extLst>
          </p:cNvPr>
          <p:cNvSpPr>
            <a:spLocks noGrp="1"/>
          </p:cNvSpPr>
          <p:nvPr>
            <p:ph idx="13"/>
          </p:nvPr>
        </p:nvSpPr>
        <p:spPr/>
        <p:txBody>
          <a:bodyPr/>
          <a:lstStyle/>
          <a:p>
            <a:r>
              <a:rPr lang="en-US" dirty="0"/>
              <a:t>Defines a contract for what a class must do but now how</a:t>
            </a:r>
          </a:p>
          <a:p>
            <a:r>
              <a:rPr lang="en-US" dirty="0"/>
              <a:t>Supports multiple inheritance</a:t>
            </a:r>
          </a:p>
          <a:p>
            <a:r>
              <a:rPr lang="en-US" dirty="0"/>
              <a:t>All methods in interface are abstract by default</a:t>
            </a:r>
          </a:p>
          <a:p>
            <a:r>
              <a:rPr lang="en-US" dirty="0"/>
              <a:t>Cannot instantiate interfaces</a:t>
            </a:r>
          </a:p>
          <a:p>
            <a:endParaRPr lang="en-US" dirty="0"/>
          </a:p>
        </p:txBody>
      </p:sp>
      <p:pic>
        <p:nvPicPr>
          <p:cNvPr id="5" name="Picture 10" descr="True Fine 16.5-in Brushed Steel LED Touch Table Lamp with Fabric Shade  20080T-BN at Lowes.com">
            <a:extLst>
              <a:ext uri="{FF2B5EF4-FFF2-40B4-BE49-F238E27FC236}">
                <a16:creationId xmlns:a16="http://schemas.microsoft.com/office/drawing/2014/main" id="{29A950E3-AE46-7200-7687-660017BDE32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1155" y="3081716"/>
            <a:ext cx="1995422" cy="199542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2" descr="Twinkle Twinkle Little Firefly - Humane Gardener">
            <a:extLst>
              <a:ext uri="{FF2B5EF4-FFF2-40B4-BE49-F238E27FC236}">
                <a16:creationId xmlns:a16="http://schemas.microsoft.com/office/drawing/2014/main" id="{66D4BCAF-122E-FB38-0BCC-0A0FE510C13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1995" y="3081716"/>
            <a:ext cx="3330859" cy="1873175"/>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1BE16555-21E5-8246-EF77-EB62A9013FE3}"/>
              </a:ext>
            </a:extLst>
          </p:cNvPr>
          <p:cNvSpPr/>
          <p:nvPr/>
        </p:nvSpPr>
        <p:spPr>
          <a:xfrm>
            <a:off x="7789334" y="1189150"/>
            <a:ext cx="2743200" cy="101600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2800" dirty="0"/>
              <a:t>ILLUMINATABLE</a:t>
            </a:r>
          </a:p>
        </p:txBody>
      </p:sp>
      <p:cxnSp>
        <p:nvCxnSpPr>
          <p:cNvPr id="8" name="Straight Arrow Connector 7">
            <a:extLst>
              <a:ext uri="{FF2B5EF4-FFF2-40B4-BE49-F238E27FC236}">
                <a16:creationId xmlns:a16="http://schemas.microsoft.com/office/drawing/2014/main" id="{9FF28C80-562E-127A-07D6-E01DC9217356}"/>
              </a:ext>
            </a:extLst>
          </p:cNvPr>
          <p:cNvCxnSpPr>
            <a:cxnSpLocks/>
            <a:stCxn id="7" idx="2"/>
            <a:endCxn id="6" idx="0"/>
          </p:cNvCxnSpPr>
          <p:nvPr/>
        </p:nvCxnSpPr>
        <p:spPr>
          <a:xfrm flipH="1">
            <a:off x="7837425" y="2205150"/>
            <a:ext cx="1323509"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0282A1E-ACB9-C79A-0EC9-433AA57A5591}"/>
              </a:ext>
            </a:extLst>
          </p:cNvPr>
          <p:cNvCxnSpPr>
            <a:cxnSpLocks/>
            <a:stCxn id="7" idx="2"/>
            <a:endCxn id="5" idx="0"/>
          </p:cNvCxnSpPr>
          <p:nvPr/>
        </p:nvCxnSpPr>
        <p:spPr>
          <a:xfrm>
            <a:off x="9160934" y="2205150"/>
            <a:ext cx="1547932" cy="876566"/>
          </a:xfrm>
          <a:prstGeom prst="straightConnector1">
            <a:avLst/>
          </a:prstGeom>
          <a:ln w="28575">
            <a:solidFill>
              <a:schemeClr val="tx1">
                <a:lumMod val="65000"/>
                <a:lumOff val="35000"/>
              </a:schemeClr>
            </a:solidFill>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27CCEC2-529F-F22E-E6A9-06F56CB337C8}"/>
              </a:ext>
            </a:extLst>
          </p:cNvPr>
          <p:cNvSpPr txBox="1"/>
          <p:nvPr/>
        </p:nvSpPr>
        <p:spPr>
          <a:xfrm>
            <a:off x="6340853" y="2314807"/>
            <a:ext cx="1674257" cy="914400"/>
          </a:xfrm>
          <a:prstGeom prst="rect">
            <a:avLst/>
          </a:prstGeom>
          <a:noFill/>
        </p:spPr>
        <p:txBody>
          <a:bodyPr wrap="none" rtlCol="0">
            <a:noAutofit/>
          </a:bodyPr>
          <a:lstStyle/>
          <a:p>
            <a:pPr algn="l"/>
            <a:r>
              <a:rPr lang="en-US" sz="2400" b="1" i="1" dirty="0"/>
              <a:t>implements</a:t>
            </a:r>
          </a:p>
        </p:txBody>
      </p:sp>
      <p:sp>
        <p:nvSpPr>
          <p:cNvPr id="15" name="TextBox 14">
            <a:extLst>
              <a:ext uri="{FF2B5EF4-FFF2-40B4-BE49-F238E27FC236}">
                <a16:creationId xmlns:a16="http://schemas.microsoft.com/office/drawing/2014/main" id="{B31E1512-FA58-1FF7-CC47-F527B3336CB4}"/>
              </a:ext>
            </a:extLst>
          </p:cNvPr>
          <p:cNvSpPr txBox="1"/>
          <p:nvPr/>
        </p:nvSpPr>
        <p:spPr>
          <a:xfrm>
            <a:off x="10240621" y="2274671"/>
            <a:ext cx="1674257" cy="914400"/>
          </a:xfrm>
          <a:prstGeom prst="rect">
            <a:avLst/>
          </a:prstGeom>
          <a:noFill/>
        </p:spPr>
        <p:txBody>
          <a:bodyPr wrap="none" rtlCol="0">
            <a:noAutofit/>
          </a:bodyPr>
          <a:lstStyle/>
          <a:p>
            <a:pPr algn="l"/>
            <a:r>
              <a:rPr lang="en-US" sz="2400" b="1" i="1" dirty="0"/>
              <a:t>implements</a:t>
            </a:r>
          </a:p>
        </p:txBody>
      </p:sp>
    </p:spTree>
    <p:extLst>
      <p:ext uri="{BB962C8B-B14F-4D97-AF65-F5344CB8AC3E}">
        <p14:creationId xmlns:p14="http://schemas.microsoft.com/office/powerpoint/2010/main" val="24041723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D44F8-E88D-BED5-AEB2-DCB900F8C21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B6500-F246-F35D-06B3-854075A682BF}"/>
              </a:ext>
            </a:extLst>
          </p:cNvPr>
          <p:cNvSpPr>
            <a:spLocks noGrp="1"/>
          </p:cNvSpPr>
          <p:nvPr>
            <p:ph idx="1"/>
          </p:nvPr>
        </p:nvSpPr>
        <p:spPr/>
        <p:txBody>
          <a:bodyPr/>
          <a:lstStyle/>
          <a:p>
            <a:pPr>
              <a:defRPr/>
            </a:pPr>
            <a:r>
              <a:rPr lang="en-US" dirty="0">
                <a:solidFill>
                  <a:prstClr val="black"/>
                </a:solidFill>
              </a:rPr>
              <a:t>public interface </a:t>
            </a:r>
            <a:r>
              <a:rPr lang="en-US" dirty="0" err="1">
                <a:solidFill>
                  <a:prstClr val="black"/>
                </a:solidFill>
              </a:rPr>
              <a:t>Illuminatable</a:t>
            </a:r>
            <a:r>
              <a:rPr lang="en-US" dirty="0">
                <a:solidFill>
                  <a:prstClr val="black"/>
                </a:solidFill>
              </a:rPr>
              <a:t> {</a:t>
            </a:r>
          </a:p>
          <a:p>
            <a:pPr>
              <a:defRPr/>
            </a:pPr>
            <a:r>
              <a:rPr lang="en-US" dirty="0">
                <a:solidFill>
                  <a:prstClr val="black"/>
                </a:solidFill>
              </a:rPr>
              <a:t>    void </a:t>
            </a:r>
            <a:r>
              <a:rPr lang="en-US" dirty="0" err="1">
                <a:solidFill>
                  <a:prstClr val="black"/>
                </a:solidFill>
              </a:rPr>
              <a:t>emitLight</a:t>
            </a:r>
            <a:r>
              <a:rPr lang="en-US" dirty="0">
                <a:solidFill>
                  <a:prstClr val="black"/>
                </a:solidFill>
              </a:rPr>
              <a:t>();</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Lamp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(“Lamp emits light!”);</a:t>
            </a:r>
          </a:p>
          <a:p>
            <a:pPr>
              <a:defRPr/>
            </a:pPr>
            <a:r>
              <a:rPr lang="en-US" dirty="0">
                <a:solidFill>
                  <a:prstClr val="black"/>
                </a:solidFill>
              </a:rPr>
              <a:t>    }</a:t>
            </a:r>
          </a:p>
          <a:p>
            <a:pPr>
              <a:defRPr/>
            </a:pPr>
            <a:r>
              <a:rPr lang="en-US" dirty="0">
                <a:solidFill>
                  <a:prstClr val="black"/>
                </a:solidFill>
              </a:rPr>
              <a:t>}</a:t>
            </a:r>
          </a:p>
          <a:p>
            <a:pPr>
              <a:defRPr/>
            </a:pPr>
            <a:endParaRPr lang="en-US" dirty="0">
              <a:solidFill>
                <a:prstClr val="black"/>
              </a:solidFill>
            </a:endParaRPr>
          </a:p>
          <a:p>
            <a:pPr>
              <a:defRPr/>
            </a:pPr>
            <a:r>
              <a:rPr lang="en-US" dirty="0">
                <a:solidFill>
                  <a:prstClr val="black"/>
                </a:solidFill>
              </a:rPr>
              <a:t>public class Firefly implements </a:t>
            </a:r>
            <a:r>
              <a:rPr lang="en-US" dirty="0" err="1">
                <a:solidFill>
                  <a:prstClr val="black"/>
                </a:solidFill>
              </a:rPr>
              <a:t>Illuminatable</a:t>
            </a:r>
            <a:r>
              <a:rPr lang="en-US" dirty="0">
                <a:solidFill>
                  <a:prstClr val="black"/>
                </a:solidFill>
              </a:rPr>
              <a:t> {</a:t>
            </a:r>
          </a:p>
          <a:p>
            <a:pPr>
              <a:defRPr/>
            </a:pPr>
            <a:r>
              <a:rPr lang="en-US" dirty="0">
                <a:solidFill>
                  <a:prstClr val="black"/>
                </a:solidFill>
              </a:rPr>
              <a:t>    public void </a:t>
            </a:r>
            <a:r>
              <a:rPr lang="en-US" dirty="0" err="1">
                <a:solidFill>
                  <a:prstClr val="black"/>
                </a:solidFill>
              </a:rPr>
              <a:t>emitLight</a:t>
            </a:r>
            <a:r>
              <a:rPr lang="en-US" dirty="0">
                <a:solidFill>
                  <a:prstClr val="black"/>
                </a:solidFill>
              </a:rPr>
              <a:t>() {</a:t>
            </a:r>
          </a:p>
          <a:p>
            <a:pPr>
              <a:defRPr/>
            </a:pPr>
            <a:r>
              <a:rPr lang="en-US" dirty="0">
                <a:solidFill>
                  <a:prstClr val="black"/>
                </a:solidFill>
              </a:rPr>
              <a:t>	</a:t>
            </a:r>
            <a:r>
              <a:rPr lang="en-US" dirty="0" err="1">
                <a:solidFill>
                  <a:prstClr val="black"/>
                </a:solidFill>
              </a:rPr>
              <a:t>System.out.println</a:t>
            </a:r>
            <a:r>
              <a:rPr lang="en-US" dirty="0">
                <a:solidFill>
                  <a:prstClr val="black"/>
                </a:solidFill>
              </a:rPr>
              <a:t>(“Firefly emits light”);</a:t>
            </a:r>
          </a:p>
          <a:p>
            <a:pPr>
              <a:defRPr/>
            </a:pPr>
            <a:r>
              <a:rPr lang="en-US" dirty="0">
                <a:solidFill>
                  <a:prstClr val="black"/>
                </a:solidFill>
              </a:rPr>
              <a:t>    }</a:t>
            </a:r>
          </a:p>
          <a:p>
            <a:pPr>
              <a:defRPr/>
            </a:pPr>
            <a:r>
              <a:rPr lang="en-US" dirty="0">
                <a:solidFill>
                  <a:prstClr val="black"/>
                </a:solidFill>
              </a:rPr>
              <a:t>}</a:t>
            </a:r>
          </a:p>
          <a:p>
            <a:endParaRPr lang="en-US" dirty="0"/>
          </a:p>
        </p:txBody>
      </p:sp>
      <p:sp>
        <p:nvSpPr>
          <p:cNvPr id="3" name="Title 2">
            <a:extLst>
              <a:ext uri="{FF2B5EF4-FFF2-40B4-BE49-F238E27FC236}">
                <a16:creationId xmlns:a16="http://schemas.microsoft.com/office/drawing/2014/main" id="{006FDFD5-0734-8CAB-5F71-B8ABE6092975}"/>
              </a:ext>
            </a:extLst>
          </p:cNvPr>
          <p:cNvSpPr>
            <a:spLocks noGrp="1"/>
          </p:cNvSpPr>
          <p:nvPr>
            <p:ph type="title"/>
          </p:nvPr>
        </p:nvSpPr>
        <p:spPr/>
        <p:txBody>
          <a:bodyPr/>
          <a:lstStyle/>
          <a:p>
            <a:r>
              <a:rPr lang="en-US"/>
              <a:t>Abstraction via interfaces</a:t>
            </a:r>
            <a:endParaRPr lang="en-US" dirty="0"/>
          </a:p>
        </p:txBody>
      </p:sp>
      <p:sp>
        <p:nvSpPr>
          <p:cNvPr id="8" name="Content Placeholder 7">
            <a:extLst>
              <a:ext uri="{FF2B5EF4-FFF2-40B4-BE49-F238E27FC236}">
                <a16:creationId xmlns:a16="http://schemas.microsoft.com/office/drawing/2014/main" id="{81497EB9-26CA-1578-CDC9-07B07D61497E}"/>
              </a:ext>
            </a:extLst>
          </p:cNvPr>
          <p:cNvSpPr>
            <a:spLocks noGrp="1"/>
          </p:cNvSpPr>
          <p:nvPr>
            <p:ph idx="13"/>
          </p:nvPr>
        </p:nvSpPr>
        <p:spPr/>
        <p:txBody>
          <a:bodyPr/>
          <a:lstStyle/>
          <a:p>
            <a:r>
              <a:rPr lang="en-US" dirty="0"/>
              <a:t>Defines a contract for what a class must do but now how</a:t>
            </a:r>
          </a:p>
          <a:p>
            <a:r>
              <a:rPr lang="en-US" dirty="0"/>
              <a:t>Supports multiple inheritance</a:t>
            </a:r>
          </a:p>
          <a:p>
            <a:r>
              <a:rPr lang="en-US" dirty="0"/>
              <a:t>All methods in interface are abstract by default</a:t>
            </a:r>
          </a:p>
          <a:p>
            <a:r>
              <a:rPr lang="en-US" dirty="0"/>
              <a:t>Cannot instantiate interfaces</a:t>
            </a:r>
          </a:p>
          <a:p>
            <a:endParaRPr lang="en-US" dirty="0"/>
          </a:p>
        </p:txBody>
      </p:sp>
    </p:spTree>
    <p:extLst>
      <p:ext uri="{BB962C8B-B14F-4D97-AF65-F5344CB8AC3E}">
        <p14:creationId xmlns:p14="http://schemas.microsoft.com/office/powerpoint/2010/main" val="2543801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D1561A-32FF-1E46-2BE7-8DD8E1105582}"/>
              </a:ext>
            </a:extLst>
          </p:cNvPr>
          <p:cNvSpPr>
            <a:spLocks noGrp="1"/>
          </p:cNvSpPr>
          <p:nvPr>
            <p:ph idx="1"/>
          </p:nvPr>
        </p:nvSpPr>
        <p:spPr/>
        <p:txBody>
          <a:bodyPr>
            <a:normAutofit fontScale="92500" lnSpcReduction="10000"/>
          </a:bodyPr>
          <a:lstStyle/>
          <a:p>
            <a:pPr>
              <a:defRPr/>
            </a:pPr>
            <a:r>
              <a:rPr lang="en-US" dirty="0"/>
              <a:t>public class Bicycle {</a:t>
            </a:r>
            <a:br>
              <a:rPr lang="en-US" dirty="0"/>
            </a:br>
            <a:r>
              <a:rPr lang="en-US" dirty="0"/>
              <a:t>    private int speed = 8;</a:t>
            </a:r>
          </a:p>
          <a:p>
            <a:pPr>
              <a:defRPr/>
            </a:pPr>
            <a:r>
              <a:rPr lang="en-US" dirty="0"/>
              <a:t>    public void accelerate() {</a:t>
            </a:r>
          </a:p>
          <a:p>
            <a:pPr>
              <a:defRPr/>
            </a:pPr>
            <a:r>
              <a:rPr lang="en-US" dirty="0"/>
              <a:t>    	 </a:t>
            </a:r>
            <a:r>
              <a:rPr lang="en-US" dirty="0" err="1"/>
              <a:t>this.speed</a:t>
            </a:r>
            <a:r>
              <a:rPr lang="en-US" dirty="0"/>
              <a:t>+=5;</a:t>
            </a:r>
          </a:p>
          <a:p>
            <a:pPr>
              <a:defRPr/>
            </a:pPr>
            <a:r>
              <a:rPr lang="en-US" dirty="0"/>
              <a:t>    }</a:t>
            </a:r>
          </a:p>
          <a:p>
            <a:pPr>
              <a:defRPr/>
            </a:pPr>
            <a:r>
              <a:rPr lang="en-US" dirty="0"/>
              <a:t>}</a:t>
            </a:r>
          </a:p>
          <a:p>
            <a:pPr>
              <a:defRPr/>
            </a:pPr>
            <a:endParaRPr lang="en-US" dirty="0"/>
          </a:p>
          <a:p>
            <a:pPr>
              <a:defRPr/>
            </a:pPr>
            <a:r>
              <a:rPr lang="en-US" dirty="0"/>
              <a:t>public class </a:t>
            </a:r>
            <a:r>
              <a:rPr lang="en-US" dirty="0" err="1"/>
              <a:t>ElectricBicycle</a:t>
            </a:r>
            <a:r>
              <a:rPr lang="en-US" dirty="0"/>
              <a:t> extends Bicycle{</a:t>
            </a:r>
          </a:p>
          <a:p>
            <a:pPr>
              <a:defRPr/>
            </a:pPr>
            <a:r>
              <a:rPr lang="en-US" dirty="0"/>
              <a:t>    public void accelerate() {</a:t>
            </a:r>
          </a:p>
          <a:p>
            <a:pPr>
              <a:defRPr/>
            </a:pPr>
            <a:r>
              <a:rPr lang="en-US" dirty="0"/>
              <a:t>     </a:t>
            </a:r>
            <a:r>
              <a:rPr lang="en-US" dirty="0" err="1"/>
              <a:t>this.speed</a:t>
            </a:r>
            <a:r>
              <a:rPr lang="en-US" dirty="0"/>
              <a:t>+=10;</a:t>
            </a:r>
          </a:p>
          <a:p>
            <a:pPr>
              <a:defRPr/>
            </a:pPr>
            <a:r>
              <a:rPr lang="en-US" dirty="0"/>
              <a:t>    }</a:t>
            </a:r>
          </a:p>
          <a:p>
            <a:pPr>
              <a:defRPr/>
            </a:pPr>
            <a:r>
              <a:rPr lang="en-US" dirty="0"/>
              <a:t>}</a:t>
            </a:r>
          </a:p>
          <a:p>
            <a:pPr>
              <a:defRPr/>
            </a:pPr>
            <a:endParaRPr lang="en-US" dirty="0"/>
          </a:p>
          <a:p>
            <a:pPr>
              <a:defRPr/>
            </a:pPr>
            <a:r>
              <a:rPr lang="en-US" dirty="0"/>
              <a:t>public static void main(String[] </a:t>
            </a:r>
            <a:r>
              <a:rPr lang="en-US" dirty="0" err="1"/>
              <a:t>args</a:t>
            </a:r>
            <a:r>
              <a:rPr lang="en-US" dirty="0"/>
              <a:t>) {</a:t>
            </a:r>
          </a:p>
          <a:p>
            <a:pPr>
              <a:defRPr/>
            </a:pPr>
            <a:r>
              <a:rPr lang="en-US" dirty="0"/>
              <a:t>    Bicycle b = new Bicycle();</a:t>
            </a:r>
          </a:p>
          <a:p>
            <a:pPr>
              <a:defRPr/>
            </a:pPr>
            <a:r>
              <a:rPr lang="en-US" dirty="0"/>
              <a:t>    accelerate(b); // call’s Bike</a:t>
            </a:r>
          </a:p>
          <a:p>
            <a:pPr>
              <a:defRPr/>
            </a:pPr>
            <a:r>
              <a:rPr lang="en-US" dirty="0"/>
              <a:t>    </a:t>
            </a:r>
            <a:r>
              <a:rPr lang="en-US" dirty="0" err="1"/>
              <a:t>ElectricBike</a:t>
            </a:r>
            <a:r>
              <a:rPr lang="en-US" dirty="0"/>
              <a:t> e = new </a:t>
            </a:r>
            <a:r>
              <a:rPr lang="en-US" dirty="0" err="1"/>
              <a:t>ElectricBike</a:t>
            </a:r>
            <a:r>
              <a:rPr lang="en-US" dirty="0"/>
              <a:t>();</a:t>
            </a:r>
          </a:p>
          <a:p>
            <a:pPr>
              <a:defRPr/>
            </a:pPr>
            <a:r>
              <a:rPr lang="en-US" dirty="0"/>
              <a:t>    accelerate(e); // call’s </a:t>
            </a:r>
            <a:r>
              <a:rPr lang="en-US" dirty="0" err="1"/>
              <a:t>ElectricBike</a:t>
            </a:r>
            <a:endParaRPr lang="en-US" dirty="0"/>
          </a:p>
          <a:p>
            <a:pPr>
              <a:defRPr/>
            </a:pPr>
            <a:r>
              <a:rPr lang="en-US" dirty="0"/>
              <a:t>}</a:t>
            </a:r>
            <a:br>
              <a:rPr lang="en-US" dirty="0"/>
            </a:br>
            <a:br>
              <a:rPr lang="en-US" dirty="0"/>
            </a:br>
            <a:r>
              <a:rPr lang="en-US" dirty="0"/>
              <a:t>public static void accelerate(Bicycle b) {</a:t>
            </a:r>
            <a:br>
              <a:rPr lang="en-US" dirty="0"/>
            </a:br>
            <a:r>
              <a:rPr lang="en-US" dirty="0"/>
              <a:t>    </a:t>
            </a:r>
            <a:r>
              <a:rPr lang="en-US" dirty="0" err="1"/>
              <a:t>b.accelerate</a:t>
            </a:r>
            <a:r>
              <a:rPr lang="en-US" dirty="0"/>
              <a:t>();</a:t>
            </a:r>
            <a:br>
              <a:rPr lang="en-US" dirty="0"/>
            </a:br>
            <a:r>
              <a:rPr lang="en-US" dirty="0"/>
              <a:t>}</a:t>
            </a:r>
          </a:p>
          <a:p>
            <a:endParaRPr lang="en-US" dirty="0"/>
          </a:p>
          <a:p>
            <a:endParaRPr lang="en-US" dirty="0"/>
          </a:p>
        </p:txBody>
      </p:sp>
      <p:sp>
        <p:nvSpPr>
          <p:cNvPr id="3" name="Title 2">
            <a:extLst>
              <a:ext uri="{FF2B5EF4-FFF2-40B4-BE49-F238E27FC236}">
                <a16:creationId xmlns:a16="http://schemas.microsoft.com/office/drawing/2014/main" id="{81B5EECD-034B-9443-1931-D3AC20F86A93}"/>
              </a:ext>
            </a:extLst>
          </p:cNvPr>
          <p:cNvSpPr>
            <a:spLocks noGrp="1"/>
          </p:cNvSpPr>
          <p:nvPr>
            <p:ph type="title"/>
          </p:nvPr>
        </p:nvSpPr>
        <p:spPr/>
        <p:txBody>
          <a:bodyPr/>
          <a:lstStyle/>
          <a:p>
            <a:r>
              <a:rPr lang="en-US" dirty="0"/>
              <a:t>Runtime polymorphism</a:t>
            </a:r>
          </a:p>
        </p:txBody>
      </p:sp>
      <p:sp>
        <p:nvSpPr>
          <p:cNvPr id="9" name="Content Placeholder 8">
            <a:extLst>
              <a:ext uri="{FF2B5EF4-FFF2-40B4-BE49-F238E27FC236}">
                <a16:creationId xmlns:a16="http://schemas.microsoft.com/office/drawing/2014/main" id="{D5625532-D64C-84D5-8A97-D41D0E61A69E}"/>
              </a:ext>
            </a:extLst>
          </p:cNvPr>
          <p:cNvSpPr>
            <a:spLocks noGrp="1"/>
          </p:cNvSpPr>
          <p:nvPr>
            <p:ph idx="13"/>
          </p:nvPr>
        </p:nvSpPr>
        <p:spPr/>
        <p:txBody>
          <a:bodyPr>
            <a:normAutofit lnSpcReduction="10000"/>
          </a:bodyPr>
          <a:lstStyle/>
          <a:p>
            <a:r>
              <a:rPr lang="en-US" dirty="0"/>
              <a:t>Real power behind inheritance</a:t>
            </a:r>
          </a:p>
          <a:p>
            <a:r>
              <a:rPr lang="en-US" dirty="0"/>
              <a:t>A parent type reference can point to a child type object</a:t>
            </a:r>
          </a:p>
          <a:p>
            <a:r>
              <a:rPr lang="en-US" dirty="0"/>
              <a:t>The method to be invoked is determined at runtime, depending on the type of object</a:t>
            </a:r>
          </a:p>
          <a:p>
            <a:r>
              <a:rPr lang="en-US" dirty="0"/>
              <a:t>Key feature supporting design patterns, frameworks, and many more</a:t>
            </a:r>
          </a:p>
        </p:txBody>
      </p:sp>
      <p:sp>
        <p:nvSpPr>
          <p:cNvPr id="10" name="Rectangle 9">
            <a:extLst>
              <a:ext uri="{FF2B5EF4-FFF2-40B4-BE49-F238E27FC236}">
                <a16:creationId xmlns:a16="http://schemas.microsoft.com/office/drawing/2014/main" id="{B84184D8-D427-36EF-6840-0D9BBFA658B6}"/>
              </a:ext>
            </a:extLst>
          </p:cNvPr>
          <p:cNvSpPr/>
          <p:nvPr/>
        </p:nvSpPr>
        <p:spPr>
          <a:xfrm>
            <a:off x="6176512" y="1223246"/>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DD2AFA45-2D3E-E3B8-770B-EC887CEE14F2}"/>
              </a:ext>
            </a:extLst>
          </p:cNvPr>
          <p:cNvSpPr/>
          <p:nvPr/>
        </p:nvSpPr>
        <p:spPr>
          <a:xfrm>
            <a:off x="6176512" y="2430729"/>
            <a:ext cx="5023556" cy="61684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2" name="Rectangle 11">
            <a:extLst>
              <a:ext uri="{FF2B5EF4-FFF2-40B4-BE49-F238E27FC236}">
                <a16:creationId xmlns:a16="http://schemas.microsoft.com/office/drawing/2014/main" id="{4A69D482-6EB1-67ED-5300-E3120A69BD6E}"/>
              </a:ext>
            </a:extLst>
          </p:cNvPr>
          <p:cNvSpPr/>
          <p:nvPr/>
        </p:nvSpPr>
        <p:spPr>
          <a:xfrm>
            <a:off x="6096000" y="4874773"/>
            <a:ext cx="5023556" cy="759981"/>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13" name="Rectangle 12">
            <a:extLst>
              <a:ext uri="{FF2B5EF4-FFF2-40B4-BE49-F238E27FC236}">
                <a16:creationId xmlns:a16="http://schemas.microsoft.com/office/drawing/2014/main" id="{87DEC8A3-009F-C7EB-527F-96F092C27E50}"/>
              </a:ext>
            </a:extLst>
          </p:cNvPr>
          <p:cNvSpPr/>
          <p:nvPr/>
        </p:nvSpPr>
        <p:spPr>
          <a:xfrm>
            <a:off x="6176511" y="3429000"/>
            <a:ext cx="5338155" cy="1357046"/>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92503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
                                            <p:txEl>
                                              <p:pRg st="12" end="12"/>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
                                            <p:txEl>
                                              <p:pRg st="13" end="13"/>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
                                            <p:txEl>
                                              <p:pRg st="14" end="14"/>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
                                            <p:txEl>
                                              <p:pRg st="15" end="15"/>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
                                            <p:txEl>
                                              <p:pRg st="16" end="16"/>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
                                            <p:txEl>
                                              <p:pRg st="17" end="17"/>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10"/>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1" nodeType="clickEffect">
                                  <p:stCondLst>
                                    <p:cond delay="0"/>
                                  </p:stCondLst>
                                  <p:childTnLst>
                                    <p:set>
                                      <p:cBhvr>
                                        <p:cTn id="68" dur="1" fill="hold">
                                          <p:stCondLst>
                                            <p:cond delay="0"/>
                                          </p:stCondLst>
                                        </p:cTn>
                                        <p:tgtEl>
                                          <p:spTgt spid="1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1" nodeType="clickEffect">
                                  <p:stCondLst>
                                    <p:cond delay="0"/>
                                  </p:stCondLst>
                                  <p:childTnLst>
                                    <p:set>
                                      <p:cBhvr>
                                        <p:cTn id="76" dur="1" fill="hold">
                                          <p:stCondLst>
                                            <p:cond delay="0"/>
                                          </p:stCondLst>
                                        </p:cTn>
                                        <p:tgtEl>
                                          <p:spTgt spid="12"/>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1" nodeType="clickEffect">
                                  <p:stCondLst>
                                    <p:cond delay="0"/>
                                  </p:stCondLst>
                                  <p:childTnLst>
                                    <p:set>
                                      <p:cBhvr>
                                        <p:cTn id="8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0" grpId="0" animBg="1"/>
      <p:bldP spid="10" grpId="1" animBg="1"/>
      <p:bldP spid="11" grpId="0" animBg="1"/>
      <p:bldP spid="11" grpId="1" animBg="1"/>
      <p:bldP spid="12" grpId="0" animBg="1"/>
      <p:bldP spid="12" grpId="1" animBg="1"/>
      <p:bldP spid="13" grpId="0" animBg="1"/>
      <p:bldP spid="13"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D9ADFF-E941-D963-3F0F-D7363093A07F}"/>
              </a:ext>
            </a:extLst>
          </p:cNvPr>
          <p:cNvSpPr>
            <a:spLocks noGrp="1"/>
          </p:cNvSpPr>
          <p:nvPr>
            <p:ph idx="1"/>
          </p:nvPr>
        </p:nvSpPr>
        <p:spPr/>
        <p:txBody>
          <a:bodyPr>
            <a:normAutofit fontScale="92500" lnSpcReduction="10000"/>
          </a:bodyPr>
          <a:lstStyle/>
          <a:p>
            <a:r>
              <a:rPr lang="en-US" dirty="0"/>
              <a:t>public class Car {</a:t>
            </a:r>
          </a:p>
          <a:p>
            <a:r>
              <a:rPr lang="en-US" dirty="0"/>
              <a:t>    private String name;</a:t>
            </a:r>
          </a:p>
          <a:p>
            <a:r>
              <a:rPr lang="en-US" dirty="0"/>
              <a:t>    private String engine;</a:t>
            </a:r>
          </a:p>
          <a:p>
            <a:r>
              <a:rPr lang="en-US" dirty="0"/>
              <a:t>    </a:t>
            </a:r>
          </a:p>
          <a:p>
            <a:r>
              <a:rPr lang="en-US" dirty="0"/>
              <a:t>    public static int </a:t>
            </a:r>
            <a:r>
              <a:rPr lang="en-US" dirty="0" err="1"/>
              <a:t>numberOfCars</a:t>
            </a:r>
            <a:r>
              <a:rPr lang="en-US" dirty="0"/>
              <a:t> = 0;</a:t>
            </a:r>
          </a:p>
          <a:p>
            <a:r>
              <a:rPr lang="en-US" dirty="0"/>
              <a:t>    </a:t>
            </a:r>
          </a:p>
          <a:p>
            <a:r>
              <a:rPr lang="en-US" dirty="0"/>
              <a:t>    public Car(String name, String engine) {</a:t>
            </a:r>
          </a:p>
          <a:p>
            <a:r>
              <a:rPr lang="en-US" dirty="0" err="1"/>
              <a:t>this.name</a:t>
            </a:r>
            <a:r>
              <a:rPr lang="en-US" dirty="0"/>
              <a:t> = name;</a:t>
            </a:r>
          </a:p>
          <a:p>
            <a:r>
              <a:rPr lang="en-US" dirty="0"/>
              <a:t>        </a:t>
            </a:r>
            <a:r>
              <a:rPr lang="en-US" dirty="0" err="1"/>
              <a:t>this.engine</a:t>
            </a:r>
            <a:r>
              <a:rPr lang="en-US" dirty="0"/>
              <a:t> = engine;</a:t>
            </a:r>
          </a:p>
          <a:p>
            <a:r>
              <a:rPr lang="en-US" dirty="0"/>
              <a:t>        </a:t>
            </a:r>
            <a:r>
              <a:rPr lang="en-US" dirty="0" err="1"/>
              <a:t>numberOfCars</a:t>
            </a:r>
            <a:r>
              <a:rPr lang="en-US" dirty="0"/>
              <a:t>++;</a:t>
            </a:r>
          </a:p>
          <a:p>
            <a:r>
              <a:rPr lang="en-US" dirty="0"/>
              <a:t>    }</a:t>
            </a:r>
          </a:p>
          <a:p>
            <a:endParaRPr lang="en-US" dirty="0"/>
          </a:p>
          <a:p>
            <a:r>
              <a:rPr lang="en-US" dirty="0"/>
              <a:t>    // getters and setters</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89D0C1D2-9ED5-9292-842A-38F1CA9C567C}"/>
              </a:ext>
            </a:extLst>
          </p:cNvPr>
          <p:cNvSpPr>
            <a:spLocks noGrp="1"/>
          </p:cNvSpPr>
          <p:nvPr>
            <p:ph type="title"/>
          </p:nvPr>
        </p:nvSpPr>
        <p:spPr/>
        <p:txBody>
          <a:bodyPr/>
          <a:lstStyle/>
          <a:p>
            <a:r>
              <a:rPr lang="en-US" dirty="0"/>
              <a:t>Static class members</a:t>
            </a:r>
          </a:p>
        </p:txBody>
      </p:sp>
      <p:sp>
        <p:nvSpPr>
          <p:cNvPr id="6" name="Content Placeholder 5">
            <a:extLst>
              <a:ext uri="{FF2B5EF4-FFF2-40B4-BE49-F238E27FC236}">
                <a16:creationId xmlns:a16="http://schemas.microsoft.com/office/drawing/2014/main" id="{EE479CED-470B-269B-0EEA-EB3B675E5020}"/>
              </a:ext>
            </a:extLst>
          </p:cNvPr>
          <p:cNvSpPr>
            <a:spLocks noGrp="1"/>
          </p:cNvSpPr>
          <p:nvPr>
            <p:ph idx="13"/>
          </p:nvPr>
        </p:nvSpPr>
        <p:spPr/>
        <p:txBody>
          <a:bodyPr/>
          <a:lstStyle/>
          <a:p>
            <a:r>
              <a:rPr lang="en-US" dirty="0"/>
              <a:t>Declaring a field static ensures exactly a single copy of that field is created and shared among all instances of that class</a:t>
            </a:r>
          </a:p>
          <a:p>
            <a:endParaRPr lang="en-US" dirty="0"/>
          </a:p>
        </p:txBody>
      </p:sp>
      <p:sp>
        <p:nvSpPr>
          <p:cNvPr id="9" name="Rectangle 8">
            <a:extLst>
              <a:ext uri="{FF2B5EF4-FFF2-40B4-BE49-F238E27FC236}">
                <a16:creationId xmlns:a16="http://schemas.microsoft.com/office/drawing/2014/main" id="{C6EBC06F-4C11-F082-563F-D7D4FE4C524B}"/>
              </a:ext>
            </a:extLst>
          </p:cNvPr>
          <p:cNvSpPr/>
          <p:nvPr/>
        </p:nvSpPr>
        <p:spPr>
          <a:xfrm>
            <a:off x="6096000" y="1474362"/>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4" name="Rectangle 3">
            <a:extLst>
              <a:ext uri="{FF2B5EF4-FFF2-40B4-BE49-F238E27FC236}">
                <a16:creationId xmlns:a16="http://schemas.microsoft.com/office/drawing/2014/main" id="{5A8BCD6A-4877-10B6-4782-A9604290B301}"/>
              </a:ext>
            </a:extLst>
          </p:cNvPr>
          <p:cNvSpPr/>
          <p:nvPr/>
        </p:nvSpPr>
        <p:spPr>
          <a:xfrm>
            <a:off x="6096000" y="2451373"/>
            <a:ext cx="5633413" cy="57530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1476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4" grpId="0" animBg="1"/>
      <p:bldP spid="4"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7C375-BC8A-31DC-7B51-D190998643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0038C1-75FC-67BF-8CDA-C0EB0CDB97B5}"/>
              </a:ext>
            </a:extLst>
          </p:cNvPr>
          <p:cNvSpPr>
            <a:spLocks noGrp="1"/>
          </p:cNvSpPr>
          <p:nvPr>
            <p:ph idx="1"/>
          </p:nvPr>
        </p:nvSpPr>
        <p:spPr/>
        <p:txBody>
          <a:bodyPr/>
          <a:lstStyle/>
          <a:p>
            <a:r>
              <a:rPr lang="en-US" dirty="0"/>
              <a:t>public class Car {</a:t>
            </a:r>
          </a:p>
          <a:p>
            <a:r>
              <a:rPr lang="en-US" dirty="0"/>
              <a:t>    private String name;</a:t>
            </a:r>
          </a:p>
          <a:p>
            <a:r>
              <a:rPr lang="en-US" dirty="0"/>
              <a:t>    private String engine;</a:t>
            </a:r>
          </a:p>
          <a:p>
            <a:r>
              <a:rPr lang="en-US" dirty="0"/>
              <a:t>    </a:t>
            </a:r>
          </a:p>
          <a:p>
            <a:r>
              <a:rPr lang="en-US" dirty="0"/>
              <a:t>    private static int </a:t>
            </a:r>
            <a:r>
              <a:rPr lang="en-US" dirty="0" err="1"/>
              <a:t>numberOfCars</a:t>
            </a:r>
            <a:r>
              <a:rPr lang="en-US" dirty="0"/>
              <a:t> = 0;</a:t>
            </a:r>
          </a:p>
          <a:p>
            <a:endParaRPr lang="en-US" dirty="0"/>
          </a:p>
          <a:p>
            <a:r>
              <a:rPr lang="en-US" dirty="0"/>
              <a:t>    // .. Other code</a:t>
            </a:r>
          </a:p>
          <a:p>
            <a:r>
              <a:rPr lang="en-US" dirty="0"/>
              <a:t>    public static int </a:t>
            </a:r>
            <a:r>
              <a:rPr lang="en-US" dirty="0" err="1"/>
              <a:t>getNumberOfCars</a:t>
            </a:r>
            <a:r>
              <a:rPr lang="en-US" dirty="0"/>
              <a:t>() {</a:t>
            </a:r>
          </a:p>
          <a:p>
            <a:r>
              <a:rPr lang="en-US" dirty="0"/>
              <a:t>	    return </a:t>
            </a:r>
            <a:r>
              <a:rPr lang="en-US" dirty="0" err="1"/>
              <a:t>numberOfCars</a:t>
            </a:r>
            <a:r>
              <a:rPr lang="en-US" dirty="0"/>
              <a:t>;</a:t>
            </a:r>
          </a:p>
          <a:p>
            <a:r>
              <a:rPr lang="en-US" dirty="0"/>
              <a:t>    }    </a:t>
            </a:r>
          </a:p>
          <a:p>
            <a:r>
              <a:rPr lang="en-US" dirty="0"/>
              <a:t>}</a:t>
            </a:r>
          </a:p>
          <a:p>
            <a:endParaRPr lang="en-US" dirty="0"/>
          </a:p>
          <a:p>
            <a:r>
              <a:rPr lang="en-US" dirty="0"/>
              <a:t>public static void main(..) {</a:t>
            </a:r>
          </a:p>
          <a:p>
            <a:r>
              <a:rPr lang="en-US" dirty="0"/>
              <a:t>    Car c1 = new Car(“Jaguar, “V8”);</a:t>
            </a:r>
          </a:p>
          <a:p>
            <a:r>
              <a:rPr lang="en-US" dirty="0"/>
              <a:t>    Car c2 = new Car(“Bugatti”, “W16”);</a:t>
            </a:r>
          </a:p>
          <a:p>
            <a:r>
              <a:rPr lang="en-US" dirty="0"/>
              <a:t>    </a:t>
            </a:r>
            <a:r>
              <a:rPr lang="en-US" dirty="0" err="1"/>
              <a:t>System.out.println</a:t>
            </a:r>
            <a:r>
              <a:rPr lang="en-US" dirty="0"/>
              <a:t>(“Total number of cars: “ + </a:t>
            </a:r>
            <a:r>
              <a:rPr lang="en-US" dirty="0" err="1"/>
              <a:t>Car.getNumberOfCars</a:t>
            </a:r>
            <a:r>
              <a:rPr lang="en-US" dirty="0"/>
              <a:t>());</a:t>
            </a:r>
          </a:p>
          <a:p>
            <a:r>
              <a:rPr lang="en-US" dirty="0"/>
              <a:t>     // Prints 2</a:t>
            </a:r>
          </a:p>
          <a:p>
            <a:r>
              <a:rPr lang="en-US" dirty="0"/>
              <a:t>}</a:t>
            </a:r>
          </a:p>
          <a:p>
            <a:endParaRPr lang="en-US" dirty="0"/>
          </a:p>
        </p:txBody>
      </p:sp>
      <p:sp>
        <p:nvSpPr>
          <p:cNvPr id="3" name="Title 2">
            <a:extLst>
              <a:ext uri="{FF2B5EF4-FFF2-40B4-BE49-F238E27FC236}">
                <a16:creationId xmlns:a16="http://schemas.microsoft.com/office/drawing/2014/main" id="{A82C6369-A707-D298-0E69-EA81B390DACD}"/>
              </a:ext>
            </a:extLst>
          </p:cNvPr>
          <p:cNvSpPr>
            <a:spLocks noGrp="1"/>
          </p:cNvSpPr>
          <p:nvPr>
            <p:ph type="title"/>
          </p:nvPr>
        </p:nvSpPr>
        <p:spPr/>
        <p:txBody>
          <a:bodyPr/>
          <a:lstStyle/>
          <a:p>
            <a:r>
              <a:rPr lang="en-US" dirty="0"/>
              <a:t>Static class methods</a:t>
            </a:r>
          </a:p>
        </p:txBody>
      </p:sp>
      <p:sp>
        <p:nvSpPr>
          <p:cNvPr id="6" name="Content Placeholder 5">
            <a:extLst>
              <a:ext uri="{FF2B5EF4-FFF2-40B4-BE49-F238E27FC236}">
                <a16:creationId xmlns:a16="http://schemas.microsoft.com/office/drawing/2014/main" id="{7F299507-753F-82DA-A4E0-FABB306D5CE6}"/>
              </a:ext>
            </a:extLst>
          </p:cNvPr>
          <p:cNvSpPr>
            <a:spLocks noGrp="1"/>
          </p:cNvSpPr>
          <p:nvPr>
            <p:ph idx="13"/>
          </p:nvPr>
        </p:nvSpPr>
        <p:spPr/>
        <p:txBody>
          <a:bodyPr/>
          <a:lstStyle/>
          <a:p>
            <a:r>
              <a:rPr lang="en-US" dirty="0"/>
              <a:t>A static class method does not need an object to invoke it</a:t>
            </a:r>
          </a:p>
          <a:p>
            <a:pPr marL="0" indent="0">
              <a:buNone/>
            </a:pPr>
            <a:endParaRPr lang="en-US" dirty="0"/>
          </a:p>
        </p:txBody>
      </p:sp>
      <p:sp>
        <p:nvSpPr>
          <p:cNvPr id="7" name="Rectangle 6">
            <a:extLst>
              <a:ext uri="{FF2B5EF4-FFF2-40B4-BE49-F238E27FC236}">
                <a16:creationId xmlns:a16="http://schemas.microsoft.com/office/drawing/2014/main" id="{794031F8-7988-CEA7-B0C3-0780A69DF330}"/>
              </a:ext>
            </a:extLst>
          </p:cNvPr>
          <p:cNvSpPr/>
          <p:nvPr/>
        </p:nvSpPr>
        <p:spPr>
          <a:xfrm>
            <a:off x="6096000" y="2557669"/>
            <a:ext cx="5633413" cy="84476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9FC81388-FC09-FB9D-C7C3-F3FE50D4B771}"/>
              </a:ext>
            </a:extLst>
          </p:cNvPr>
          <p:cNvSpPr/>
          <p:nvPr/>
        </p:nvSpPr>
        <p:spPr>
          <a:xfrm>
            <a:off x="6015487" y="4462728"/>
            <a:ext cx="5633413" cy="708875"/>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973988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3924869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3473404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We will focus on object-oriented design patterns</a:t>
            </a:r>
          </a:p>
          <a:p>
            <a:pPr lvl="1"/>
            <a:r>
              <a:rPr lang="en-US" dirty="0"/>
              <a:t>Particularly, Java design patterns, but are applicable to C++, C#, etc., too</a:t>
            </a:r>
          </a:p>
          <a:p>
            <a:r>
              <a:rPr lang="en-US" dirty="0"/>
              <a:t>Design patterns for functional programming languages and Rust will look very different</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Design patterns are language-specific</a:t>
            </a:r>
          </a:p>
        </p:txBody>
      </p:sp>
    </p:spTree>
    <p:extLst>
      <p:ext uri="{BB962C8B-B14F-4D97-AF65-F5344CB8AC3E}">
        <p14:creationId xmlns:p14="http://schemas.microsoft.com/office/powerpoint/2010/main" val="26888622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normAutofit/>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 and application launch 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Only one object of the </a:t>
            </a:r>
            <a:r>
              <a:rPr lang="en-US" dirty="0">
                <a:latin typeface="Consolas" panose="020B0609020204030204" pitchFamily="49" charset="0"/>
              </a:rPr>
              <a:t>Logger</a:t>
            </a:r>
            <a:r>
              <a:rPr lang="en-US" dirty="0"/>
              <a:t> class must exist</a:t>
            </a:r>
          </a:p>
          <a:p>
            <a:pPr lvl="2"/>
            <a:r>
              <a:rPr lang="en-US" dirty="0"/>
              <a:t>Should be created by the first log message</a:t>
            </a:r>
          </a:p>
          <a:p>
            <a:pPr lvl="1"/>
            <a:r>
              <a:rPr lang="en-US" dirty="0"/>
              <a:t>Any part of the application can access the </a:t>
            </a:r>
            <a:r>
              <a:rPr lang="en-US" dirty="0">
                <a:latin typeface="Consolas" panose="020B0609020204030204" pitchFamily="49" charset="0"/>
              </a:rPr>
              <a:t>Logger</a:t>
            </a:r>
            <a:r>
              <a:rPr lang="en-US" dirty="0"/>
              <a:t> object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0684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08C13-2536-CC8B-F64D-B93CA34C5B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FC5F747-2A28-D3FF-A6EC-9865D3E471C4}"/>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br>
              <a:rPr lang="en-US" dirty="0"/>
            </a:br>
            <a:r>
              <a:rPr lang="en-US" dirty="0"/>
              <a:t>	Logger logger2 = new Logger();</a:t>
            </a:r>
          </a:p>
          <a:p>
            <a:r>
              <a:rPr lang="en-US" dirty="0"/>
              <a:t>	logger2.log(“This is a log message”);</a:t>
            </a:r>
          </a:p>
          <a:p>
            <a:r>
              <a:rPr lang="en-US" dirty="0"/>
              <a:t>}</a:t>
            </a:r>
          </a:p>
        </p:txBody>
      </p:sp>
      <p:sp>
        <p:nvSpPr>
          <p:cNvPr id="4" name="Title 3">
            <a:extLst>
              <a:ext uri="{FF2B5EF4-FFF2-40B4-BE49-F238E27FC236}">
                <a16:creationId xmlns:a16="http://schemas.microsoft.com/office/drawing/2014/main" id="{0E73A2EC-82A0-75F2-21FB-F379F624FED7}"/>
              </a:ext>
            </a:extLst>
          </p:cNvPr>
          <p:cNvSpPr>
            <a:spLocks noGrp="1"/>
          </p:cNvSpPr>
          <p:nvPr>
            <p:ph type="title"/>
          </p:nvPr>
        </p:nvSpPr>
        <p:spPr/>
        <p:txBody>
          <a:bodyPr/>
          <a:lstStyle/>
          <a:p>
            <a:r>
              <a:rPr lang="en-US" dirty="0"/>
              <a:t>Need for design patterns</a:t>
            </a:r>
          </a:p>
        </p:txBody>
      </p:sp>
      <p:sp>
        <p:nvSpPr>
          <p:cNvPr id="2" name="Content Placeholder 1">
            <a:extLst>
              <a:ext uri="{FF2B5EF4-FFF2-40B4-BE49-F238E27FC236}">
                <a16:creationId xmlns:a16="http://schemas.microsoft.com/office/drawing/2014/main" id="{F4AD58AE-0C54-915E-6DD8-631D88FE1259}"/>
              </a:ext>
            </a:extLst>
          </p:cNvPr>
          <p:cNvSpPr>
            <a:spLocks noGrp="1"/>
          </p:cNvSpPr>
          <p:nvPr>
            <p:ph idx="13"/>
          </p:nvPr>
        </p:nvSpPr>
        <p:spPr/>
        <p:txBody>
          <a:bodyPr/>
          <a:lstStyle/>
          <a:p>
            <a:r>
              <a:rPr lang="en-US" dirty="0"/>
              <a:t>Naïve design</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sym typeface="Wingdings" panose="05000000000000000000" pitchFamily="2" charset="2"/>
              </a:rPr>
              <a:t>Requires extensive method signature modification</a:t>
            </a:r>
          </a:p>
          <a:p>
            <a:pPr lvl="1"/>
            <a:r>
              <a:rPr lang="en-US" dirty="0">
                <a:sym typeface="Wingdings" panose="05000000000000000000" pitchFamily="2" charset="2"/>
              </a:rPr>
              <a:t>Doesn’t prevent accidental creation of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objects</a:t>
            </a:r>
            <a:endParaRPr lang="en-US" dirty="0"/>
          </a:p>
        </p:txBody>
      </p:sp>
      <p:sp>
        <p:nvSpPr>
          <p:cNvPr id="6" name="Rectangle 5">
            <a:extLst>
              <a:ext uri="{FF2B5EF4-FFF2-40B4-BE49-F238E27FC236}">
                <a16:creationId xmlns:a16="http://schemas.microsoft.com/office/drawing/2014/main" id="{83F7A819-83F1-F015-8215-1A1921BB0366}"/>
              </a:ext>
            </a:extLst>
          </p:cNvPr>
          <p:cNvSpPr/>
          <p:nvPr/>
        </p:nvSpPr>
        <p:spPr>
          <a:xfrm>
            <a:off x="6176512" y="4982817"/>
            <a:ext cx="5261762" cy="538039"/>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1516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Goal: Any part of the application can access the </a:t>
            </a:r>
            <a:r>
              <a:rPr lang="en-US" dirty="0">
                <a:latin typeface="Consolas" panose="020B0609020204030204" pitchFamily="49" charset="0"/>
              </a:rPr>
              <a:t>Logger</a:t>
            </a:r>
            <a:r>
              <a:rPr lang="en-US" dirty="0"/>
              <a:t> object</a:t>
            </a:r>
          </a:p>
          <a:p>
            <a:pPr marL="0" indent="0">
              <a:buNone/>
            </a:pPr>
            <a:endParaRPr lang="en-US" dirty="0"/>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Need for design patterns</a:t>
            </a:r>
          </a:p>
        </p:txBody>
      </p:sp>
    </p:spTree>
    <p:extLst>
      <p:ext uri="{BB962C8B-B14F-4D97-AF65-F5344CB8AC3E}">
        <p14:creationId xmlns:p14="http://schemas.microsoft.com/office/powerpoint/2010/main" val="4054428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92500" lnSpcReduction="1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We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change method signature</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180969"/>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542084"/>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91058" y="4903304"/>
            <a:ext cx="5261762" cy="773727"/>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 design</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 ... code</a:t>
            </a:r>
          </a:p>
          <a:p>
            <a:r>
              <a:rPr lang="en-US" dirty="0"/>
              <a:t>	}</a:t>
            </a:r>
          </a:p>
          <a:p>
            <a:endParaRPr lang="en-US" dirty="0"/>
          </a:p>
          <a:p>
            <a:r>
              <a:rPr lang="en-US" dirty="0"/>
              <a:t>	public log(String msg) {</a:t>
            </a:r>
          </a:p>
          <a:p>
            <a:r>
              <a:rPr lang="en-US" dirty="0"/>
              <a:t>		// ... code</a:t>
            </a:r>
          </a:p>
          <a:p>
            <a:r>
              <a:rPr lang="en-US" dirty="0"/>
              <a:t>	}</a:t>
            </a:r>
          </a:p>
          <a:p>
            <a:endParaRPr lang="en-US" dirty="0"/>
          </a:p>
          <a:p>
            <a:r>
              <a:rPr lang="en-US" dirty="0"/>
              <a:t>	// ... code</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Writing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Turn the constructor </a:t>
            </a:r>
            <a:r>
              <a:rPr lang="en-US" dirty="0">
                <a:latin typeface="Consolas" panose="020B0609020204030204" pitchFamily="49" charset="0"/>
              </a:rPr>
              <a:t>private</a:t>
            </a:r>
            <a:endParaRPr lang="en-US" dirty="0"/>
          </a:p>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endParaRPr lang="en-US" dirty="0">
              <a:latin typeface="Consolas" panose="020B0609020204030204" pitchFamily="49" charset="0"/>
            </a:endParaRPr>
          </a:p>
          <a:p>
            <a:pPr lvl="1"/>
            <a:r>
              <a:rPr lang="en-US" dirty="0"/>
              <a:t>Must use </a:t>
            </a:r>
            <a:r>
              <a:rPr lang="en-US" dirty="0" err="1">
                <a:latin typeface="Consolas" panose="020B0609020204030204" pitchFamily="49" charset="0"/>
              </a:rPr>
              <a:t>getLogger</a:t>
            </a:r>
            <a:r>
              <a:rPr lang="en-US" dirty="0">
                <a:latin typeface="Consolas" panose="020B0609020204030204" pitchFamily="49" charset="0"/>
              </a:rPr>
              <a:t>() </a:t>
            </a:r>
            <a:r>
              <a:rPr lang="en-US" dirty="0"/>
              <a:t>to get the logger</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176512" y="143328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5077646"/>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a:t>
            </a:r>
            <a:r>
              <a:rPr lang="en-US" i="1" dirty="0"/>
              <a:t>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dirty="0"/>
              <a:t>What gets created</a:t>
            </a:r>
          </a:p>
          <a:p>
            <a:pPr lvl="1"/>
            <a:r>
              <a:rPr lang="en-US" dirty="0"/>
              <a:t>Who creates it</a:t>
            </a:r>
          </a:p>
          <a:p>
            <a:pPr lvl="1"/>
            <a:r>
              <a:rPr lang="en-US" dirty="0"/>
              <a:t>How 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fontScale="92500" lnSpcReduction="10000"/>
          </a:bodyPr>
          <a:lstStyle/>
          <a:p>
            <a:r>
              <a:rPr lang="en-US" dirty="0">
                <a:cs typeface="Consolas" panose="020B0609020204030204" pitchFamily="49" charset="0"/>
              </a:rPr>
              <a:t>public class Button { // button stuff }</a:t>
            </a:r>
          </a:p>
          <a:p>
            <a:r>
              <a:rPr lang="en-US" dirty="0">
                <a:cs typeface="Consolas" panose="020B0609020204030204" pitchFamily="49" charset="0"/>
              </a:rPr>
              <a:t>public class </a:t>
            </a:r>
            <a:r>
              <a:rPr lang="en-US" dirty="0" err="1">
                <a:cs typeface="Consolas" panose="020B0609020204030204" pitchFamily="49" charset="0"/>
              </a:rPr>
              <a:t>WinButton</a:t>
            </a:r>
            <a:r>
              <a:rPr lang="en-US" dirty="0">
                <a:cs typeface="Consolas" panose="020B0609020204030204" pitchFamily="49" charset="0"/>
              </a:rPr>
              <a:t> extends Button { // … } </a:t>
            </a:r>
          </a:p>
          <a:p>
            <a:r>
              <a:rPr lang="en-US" dirty="0">
                <a:cs typeface="Consolas" panose="020B0609020204030204" pitchFamily="49" charset="0"/>
              </a:rPr>
              <a:t>public class </a:t>
            </a:r>
            <a:r>
              <a:rPr lang="en-US" dirty="0" err="1">
                <a:cs typeface="Consolas" panose="020B0609020204030204" pitchFamily="49" charset="0"/>
              </a:rPr>
              <a:t>MacOSButton</a:t>
            </a:r>
            <a:r>
              <a:rPr lang="en-US" dirty="0">
                <a:cs typeface="Consolas" panose="020B0609020204030204" pitchFamily="49" charset="0"/>
              </a:rPr>
              <a:t> extends Button { // … }</a:t>
            </a:r>
          </a:p>
          <a:p>
            <a:br>
              <a:rPr lang="en-US" sz="1600" dirty="0">
                <a:latin typeface="Consolas" panose="020B0609020204030204" pitchFamily="49" charset="0"/>
              </a:rPr>
            </a:br>
            <a:r>
              <a:rPr lang="en-US" sz="1600" dirty="0">
                <a:latin typeface="Consolas" panose="020B0609020204030204" pitchFamily="49" charset="0"/>
              </a:rPr>
              <a:t>Button button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Error-prone!</a:t>
            </a:r>
          </a:p>
          <a:p>
            <a:endParaRPr lang="en-US" dirty="0"/>
          </a:p>
        </p:txBody>
      </p:sp>
      <p:sp>
        <p:nvSpPr>
          <p:cNvPr id="3" name="Rectangle 2">
            <a:extLst>
              <a:ext uri="{FF2B5EF4-FFF2-40B4-BE49-F238E27FC236}">
                <a16:creationId xmlns:a16="http://schemas.microsoft.com/office/drawing/2014/main" id="{B94E8FA2-D7D8-2552-E624-12EA31D7AFDA}"/>
              </a:ext>
            </a:extLst>
          </p:cNvPr>
          <p:cNvSpPr/>
          <p:nvPr/>
        </p:nvSpPr>
        <p:spPr>
          <a:xfrm>
            <a:off x="6176511" y="785004"/>
            <a:ext cx="5633413" cy="858360"/>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9460478" y="520012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pPr marL="0" indent="0">
              <a:buNone/>
            </a:pPr>
            <a:r>
              <a:rPr lang="en-US" dirty="0"/>
              <a:t>How classes and objects compose to form larger structures</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Use case: payment processor</a:t>
            </a:r>
          </a:p>
        </p:txBody>
      </p:sp>
      <p:sp>
        <p:nvSpPr>
          <p:cNvPr id="11" name="Rectangle: Rounded Corners 10">
            <a:extLst>
              <a:ext uri="{FF2B5EF4-FFF2-40B4-BE49-F238E27FC236}">
                <a16:creationId xmlns:a16="http://schemas.microsoft.com/office/drawing/2014/main" id="{6A14BF0F-3206-35D9-BC9F-E414F0AC5924}"/>
              </a:ext>
            </a:extLst>
          </p:cNvPr>
          <p:cNvSpPr/>
          <p:nvPr/>
        </p:nvSpPr>
        <p:spPr>
          <a:xfrm>
            <a:off x="4161693" y="974170"/>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4301438" y="1254760"/>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4301438" y="2355682"/>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4301438" y="3505843"/>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sp>
        <p:nvSpPr>
          <p:cNvPr id="25" name="TextBox 24">
            <a:extLst>
              <a:ext uri="{FF2B5EF4-FFF2-40B4-BE49-F238E27FC236}">
                <a16:creationId xmlns:a16="http://schemas.microsoft.com/office/drawing/2014/main" id="{13B903FB-1A1E-A118-AB1F-6F0AE9F8AE30}"/>
              </a:ext>
            </a:extLst>
          </p:cNvPr>
          <p:cNvSpPr txBox="1"/>
          <p:nvPr/>
        </p:nvSpPr>
        <p:spPr>
          <a:xfrm>
            <a:off x="8170053" y="3429000"/>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35B6-6889-D0AB-87E0-DDBEDD3440B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23B5C61-D722-A820-3E2D-BC979CA88127}"/>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4E60BDC5-C853-F8F0-1120-D87AE63C8A6B}"/>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383F0A1-CFFE-BA4C-6BB0-BA945FF34951}"/>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6009C28-6FCC-F035-0E8F-F4321CFC3120}"/>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C49F328E-6058-4B87-FA87-C474EC7C454A}"/>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9C3A78C5-69C8-866A-7652-0DE25D856487}"/>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E71BEB77-7464-3F1D-D8EB-009BA954D963}"/>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7CE0B3B7-B18A-A351-5706-DD0790C3FFEF}"/>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409CE67-00B1-4C08-6829-A9E2F66C4FF9}"/>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3893F881-08F7-3CC0-DDEC-27EE1433A8F7}"/>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B85EC693-849F-BA13-8D64-838D50245C9A}"/>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43356FCE-AB09-92EF-A8C2-BBDE49D9D3D0}"/>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CF79DE43-E370-6205-6493-E0BA62A58882}"/>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C4DC758-BD6B-3362-FACA-86C79BFC0432}"/>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6187F8CB-776A-0392-A4E5-84E2BABBAD98}"/>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AC0E10EF-6CEB-B157-8282-B7B6956E9BDA}"/>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5DA6D0EC-4154-9D40-5837-64890F1CF4C8}"/>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8AB7AABE-6D6C-8E4F-854B-520354A89921}"/>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a:t>
            </a:r>
          </a:p>
        </p:txBody>
      </p:sp>
      <p:sp>
        <p:nvSpPr>
          <p:cNvPr id="25" name="TextBox 24">
            <a:extLst>
              <a:ext uri="{FF2B5EF4-FFF2-40B4-BE49-F238E27FC236}">
                <a16:creationId xmlns:a16="http://schemas.microsoft.com/office/drawing/2014/main" id="{839D92A3-7C38-9CD6-F75B-5280040E0E7A}"/>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4948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BBA1CB9-8249-A861-E667-BF24158CAF72}"/>
              </a:ext>
            </a:extLst>
          </p:cNvPr>
          <p:cNvSpPr txBox="1"/>
          <p:nvPr/>
        </p:nvSpPr>
        <p:spPr>
          <a:xfrm>
            <a:off x="4263242" y="4313070"/>
            <a:ext cx="2072885" cy="523220"/>
          </a:xfrm>
          <a:prstGeom prst="rect">
            <a:avLst/>
          </a:prstGeom>
          <a:noFill/>
        </p:spPr>
        <p:txBody>
          <a:bodyPr wrap="square" rtlCol="0">
            <a:spAutoFit/>
          </a:bodyPr>
          <a:lstStyle/>
          <a:p>
            <a:pPr algn="ctr"/>
            <a:r>
              <a:rPr lang="en-US" sz="2800" b="1" i="1" dirty="0"/>
              <a:t>Use Stripe </a:t>
            </a:r>
          </a:p>
        </p:txBody>
      </p:sp>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 name="TextBox 1">
            <a:extLst>
              <a:ext uri="{FF2B5EF4-FFF2-40B4-BE49-F238E27FC236}">
                <a16:creationId xmlns:a16="http://schemas.microsoft.com/office/drawing/2014/main" id="{CE82DCE5-2A99-A0DD-6537-48804294FED1}"/>
              </a:ext>
            </a:extLst>
          </p:cNvPr>
          <p:cNvSpPr txBox="1"/>
          <p:nvPr/>
        </p:nvSpPr>
        <p:spPr>
          <a:xfrm>
            <a:off x="9265577" y="4850479"/>
            <a:ext cx="2279535" cy="830997"/>
          </a:xfrm>
          <a:prstGeom prst="rect">
            <a:avLst/>
          </a:prstGeom>
          <a:noFill/>
        </p:spPr>
        <p:txBody>
          <a:bodyPr wrap="none" rtlCol="0">
            <a:spAutoFit/>
          </a:bodyPr>
          <a:lstStyle/>
          <a:p>
            <a:r>
              <a:rPr lang="en-US" sz="2400" b="1" i="1" dirty="0">
                <a:solidFill>
                  <a:srgbClr val="C00000"/>
                </a:solidFill>
              </a:rPr>
              <a:t>Bad design:</a:t>
            </a:r>
          </a:p>
          <a:p>
            <a:r>
              <a:rPr lang="en-US" sz="2400" b="1" i="1" dirty="0">
                <a:solidFill>
                  <a:srgbClr val="C00000"/>
                </a:solidFill>
              </a:rPr>
              <a:t>very error-prone</a:t>
            </a:r>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370229" y="3113462"/>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F66E66-1BC8-0503-10D6-90336E0E78B9}"/>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D412A576-3AAF-9D24-411D-143C85EBADB4}"/>
              </a:ext>
            </a:extLst>
          </p:cNvPr>
          <p:cNvSpPr>
            <a:spLocks noGrp="1"/>
          </p:cNvSpPr>
          <p:nvPr>
            <p:ph type="body" sz="quarter" idx="13"/>
          </p:nvPr>
        </p:nvSpPr>
        <p:spPr/>
        <p:txBody>
          <a:bodyPr/>
          <a:lstStyle/>
          <a:p>
            <a:r>
              <a:rPr lang="en-US" dirty="0"/>
              <a:t>Proxy design pattern</a:t>
            </a:r>
          </a:p>
        </p:txBody>
      </p:sp>
    </p:spTree>
    <p:extLst>
      <p:ext uri="{BB962C8B-B14F-4D97-AF65-F5344CB8AC3E}">
        <p14:creationId xmlns:p14="http://schemas.microsoft.com/office/powerpoint/2010/main" val="18515464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AD9A-B3B5-C5A2-9D71-68B09DC040E3}"/>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9054C6EA-E296-729C-72E3-77C8736C9C0A}"/>
              </a:ext>
            </a:extLst>
          </p:cNvPr>
          <p:cNvSpPr>
            <a:spLocks noGrp="1"/>
          </p:cNvSpPr>
          <p:nvPr>
            <p:ph idx="1"/>
          </p:nvPr>
        </p:nvSpPr>
        <p:spPr/>
        <p:txBody>
          <a:bodyPr>
            <a:normAutofit/>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ACCB40B5-994C-B86E-3592-173C9D43E2DC}"/>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AD935315-F70E-6208-8C54-7DD65DFBD913}"/>
              </a:ext>
            </a:extLst>
          </p:cNvPr>
          <p:cNvSpPr>
            <a:spLocks noGrp="1"/>
          </p:cNvSpPr>
          <p:nvPr>
            <p:ph idx="13"/>
          </p:nvPr>
        </p:nvSpPr>
        <p:spPr/>
        <p:txBody>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without changing other method signatures</a:t>
            </a:r>
          </a:p>
        </p:txBody>
      </p:sp>
    </p:spTree>
    <p:extLst>
      <p:ext uri="{BB962C8B-B14F-4D97-AF65-F5344CB8AC3E}">
        <p14:creationId xmlns:p14="http://schemas.microsoft.com/office/powerpoint/2010/main" val="6437600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9894B-6CD8-54C0-8116-71ED14CF3438}"/>
            </a:ext>
          </a:extLst>
        </p:cNvPr>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BF286134-CE66-5EA7-8C12-52C6F97E145D}"/>
              </a:ext>
            </a:extLst>
          </p:cNvPr>
          <p:cNvSpPr>
            <a:spLocks noGrp="1"/>
          </p:cNvSpPr>
          <p:nvPr>
            <p:ph idx="1"/>
          </p:nvPr>
        </p:nvSpPr>
        <p:spPr/>
        <p:txBody>
          <a:bodyPr>
            <a:normAutofit/>
          </a:bodyPr>
          <a:lstStyle/>
          <a:p>
            <a:r>
              <a:rPr lang="en-US" dirty="0"/>
              <a:t>class Person {</a:t>
            </a:r>
          </a:p>
          <a:p>
            <a:r>
              <a:rPr lang="en-US" dirty="0"/>
              <a:t>	public String walk() { </a:t>
            </a:r>
            <a:r>
              <a:rPr lang="en-US" dirty="0">
                <a:solidFill>
                  <a:schemeClr val="accent6">
                    <a:lumMod val="75000"/>
                  </a:schemeClr>
                </a:solidFill>
              </a:rPr>
              <a:t>log(); </a:t>
            </a:r>
            <a:r>
              <a:rPr lang="en-US" dirty="0"/>
              <a:t>// … }</a:t>
            </a:r>
          </a:p>
          <a:p>
            <a:r>
              <a:rPr lang="en-US" dirty="0"/>
              <a:t>	public void talk() { </a:t>
            </a:r>
            <a:r>
              <a:rPr lang="en-US" dirty="0">
                <a:solidFill>
                  <a:schemeClr val="accent6">
                    <a:lumMod val="75000"/>
                  </a:schemeClr>
                </a:solidFill>
              </a:rPr>
              <a:t>log(); </a:t>
            </a:r>
            <a:r>
              <a:rPr lang="en-US" dirty="0"/>
              <a:t>// … }</a:t>
            </a:r>
          </a:p>
          <a:p>
            <a:r>
              <a:rPr lang="en-US" dirty="0"/>
              <a:t>}</a:t>
            </a:r>
          </a:p>
          <a:p>
            <a:endParaRPr lang="en-US" dirty="0"/>
          </a:p>
          <a:p>
            <a:r>
              <a:rPr lang="en-US" dirty="0"/>
              <a:t>public static void main() {</a:t>
            </a:r>
            <a:br>
              <a:rPr lang="en-US" dirty="0"/>
            </a:br>
            <a:r>
              <a:rPr lang="en-US" dirty="0"/>
              <a:t>	Person p = new Person();</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F1E5367-847F-98E8-061C-D1021C68CD06}"/>
              </a:ext>
            </a:extLst>
          </p:cNvPr>
          <p:cNvSpPr>
            <a:spLocks noGrp="1"/>
          </p:cNvSpPr>
          <p:nvPr>
            <p:ph type="title"/>
          </p:nvPr>
        </p:nvSpPr>
        <p:spPr/>
        <p:txBody>
          <a:bodyPr/>
          <a:lstStyle/>
          <a:p>
            <a:r>
              <a:rPr lang="en-US" dirty="0"/>
              <a:t>Use case: add logging functionality</a:t>
            </a:r>
          </a:p>
        </p:txBody>
      </p:sp>
      <p:sp>
        <p:nvSpPr>
          <p:cNvPr id="5" name="Content Placeholder 4">
            <a:extLst>
              <a:ext uri="{FF2B5EF4-FFF2-40B4-BE49-F238E27FC236}">
                <a16:creationId xmlns:a16="http://schemas.microsoft.com/office/drawing/2014/main" id="{4D2B01C7-3F7E-DF8A-30B1-109585BCA0E4}"/>
              </a:ext>
            </a:extLst>
          </p:cNvPr>
          <p:cNvSpPr>
            <a:spLocks noGrp="1"/>
          </p:cNvSpPr>
          <p:nvPr>
            <p:ph idx="13"/>
          </p:nvPr>
        </p:nvSpPr>
        <p:spPr/>
        <p:txBody>
          <a:bodyPr>
            <a:normAutofit/>
          </a:bodyPr>
          <a:lstStyle/>
          <a:p>
            <a:r>
              <a:rPr lang="en-US" dirty="0"/>
              <a:t>Goal: invoke </a:t>
            </a:r>
            <a:r>
              <a:rPr lang="en-US" dirty="0">
                <a:latin typeface="Consolas" panose="020B0609020204030204" pitchFamily="49" charset="0"/>
                <a:cs typeface="Consolas" panose="020B0609020204030204" pitchFamily="49" charset="0"/>
              </a:rPr>
              <a:t>log() </a:t>
            </a:r>
            <a:r>
              <a:rPr lang="en-US" dirty="0"/>
              <a:t>method before every method invocation on a Person object , without changing other method signatures</a:t>
            </a:r>
          </a:p>
          <a:p>
            <a:r>
              <a:rPr lang="en-US" dirty="0"/>
              <a:t>But can’t modify the Person class</a:t>
            </a:r>
          </a:p>
          <a:p>
            <a:pPr lvl="1"/>
            <a:r>
              <a:rPr lang="en-US" dirty="0"/>
              <a:t>A third-party library provided the class</a:t>
            </a:r>
          </a:p>
          <a:p>
            <a:pPr lvl="1"/>
            <a:r>
              <a:rPr lang="en-US" dirty="0"/>
              <a:t>All person objects are not </a:t>
            </a:r>
            <a:r>
              <a:rPr lang="en-US" dirty="0" err="1"/>
              <a:t>loggable</a:t>
            </a:r>
            <a:endParaRPr lang="en-US" dirty="0"/>
          </a:p>
        </p:txBody>
      </p:sp>
    </p:spTree>
    <p:extLst>
      <p:ext uri="{BB962C8B-B14F-4D97-AF65-F5344CB8AC3E}">
        <p14:creationId xmlns:p14="http://schemas.microsoft.com/office/powerpoint/2010/main" val="114272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11C80823-DB83-436D-56B9-2935A03C68F4}"/>
              </a:ext>
            </a:extLst>
          </p:cNvPr>
          <p:cNvGrpSpPr/>
          <p:nvPr/>
        </p:nvGrpSpPr>
        <p:grpSpPr>
          <a:xfrm>
            <a:off x="7080738" y="1430215"/>
            <a:ext cx="3414514" cy="2923828"/>
            <a:chOff x="7080738" y="1430215"/>
            <a:chExt cx="3414514" cy="2923828"/>
          </a:xfrm>
        </p:grpSpPr>
        <p:sp>
          <p:nvSpPr>
            <p:cNvPr id="7" name="Rectangle 6">
              <a:extLst>
                <a:ext uri="{FF2B5EF4-FFF2-40B4-BE49-F238E27FC236}">
                  <a16:creationId xmlns:a16="http://schemas.microsoft.com/office/drawing/2014/main" id="{11F9C68E-BE0A-F52F-EE1C-1E5830AA6920}"/>
                </a:ext>
              </a:extLst>
            </p:cNvPr>
            <p:cNvSpPr/>
            <p:nvPr/>
          </p:nvSpPr>
          <p:spPr>
            <a:xfrm>
              <a:off x="7080738" y="1430215"/>
              <a:ext cx="3414514" cy="28889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D89C322-6524-B9E2-640F-B254951B10A1}"/>
                </a:ext>
              </a:extLst>
            </p:cNvPr>
            <p:cNvSpPr txBox="1"/>
            <p:nvPr/>
          </p:nvSpPr>
          <p:spPr>
            <a:xfrm>
              <a:off x="7852913" y="1430215"/>
              <a:ext cx="2334441" cy="523220"/>
            </a:xfrm>
            <a:prstGeom prst="rect">
              <a:avLst/>
            </a:prstGeom>
            <a:noFill/>
          </p:spPr>
          <p:txBody>
            <a:bodyPr wrap="square" rtlCol="0">
              <a:spAutoFit/>
            </a:bodyPr>
            <a:lstStyle/>
            <a:p>
              <a:r>
                <a:rPr lang="en-US" sz="2800" dirty="0" err="1"/>
                <a:t>ProxyObject</a:t>
              </a:r>
              <a:endParaRPr lang="en-US" sz="2800" dirty="0"/>
            </a:p>
          </p:txBody>
        </p:sp>
        <p:sp>
          <p:nvSpPr>
            <p:cNvPr id="14" name="Rectangle 13">
              <a:extLst>
                <a:ext uri="{FF2B5EF4-FFF2-40B4-BE49-F238E27FC236}">
                  <a16:creationId xmlns:a16="http://schemas.microsoft.com/office/drawing/2014/main" id="{BB210AC7-1672-B796-A1F0-106B26ED9D75}"/>
                </a:ext>
              </a:extLst>
            </p:cNvPr>
            <p:cNvSpPr/>
            <p:nvPr/>
          </p:nvSpPr>
          <p:spPr>
            <a:xfrm>
              <a:off x="8637591" y="4104540"/>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5B4DA07-1269-548B-900C-5DFADBB679C8}"/>
                </a:ext>
              </a:extLst>
            </p:cNvPr>
            <p:cNvSpPr txBox="1"/>
            <p:nvPr/>
          </p:nvSpPr>
          <p:spPr>
            <a:xfrm>
              <a:off x="9260072" y="3984711"/>
              <a:ext cx="1184031" cy="369332"/>
            </a:xfrm>
            <a:prstGeom prst="rect">
              <a:avLst/>
            </a:prstGeom>
            <a:noFill/>
          </p:spPr>
          <p:txBody>
            <a:bodyPr wrap="square" rtlCol="0">
              <a:spAutoFit/>
            </a:bodyPr>
            <a:lstStyle/>
            <a:p>
              <a:r>
                <a:rPr lang="en-US" dirty="0" err="1">
                  <a:latin typeface="Consolas" panose="020B0609020204030204" pitchFamily="49" charset="0"/>
                </a:rPr>
                <a:t>func</a:t>
              </a:r>
              <a:r>
                <a:rPr lang="en-US" dirty="0">
                  <a:latin typeface="Consolas" panose="020B0609020204030204" pitchFamily="49" charset="0"/>
                </a:rPr>
                <a:t>()</a:t>
              </a:r>
            </a:p>
          </p:txBody>
        </p:sp>
        <p:cxnSp>
          <p:nvCxnSpPr>
            <p:cNvPr id="17" name="Straight Arrow Connector 16">
              <a:extLst>
                <a:ext uri="{FF2B5EF4-FFF2-40B4-BE49-F238E27FC236}">
                  <a16:creationId xmlns:a16="http://schemas.microsoft.com/office/drawing/2014/main" id="{5C84AFA9-3D5A-22DB-472E-A21AB0B3951D}"/>
                </a:ext>
              </a:extLst>
            </p:cNvPr>
            <p:cNvCxnSpPr>
              <a:cxnSpLocks/>
              <a:stCxn id="14" idx="0"/>
              <a:endCxn id="9" idx="2"/>
            </p:cNvCxnSpPr>
            <p:nvPr/>
          </p:nvCxnSpPr>
          <p:spPr>
            <a:xfrm flipH="1" flipV="1">
              <a:off x="8924967" y="3308230"/>
              <a:ext cx="5701" cy="79631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grpSp>
      <p:sp>
        <p:nvSpPr>
          <p:cNvPr id="4" name="Title 3">
            <a:extLst>
              <a:ext uri="{FF2B5EF4-FFF2-40B4-BE49-F238E27FC236}">
                <a16:creationId xmlns:a16="http://schemas.microsoft.com/office/drawing/2014/main" id="{3C35C940-4D55-AFA0-199A-37EDB61F8181}"/>
              </a:ext>
            </a:extLst>
          </p:cNvPr>
          <p:cNvSpPr>
            <a:spLocks noGrp="1"/>
          </p:cNvSpPr>
          <p:nvPr>
            <p:ph type="title"/>
          </p:nvPr>
        </p:nvSpPr>
        <p:spPr/>
        <p:txBody>
          <a:bodyPr/>
          <a:lstStyle/>
          <a:p>
            <a:r>
              <a:rPr lang="en-US" dirty="0"/>
              <a:t>Proxy design pattern - what is a proxy object?</a:t>
            </a:r>
          </a:p>
        </p:txBody>
      </p:sp>
      <p:sp>
        <p:nvSpPr>
          <p:cNvPr id="6" name="Content Placeholder 5">
            <a:extLst>
              <a:ext uri="{FF2B5EF4-FFF2-40B4-BE49-F238E27FC236}">
                <a16:creationId xmlns:a16="http://schemas.microsoft.com/office/drawing/2014/main" id="{AB51EF6E-E886-747C-EDF5-2A77500EBB73}"/>
              </a:ext>
            </a:extLst>
          </p:cNvPr>
          <p:cNvSpPr>
            <a:spLocks noGrp="1"/>
          </p:cNvSpPr>
          <p:nvPr>
            <p:ph idx="13"/>
          </p:nvPr>
        </p:nvSpPr>
        <p:spPr/>
        <p:txBody>
          <a:bodyPr>
            <a:normAutofit fontScale="92500" lnSpcReduction="10000"/>
          </a:bodyPr>
          <a:lstStyle/>
          <a:p>
            <a:r>
              <a:rPr lang="en-US" dirty="0"/>
              <a:t>A proxy is </a:t>
            </a:r>
            <a:r>
              <a:rPr lang="en-US" i="1" dirty="0"/>
              <a:t>also</a:t>
            </a:r>
            <a:r>
              <a:rPr lang="en-US" dirty="0"/>
              <a:t> wrapper around the original/target object</a:t>
            </a:r>
          </a:p>
          <a:p>
            <a:r>
              <a:rPr lang="en-US" b="1" i="1" dirty="0"/>
              <a:t>Mediates access </a:t>
            </a:r>
            <a:r>
              <a:rPr lang="en-US" dirty="0"/>
              <a:t>to the inner object and is used </a:t>
            </a:r>
            <a:r>
              <a:rPr lang="en-US" b="1" i="1" dirty="0"/>
              <a:t>in place of </a:t>
            </a:r>
            <a:r>
              <a:rPr lang="en-US" dirty="0"/>
              <a:t>inner object</a:t>
            </a:r>
          </a:p>
          <a:p>
            <a:r>
              <a:rPr lang="en-US" dirty="0"/>
              <a:t>The user accesses the proxy object instead of the original target object</a:t>
            </a:r>
          </a:p>
          <a:p>
            <a:r>
              <a:rPr lang="en-US" dirty="0"/>
              <a:t>Proxy performs some additional logic, then forwards the request to the target object</a:t>
            </a:r>
          </a:p>
        </p:txBody>
      </p:sp>
      <p:grpSp>
        <p:nvGrpSpPr>
          <p:cNvPr id="21" name="Group 20">
            <a:extLst>
              <a:ext uri="{FF2B5EF4-FFF2-40B4-BE49-F238E27FC236}">
                <a16:creationId xmlns:a16="http://schemas.microsoft.com/office/drawing/2014/main" id="{57793D35-7917-C0EF-5D8B-C2300F29C995}"/>
              </a:ext>
            </a:extLst>
          </p:cNvPr>
          <p:cNvGrpSpPr/>
          <p:nvPr/>
        </p:nvGrpSpPr>
        <p:grpSpPr>
          <a:xfrm>
            <a:off x="7583282" y="1931572"/>
            <a:ext cx="2804610" cy="1376658"/>
            <a:chOff x="7583282" y="1931572"/>
            <a:chExt cx="2804610" cy="1376658"/>
          </a:xfrm>
        </p:grpSpPr>
        <p:sp>
          <p:nvSpPr>
            <p:cNvPr id="8" name="Rectangle 7">
              <a:extLst>
                <a:ext uri="{FF2B5EF4-FFF2-40B4-BE49-F238E27FC236}">
                  <a16:creationId xmlns:a16="http://schemas.microsoft.com/office/drawing/2014/main" id="{5BFD5DD6-4C0F-FC8C-4FF7-BCB43B7D5C54}"/>
                </a:ext>
              </a:extLst>
            </p:cNvPr>
            <p:cNvSpPr/>
            <p:nvPr/>
          </p:nvSpPr>
          <p:spPr>
            <a:xfrm>
              <a:off x="7583282" y="1931572"/>
              <a:ext cx="2604072" cy="137665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ln w="0"/>
                  <a:solidFill>
                    <a:schemeClr val="bg1"/>
                  </a:solidFill>
                  <a:effectLst>
                    <a:outerShdw blurRad="38100" dist="19050" dir="2700000" algn="tl" rotWithShape="0">
                      <a:schemeClr val="dk1">
                        <a:alpha val="40000"/>
                      </a:schemeClr>
                    </a:outerShdw>
                  </a:effectLst>
                </a:rPr>
                <a:t>Object</a:t>
              </a:r>
              <a:endParaRPr lang="en-US" dirty="0">
                <a:solidFill>
                  <a:schemeClr val="bg1"/>
                </a:solidFill>
              </a:endParaRPr>
            </a:p>
          </p:txBody>
        </p:sp>
        <p:sp>
          <p:nvSpPr>
            <p:cNvPr id="9" name="Rectangle 8">
              <a:extLst>
                <a:ext uri="{FF2B5EF4-FFF2-40B4-BE49-F238E27FC236}">
                  <a16:creationId xmlns:a16="http://schemas.microsoft.com/office/drawing/2014/main" id="{332B6133-124B-EC62-835B-17D30D4B3D96}"/>
                </a:ext>
              </a:extLst>
            </p:cNvPr>
            <p:cNvSpPr/>
            <p:nvPr/>
          </p:nvSpPr>
          <p:spPr>
            <a:xfrm>
              <a:off x="8631890" y="3097214"/>
              <a:ext cx="586154" cy="21101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CB3755-01BD-59F3-9BA0-14E8632DF030}"/>
                </a:ext>
              </a:extLst>
            </p:cNvPr>
            <p:cNvSpPr txBox="1"/>
            <p:nvPr/>
          </p:nvSpPr>
          <p:spPr>
            <a:xfrm>
              <a:off x="9203861" y="2833390"/>
              <a:ext cx="1184031" cy="369332"/>
            </a:xfrm>
            <a:prstGeom prst="rect">
              <a:avLst/>
            </a:prstGeom>
            <a:noFill/>
          </p:spPr>
          <p:txBody>
            <a:bodyPr wrap="square" rtlCol="0">
              <a:spAutoFit/>
            </a:bodyPr>
            <a:lstStyle/>
            <a:p>
              <a:r>
                <a:rPr lang="en-US" dirty="0" err="1">
                  <a:solidFill>
                    <a:schemeClr val="bg1"/>
                  </a:solidFill>
                  <a:latin typeface="Consolas" panose="020B0609020204030204" pitchFamily="49" charset="0"/>
                </a:rPr>
                <a:t>func</a:t>
              </a:r>
              <a:r>
                <a:rPr lang="en-US" dirty="0">
                  <a:solidFill>
                    <a:schemeClr val="bg1"/>
                  </a:solidFill>
                  <a:latin typeface="Consolas" panose="020B0609020204030204" pitchFamily="49" charset="0"/>
                </a:rPr>
                <a:t>()</a:t>
              </a:r>
            </a:p>
          </p:txBody>
        </p:sp>
      </p:grpSp>
      <p:cxnSp>
        <p:nvCxnSpPr>
          <p:cNvPr id="23" name="Straight Arrow Connector 22">
            <a:extLst>
              <a:ext uri="{FF2B5EF4-FFF2-40B4-BE49-F238E27FC236}">
                <a16:creationId xmlns:a16="http://schemas.microsoft.com/office/drawing/2014/main" id="{19A2885C-CAD9-9A1E-FFFE-0DF525A67926}"/>
              </a:ext>
            </a:extLst>
          </p:cNvPr>
          <p:cNvCxnSpPr>
            <a:cxnSpLocks/>
            <a:endCxn id="14" idx="2"/>
          </p:cNvCxnSpPr>
          <p:nvPr/>
        </p:nvCxnSpPr>
        <p:spPr>
          <a:xfrm flipV="1">
            <a:off x="8924967" y="4315556"/>
            <a:ext cx="5701" cy="82794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6" name="Rectangle 25">
            <a:extLst>
              <a:ext uri="{FF2B5EF4-FFF2-40B4-BE49-F238E27FC236}">
                <a16:creationId xmlns:a16="http://schemas.microsoft.com/office/drawing/2014/main" id="{ED89E94F-E2FF-C34E-9E88-59E5744EB48F}"/>
              </a:ext>
            </a:extLst>
          </p:cNvPr>
          <p:cNvSpPr/>
          <p:nvPr/>
        </p:nvSpPr>
        <p:spPr>
          <a:xfrm>
            <a:off x="7583283" y="3515661"/>
            <a:ext cx="2604071" cy="501277"/>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additional_functionality</a:t>
            </a:r>
            <a:r>
              <a:rPr lang="en-US" dirty="0">
                <a:solidFill>
                  <a:schemeClr val="tx1"/>
                </a:solidFill>
              </a:rPr>
              <a:t>()</a:t>
            </a:r>
          </a:p>
        </p:txBody>
      </p:sp>
    </p:spTree>
    <p:extLst>
      <p:ext uri="{BB962C8B-B14F-4D97-AF65-F5344CB8AC3E}">
        <p14:creationId xmlns:p14="http://schemas.microsoft.com/office/powerpoint/2010/main" val="311890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FCC80-DCA4-A2F3-68CB-B34A12AA3FA1}"/>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06B47569-8DB3-FC60-EAEF-9C27B888621E}"/>
              </a:ext>
            </a:extLst>
          </p:cNvPr>
          <p:cNvGrpSpPr/>
          <p:nvPr/>
        </p:nvGrpSpPr>
        <p:grpSpPr>
          <a:xfrm>
            <a:off x="1055077" y="1406768"/>
            <a:ext cx="3962400" cy="3697333"/>
            <a:chOff x="6553200" y="1477107"/>
            <a:chExt cx="3962400" cy="3697333"/>
          </a:xfrm>
        </p:grpSpPr>
        <p:grpSp>
          <p:nvGrpSpPr>
            <p:cNvPr id="36" name="Group 35">
              <a:extLst>
                <a:ext uri="{FF2B5EF4-FFF2-40B4-BE49-F238E27FC236}">
                  <a16:creationId xmlns:a16="http://schemas.microsoft.com/office/drawing/2014/main" id="{D644DAFC-8440-8D74-5434-7B150617869E}"/>
                </a:ext>
              </a:extLst>
            </p:cNvPr>
            <p:cNvGrpSpPr/>
            <p:nvPr/>
          </p:nvGrpSpPr>
          <p:grpSpPr>
            <a:xfrm>
              <a:off x="6553200" y="1477107"/>
              <a:ext cx="3962400" cy="3371772"/>
              <a:chOff x="6553200" y="1477107"/>
              <a:chExt cx="3962400" cy="3371772"/>
            </a:xfrm>
          </p:grpSpPr>
          <p:sp>
            <p:nvSpPr>
              <p:cNvPr id="3" name="Rectangle 2">
                <a:extLst>
                  <a:ext uri="{FF2B5EF4-FFF2-40B4-BE49-F238E27FC236}">
                    <a16:creationId xmlns:a16="http://schemas.microsoft.com/office/drawing/2014/main" id="{9F07D3C6-F0B8-5E53-1C94-B84402F3903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6476910-F87F-D22C-E793-C00A67F72758}"/>
                  </a:ext>
                </a:extLst>
              </p:cNvPr>
              <p:cNvSpPr/>
              <p:nvPr/>
            </p:nvSpPr>
            <p:spPr>
              <a:xfrm>
                <a:off x="7043672" y="1507802"/>
                <a:ext cx="2981458"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Person</a:t>
                </a:r>
                <a:r>
                  <a:rPr lang="en-US" sz="2800" b="0" cap="none" spc="0" dirty="0" err="1">
                    <a:ln w="0"/>
                    <a:solidFill>
                      <a:schemeClr val="tx1"/>
                    </a:solidFill>
                    <a:effectLst>
                      <a:outerShdw blurRad="38100" dist="19050" dir="2700000" algn="tl" rotWithShape="0">
                        <a:schemeClr val="dk1">
                          <a:alpha val="40000"/>
                        </a:schemeClr>
                      </a:outerShdw>
                    </a:effectLst>
                  </a:rPr>
                  <a:t>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EDEC17F4-151A-FE6B-AA7A-06725AF6F604}"/>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C00A58-6D13-19D8-A3D3-67F57C1DB035}"/>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4DDBBBF-EF97-1F04-C922-5792C2EAF778}"/>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6" name="TextBox 15">
                <a:extLst>
                  <a:ext uri="{FF2B5EF4-FFF2-40B4-BE49-F238E27FC236}">
                    <a16:creationId xmlns:a16="http://schemas.microsoft.com/office/drawing/2014/main" id="{8809E86A-CB42-8767-31E5-8264A38FECE9}"/>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17" name="TextBox 16">
                <a:extLst>
                  <a:ext uri="{FF2B5EF4-FFF2-40B4-BE49-F238E27FC236}">
                    <a16:creationId xmlns:a16="http://schemas.microsoft.com/office/drawing/2014/main" id="{92AAE7FB-78C4-EF60-31DE-F01BBE1B2438}"/>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18" name="TextBox 17">
                <a:extLst>
                  <a:ext uri="{FF2B5EF4-FFF2-40B4-BE49-F238E27FC236}">
                    <a16:creationId xmlns:a16="http://schemas.microsoft.com/office/drawing/2014/main" id="{87F19D73-3A4F-1952-D5D5-64D3581C136C}"/>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20" name="Straight Arrow Connector 19">
                <a:extLst>
                  <a:ext uri="{FF2B5EF4-FFF2-40B4-BE49-F238E27FC236}">
                    <a16:creationId xmlns:a16="http://schemas.microsoft.com/office/drawing/2014/main" id="{81F15233-0357-E5FB-978B-C8C49A1B978D}"/>
                  </a:ext>
                </a:extLst>
              </p:cNvPr>
              <p:cNvCxnSpPr>
                <a:stCxn id="12"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C5620A36-DC1D-57AC-4958-BE3968A550C5}"/>
                  </a:ext>
                </a:extLst>
              </p:cNvPr>
              <p:cNvCxnSpPr>
                <a:cxnSpLocks/>
                <a:stCxn id="13" idx="0"/>
                <a:endCxn id="18"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EA1FB9F-46E5-090A-04BF-25D09A068E07}"/>
                  </a:ext>
                </a:extLst>
              </p:cNvPr>
              <p:cNvCxnSpPr>
                <a:cxnSpLocks/>
                <a:stCxn id="17" idx="0"/>
                <a:endCxn id="7"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29BB24F2-7083-1D0C-07AE-F60741C9E463}"/>
                  </a:ext>
                </a:extLst>
              </p:cNvPr>
              <p:cNvCxnSpPr>
                <a:cxnSpLocks/>
                <a:stCxn id="18" idx="0"/>
                <a:endCxn id="8"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7C487434-A16E-FA8A-B8C1-BD6D661CA7BD}"/>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17A5902F-C6BD-8E9A-D319-A813594BEF7F}"/>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sp>
        <p:nvSpPr>
          <p:cNvPr id="22" name="Content Placeholder 21">
            <a:extLst>
              <a:ext uri="{FF2B5EF4-FFF2-40B4-BE49-F238E27FC236}">
                <a16:creationId xmlns:a16="http://schemas.microsoft.com/office/drawing/2014/main" id="{B3CF7E8A-566C-CBDB-7599-D886504499C7}"/>
              </a:ext>
            </a:extLst>
          </p:cNvPr>
          <p:cNvSpPr>
            <a:spLocks noGrp="1"/>
          </p:cNvSpPr>
          <p:nvPr>
            <p:ph idx="1"/>
          </p:nvPr>
        </p:nvSpPr>
        <p:spPr>
          <a:xfrm>
            <a:off x="6176512" y="785004"/>
            <a:ext cx="5933425" cy="5046453"/>
          </a:xfrm>
        </p:spPr>
        <p:txBody>
          <a:bodyPr>
            <a:normAutofit fontScale="92500" lnSpcReduction="20000"/>
          </a:bodyPr>
          <a:lstStyle/>
          <a:p>
            <a:r>
              <a:rPr lang="en-US" dirty="0"/>
              <a:t>class Person {</a:t>
            </a:r>
          </a:p>
          <a:p>
            <a:r>
              <a:rPr lang="en-US" dirty="0"/>
              <a:t>	public String walk() { … }</a:t>
            </a:r>
          </a:p>
          <a:p>
            <a:r>
              <a:rPr lang="en-US" dirty="0"/>
              <a:t>	public void talk() { … }</a:t>
            </a:r>
          </a:p>
          <a:p>
            <a:r>
              <a:rPr lang="en-US" dirty="0"/>
              <a:t>}</a:t>
            </a:r>
          </a:p>
          <a:p>
            <a:endParaRPr lang="en-US" dirty="0"/>
          </a:p>
          <a:p>
            <a:r>
              <a:rPr lang="en-US" dirty="0"/>
              <a:t>class </a:t>
            </a:r>
            <a:r>
              <a:rPr lang="en-US" dirty="0" err="1"/>
              <a:t>PersonProxy</a:t>
            </a:r>
            <a:r>
              <a:rPr lang="en-US" dirty="0"/>
              <a:t> </a:t>
            </a:r>
            <a:r>
              <a:rPr lang="en-US" b="1" dirty="0"/>
              <a:t>extends Person</a:t>
            </a:r>
            <a:r>
              <a:rPr lang="en-US" dirty="0"/>
              <a:t>{</a:t>
            </a:r>
          </a:p>
          <a:p>
            <a:r>
              <a:rPr lang="en-US" dirty="0"/>
              <a:t>	private Person person; // Wrap person obj</a:t>
            </a:r>
          </a:p>
          <a:p>
            <a:endParaRPr lang="en-US" dirty="0"/>
          </a:p>
          <a:p>
            <a:r>
              <a:rPr lang="en-US" dirty="0"/>
              <a:t>	public log() { </a:t>
            </a:r>
            <a:r>
              <a:rPr lang="en-US" dirty="0" err="1"/>
              <a:t>S.o.p</a:t>
            </a:r>
            <a:r>
              <a:rPr lang="en-US" dirty="0"/>
              <a:t>(…); }</a:t>
            </a:r>
          </a:p>
          <a:p>
            <a:endParaRPr lang="en-US" dirty="0"/>
          </a:p>
          <a:p>
            <a:r>
              <a:rPr lang="en-US" dirty="0"/>
              <a:t>	public void walk() {</a:t>
            </a:r>
          </a:p>
          <a:p>
            <a:r>
              <a:rPr lang="en-US" dirty="0"/>
              <a:t>		log();</a:t>
            </a:r>
          </a:p>
          <a:p>
            <a:r>
              <a:rPr lang="en-US" dirty="0"/>
              <a:t>		</a:t>
            </a:r>
            <a:r>
              <a:rPr lang="en-US" dirty="0" err="1"/>
              <a:t>person.walk</a:t>
            </a:r>
            <a:r>
              <a:rPr lang="en-US" dirty="0"/>
              <a:t>();</a:t>
            </a:r>
          </a:p>
          <a:p>
            <a:r>
              <a:rPr lang="en-US" dirty="0"/>
              <a:t>	}</a:t>
            </a:r>
          </a:p>
          <a:p>
            <a:r>
              <a:rPr lang="en-US" dirty="0"/>
              <a:t>	public void talk() {</a:t>
            </a:r>
          </a:p>
          <a:p>
            <a:r>
              <a:rPr lang="en-US" dirty="0"/>
              <a:t>		log();</a:t>
            </a:r>
          </a:p>
          <a:p>
            <a:r>
              <a:rPr lang="en-US" dirty="0"/>
              <a:t>		</a:t>
            </a:r>
            <a:r>
              <a:rPr lang="en-US" dirty="0" err="1"/>
              <a:t>person.talk</a:t>
            </a:r>
            <a:r>
              <a:rPr lang="en-US" dirty="0"/>
              <a:t>();</a:t>
            </a:r>
          </a:p>
          <a:p>
            <a:r>
              <a:rPr lang="en-US" dirty="0"/>
              <a:t>	}</a:t>
            </a:r>
          </a:p>
          <a:p>
            <a:r>
              <a:rPr lang="en-US" dirty="0"/>
              <a:t>}</a:t>
            </a:r>
            <a:br>
              <a:rPr lang="en-US" dirty="0"/>
            </a:br>
            <a:r>
              <a:rPr lang="en-US" dirty="0"/>
              <a:t>public static void main() {</a:t>
            </a:r>
            <a:br>
              <a:rPr lang="en-US" dirty="0"/>
            </a:br>
            <a:r>
              <a:rPr lang="en-US" dirty="0"/>
              <a:t>	Person p = new </a:t>
            </a:r>
            <a:r>
              <a:rPr lang="en-US" dirty="0" err="1"/>
              <a:t>PersonProxy</a:t>
            </a:r>
            <a:r>
              <a:rPr lang="en-US" dirty="0"/>
              <a:t>();</a:t>
            </a:r>
            <a:br>
              <a:rPr lang="en-US" dirty="0"/>
            </a:br>
            <a:r>
              <a:rPr lang="en-US" dirty="0"/>
              <a:t>	animate (p);</a:t>
            </a:r>
            <a:br>
              <a:rPr lang="en-US" dirty="0"/>
            </a:br>
            <a:r>
              <a:rPr lang="en-US" dirty="0"/>
              <a:t>}</a:t>
            </a:r>
            <a:br>
              <a:rPr lang="en-US" dirty="0"/>
            </a:br>
            <a:br>
              <a:rPr lang="en-US" dirty="0"/>
            </a:br>
            <a:r>
              <a:rPr lang="en-US" dirty="0"/>
              <a:t>static void animate(Person p) {</a:t>
            </a:r>
            <a:br>
              <a:rPr lang="en-US" dirty="0"/>
            </a:br>
            <a:r>
              <a:rPr lang="en-US" dirty="0"/>
              <a:t>	</a:t>
            </a:r>
            <a:r>
              <a:rPr lang="en-US" dirty="0" err="1"/>
              <a:t>p.walk</a:t>
            </a:r>
            <a:r>
              <a:rPr lang="en-US" dirty="0"/>
              <a:t>(); </a:t>
            </a:r>
            <a:r>
              <a:rPr lang="en-US" dirty="0" err="1"/>
              <a:t>p.talk</a:t>
            </a:r>
            <a:r>
              <a:rPr lang="en-US" dirty="0"/>
              <a:t>();</a:t>
            </a:r>
          </a:p>
          <a:p>
            <a:r>
              <a:rPr lang="en-US" dirty="0"/>
              <a:t>}</a:t>
            </a:r>
          </a:p>
        </p:txBody>
      </p:sp>
      <p:sp>
        <p:nvSpPr>
          <p:cNvPr id="4" name="Title 3">
            <a:extLst>
              <a:ext uri="{FF2B5EF4-FFF2-40B4-BE49-F238E27FC236}">
                <a16:creationId xmlns:a16="http://schemas.microsoft.com/office/drawing/2014/main" id="{F45D4868-2E65-9E86-5EB1-4C9A543D3117}"/>
              </a:ext>
            </a:extLst>
          </p:cNvPr>
          <p:cNvSpPr>
            <a:spLocks noGrp="1"/>
          </p:cNvSpPr>
          <p:nvPr>
            <p:ph type="title"/>
          </p:nvPr>
        </p:nvSpPr>
        <p:spPr>
          <a:xfrm>
            <a:off x="0" y="0"/>
            <a:ext cx="12192000" cy="696277"/>
          </a:xfrm>
        </p:spPr>
        <p:txBody>
          <a:bodyPr/>
          <a:lstStyle/>
          <a:p>
            <a:r>
              <a:rPr lang="en-US" dirty="0"/>
              <a:t>Proxy object wraps and extends target class</a:t>
            </a:r>
          </a:p>
        </p:txBody>
      </p:sp>
      <p:grpSp>
        <p:nvGrpSpPr>
          <p:cNvPr id="14" name="Group 13">
            <a:extLst>
              <a:ext uri="{FF2B5EF4-FFF2-40B4-BE49-F238E27FC236}">
                <a16:creationId xmlns:a16="http://schemas.microsoft.com/office/drawing/2014/main" id="{7D5455C6-C0CD-FAC3-3B41-90C481704CBD}"/>
              </a:ext>
            </a:extLst>
          </p:cNvPr>
          <p:cNvGrpSpPr/>
          <p:nvPr/>
        </p:nvGrpSpPr>
        <p:grpSpPr>
          <a:xfrm>
            <a:off x="1834661" y="1969476"/>
            <a:ext cx="2403231" cy="1582615"/>
            <a:chOff x="7332784" y="2039815"/>
            <a:chExt cx="2403231" cy="1582615"/>
          </a:xfrm>
        </p:grpSpPr>
        <p:sp>
          <p:nvSpPr>
            <p:cNvPr id="6" name="Rectangle 5">
              <a:extLst>
                <a:ext uri="{FF2B5EF4-FFF2-40B4-BE49-F238E27FC236}">
                  <a16:creationId xmlns:a16="http://schemas.microsoft.com/office/drawing/2014/main" id="{77B5C5B5-30FA-ED5C-C165-0D90B57B8290}"/>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7" name="Rectangle 6">
              <a:extLst>
                <a:ext uri="{FF2B5EF4-FFF2-40B4-BE49-F238E27FC236}">
                  <a16:creationId xmlns:a16="http://schemas.microsoft.com/office/drawing/2014/main" id="{55C0E506-2D25-82A7-8A42-E63FADD9741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73EC3C-78B4-53A2-3C3D-968B3DFB308E}"/>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9FC153E-09ED-C471-3F73-D984E3C1F996}"/>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10" name="TextBox 9">
              <a:extLst>
                <a:ext uri="{FF2B5EF4-FFF2-40B4-BE49-F238E27FC236}">
                  <a16:creationId xmlns:a16="http://schemas.microsoft.com/office/drawing/2014/main" id="{B329C690-BA7F-29F1-E72A-8E3C2C5928FF}"/>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24" name="Rectangle 23">
            <a:extLst>
              <a:ext uri="{FF2B5EF4-FFF2-40B4-BE49-F238E27FC236}">
                <a16:creationId xmlns:a16="http://schemas.microsoft.com/office/drawing/2014/main" id="{3FF8E1C5-5A33-BBEA-75AC-E6FFA242A5F6}"/>
              </a:ext>
            </a:extLst>
          </p:cNvPr>
          <p:cNvSpPr/>
          <p:nvPr/>
        </p:nvSpPr>
        <p:spPr>
          <a:xfrm>
            <a:off x="6015489" y="1615045"/>
            <a:ext cx="4841631" cy="310014"/>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5" name="Rectangle 24">
            <a:extLst>
              <a:ext uri="{FF2B5EF4-FFF2-40B4-BE49-F238E27FC236}">
                <a16:creationId xmlns:a16="http://schemas.microsoft.com/office/drawing/2014/main" id="{2ACB0751-5F1D-BC8F-961C-D8F98C8112AB}"/>
              </a:ext>
            </a:extLst>
          </p:cNvPr>
          <p:cNvSpPr/>
          <p:nvPr/>
        </p:nvSpPr>
        <p:spPr>
          <a:xfrm>
            <a:off x="6015488" y="2539270"/>
            <a:ext cx="4841631" cy="88973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6" name="Rectangle 25">
            <a:extLst>
              <a:ext uri="{FF2B5EF4-FFF2-40B4-BE49-F238E27FC236}">
                <a16:creationId xmlns:a16="http://schemas.microsoft.com/office/drawing/2014/main" id="{5101D447-E2AC-FF60-76E1-CBAC67D9F281}"/>
              </a:ext>
            </a:extLst>
          </p:cNvPr>
          <p:cNvSpPr/>
          <p:nvPr/>
        </p:nvSpPr>
        <p:spPr>
          <a:xfrm>
            <a:off x="286814" y="5362056"/>
            <a:ext cx="6307817" cy="523220"/>
          </a:xfrm>
          <a:prstGeom prst="rect">
            <a:avLst/>
          </a:prstGeom>
          <a:noFill/>
        </p:spPr>
        <p:txBody>
          <a:bodyPr wrap="none" lIns="91440" tIns="45720" rIns="91440" bIns="45720">
            <a:spAutoFit/>
          </a:bodyPr>
          <a:lstStyle/>
          <a:p>
            <a:pPr algn="ctr"/>
            <a:r>
              <a:rPr lang="en-US" sz="2800" b="1" i="1" dirty="0">
                <a:ln w="0"/>
                <a:effectLst>
                  <a:outerShdw blurRad="38100" dist="19050" dir="2700000" algn="tl" rotWithShape="0">
                    <a:schemeClr val="dk1">
                      <a:alpha val="40000"/>
                    </a:schemeClr>
                  </a:outerShdw>
                </a:effectLst>
              </a:rPr>
              <a:t>Proxies intercept the method invocations</a:t>
            </a:r>
            <a:endParaRPr lang="en-US" sz="2800" b="1" i="1" cap="none" spc="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B1F73071-C02C-FBDF-3CBA-0E03E9589E26}"/>
              </a:ext>
            </a:extLst>
          </p:cNvPr>
          <p:cNvSpPr/>
          <p:nvPr/>
        </p:nvSpPr>
        <p:spPr>
          <a:xfrm>
            <a:off x="6015489" y="1918406"/>
            <a:ext cx="5121434" cy="30023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75225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25" grpId="0" animBg="1"/>
      <p:bldP spid="25" grpId="1" animBg="1"/>
      <p:bldP spid="2" grpId="0" animBg="1"/>
      <p:bldP spid="2" grpId="1"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343634" y="3106953"/>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043671" y="1507802"/>
                <a:ext cx="2981458"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PersonProxy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Person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a:latin typeface="Consolas" panose="020B0609020204030204" pitchFamily="49" charset="0"/>
                </a:rPr>
                <a:t>walk</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a:latin typeface="Consolas" panose="020B0609020204030204" pitchFamily="49" charset="0"/>
                </a:rPr>
                <a:t>talk</a:t>
              </a:r>
              <a:r>
                <a:rPr lang="en-US" dirty="0"/>
                <a:t>()</a:t>
              </a:r>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509200" cy="461665"/>
          </a:xfrm>
          <a:prstGeom prst="rect">
            <a:avLst/>
          </a:prstGeom>
          <a:noFill/>
        </p:spPr>
        <p:txBody>
          <a:bodyPr wrap="none" rtlCol="0">
            <a:spAutoFit/>
          </a:bodyPr>
          <a:lstStyle/>
          <a:p>
            <a:r>
              <a:rPr lang="en-US" sz="2400" dirty="0"/>
              <a:t>Implements/extends </a:t>
            </a:r>
            <a:r>
              <a:rPr lang="en-US" sz="2400" b="1" i="1" dirty="0"/>
              <a:t>target</a:t>
            </a:r>
            <a:r>
              <a:rPr lang="en-US" sz="2400" dirty="0"/>
              <a:t>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dirty="0"/>
              <a:t>Implements/extends interface/class of </a:t>
            </a:r>
            <a:r>
              <a:rPr lang="en-US" sz="2400" b="1" i="1" dirty="0"/>
              <a:t>inner</a:t>
            </a:r>
            <a:r>
              <a:rPr lang="en-US" sz="2400" dirty="0"/>
              <a:t> obj</a:t>
            </a:r>
          </a:p>
        </p:txBody>
      </p:sp>
      <p:sp>
        <p:nvSpPr>
          <p:cNvPr id="2" name="TextBox 1">
            <a:extLst>
              <a:ext uri="{FF2B5EF4-FFF2-40B4-BE49-F238E27FC236}">
                <a16:creationId xmlns:a16="http://schemas.microsoft.com/office/drawing/2014/main" id="{996D5B38-4B55-9060-8507-239672E7F6BF}"/>
              </a:ext>
            </a:extLst>
          </p:cNvPr>
          <p:cNvSpPr txBox="1"/>
          <p:nvPr/>
        </p:nvSpPr>
        <p:spPr>
          <a:xfrm>
            <a:off x="865777" y="5297240"/>
            <a:ext cx="4452886" cy="461665"/>
          </a:xfrm>
          <a:prstGeom prst="rect">
            <a:avLst/>
          </a:prstGeom>
          <a:noFill/>
        </p:spPr>
        <p:txBody>
          <a:bodyPr wrap="none" rtlCol="0">
            <a:spAutoFit/>
          </a:bodyPr>
          <a:lstStyle/>
          <a:p>
            <a:r>
              <a:rPr lang="en-US" sz="2400" dirty="0"/>
              <a:t>Adapts the </a:t>
            </a:r>
            <a:r>
              <a:rPr lang="en-US" sz="2400" dirty="0" err="1"/>
              <a:t>adaptee</a:t>
            </a:r>
            <a:r>
              <a:rPr lang="en-US" sz="2400" dirty="0"/>
              <a:t> API to target’s</a:t>
            </a:r>
          </a:p>
        </p:txBody>
      </p:sp>
      <p:sp>
        <p:nvSpPr>
          <p:cNvPr id="4" name="TextBox 3">
            <a:extLst>
              <a:ext uri="{FF2B5EF4-FFF2-40B4-BE49-F238E27FC236}">
                <a16:creationId xmlns:a16="http://schemas.microsoft.com/office/drawing/2014/main" id="{A78D7EAD-007B-AC43-D70C-C1618D16276B}"/>
              </a:ext>
            </a:extLst>
          </p:cNvPr>
          <p:cNvSpPr txBox="1"/>
          <p:nvPr/>
        </p:nvSpPr>
        <p:spPr>
          <a:xfrm>
            <a:off x="6145735" y="5297240"/>
            <a:ext cx="4921540" cy="461665"/>
          </a:xfrm>
          <a:prstGeom prst="rect">
            <a:avLst/>
          </a:prstGeom>
          <a:noFill/>
        </p:spPr>
        <p:txBody>
          <a:bodyPr wrap="none" rtlCol="0">
            <a:spAutoFit/>
          </a:bodyPr>
          <a:lstStyle/>
          <a:p>
            <a:r>
              <a:rPr lang="en-US" sz="2400" dirty="0"/>
              <a:t>Has the same API as inner object class</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P spid="2" grpId="0"/>
      <p:bldP spid="4"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C-to-Rust </a:t>
            </a:r>
            <a:r>
              <a:rPr lang="en-US" dirty="0" err="1"/>
              <a:t>transpilation</a:t>
            </a:r>
            <a:r>
              <a:rPr lang="en-US" dirty="0"/>
              <a:t>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a:t>
            </a:r>
            <a:r>
              <a:rPr lang="en-US" dirty="0" err="1"/>
              <a:t>transpilation</a:t>
            </a:r>
            <a:r>
              <a:rPr lang="en-US" dirty="0"/>
              <a:t>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a:t>
            </a:r>
            <a:r>
              <a:rPr lang="en-US" dirty="0" err="1"/>
              <a:t>transpiler</a:t>
            </a:r>
            <a:r>
              <a:rPr lang="en-US" dirty="0"/>
              <a:t>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a:t>
            </a:r>
            <a:r>
              <a:rPr lang="en-US" dirty="0" err="1"/>
              <a:t>transpilation</a:t>
            </a:r>
            <a:r>
              <a:rPr lang="en-US" dirty="0"/>
              <a:t>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724913" cy="523220"/>
              </a:xfrm>
              <a:prstGeom prst="rect">
                <a:avLst/>
              </a:prstGeom>
              <a:noFill/>
            </p:spPr>
            <p:txBody>
              <a:bodyPr wrap="none" rtlCol="0">
                <a:spAutoFit/>
              </a:bodyPr>
              <a:lstStyle/>
              <a:p>
                <a:r>
                  <a:rPr lang="en-US" sz="2800" b="1" i="1" dirty="0" err="1"/>
                  <a:t>Transpiler</a:t>
                </a:r>
                <a:r>
                  <a:rPr lang="en-US" sz="2800" b="1" i="1" dirty="0"/>
                  <a:t>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721946" cy="523220"/>
          </a:xfrm>
          <a:prstGeom prst="rect">
            <a:avLst/>
          </a:prstGeom>
          <a:noFill/>
        </p:spPr>
        <p:txBody>
          <a:bodyPr wrap="none" rtlCol="0">
            <a:spAutoFit/>
          </a:bodyPr>
          <a:lstStyle/>
          <a:p>
            <a:r>
              <a:rPr lang="en-US" sz="2800" b="1" i="1" dirty="0" err="1"/>
              <a:t>transpile</a:t>
            </a:r>
            <a:r>
              <a:rPr lang="en-US" sz="2800" b="1" i="1" dirty="0"/>
              <a:t>()</a:t>
            </a:r>
          </a:p>
        </p:txBody>
      </p:sp>
    </p:spTree>
    <p:extLst>
      <p:ext uri="{BB962C8B-B14F-4D97-AF65-F5344CB8AC3E}">
        <p14:creationId xmlns:p14="http://schemas.microsoft.com/office/powerpoint/2010/main" val="33487925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br>
              <a:rPr lang="en-US" dirty="0"/>
            </a:br>
            <a:r>
              <a:rPr lang="en-US" dirty="0"/>
              <a:t>public static void main(String[] </a:t>
            </a:r>
            <a:r>
              <a:rPr lang="en-US" dirty="0" err="1"/>
              <a:t>args</a:t>
            </a:r>
            <a:r>
              <a:rPr lang="en-US" dirty="0"/>
              <a:t>) {</a:t>
            </a:r>
          </a:p>
          <a:p>
            <a:r>
              <a:rPr lang="en-US" dirty="0"/>
              <a:t>	</a:t>
            </a:r>
            <a:r>
              <a:rPr lang="en-US" dirty="0" err="1"/>
              <a:t>PaymentProcessor</a:t>
            </a:r>
            <a:r>
              <a:rPr lang="en-US" dirty="0"/>
              <a:t> </a:t>
            </a:r>
            <a:r>
              <a:rPr lang="en-US" dirty="0" err="1"/>
              <a:t>paypalProc</a:t>
            </a:r>
            <a:r>
              <a:rPr lang="en-US" dirty="0"/>
              <a:t> = new </a:t>
            </a:r>
            <a:r>
              <a:rPr lang="en-US" dirty="0" err="1"/>
              <a:t>PaypalProcessor</a:t>
            </a:r>
            <a:r>
              <a:rPr lang="en-US" dirty="0"/>
              <a:t>(); </a:t>
            </a:r>
            <a:br>
              <a:rPr lang="en-US" dirty="0"/>
            </a:br>
            <a:r>
              <a:rPr lang="en-US" dirty="0"/>
              <a:t> 	</a:t>
            </a:r>
            <a:r>
              <a:rPr lang="en-US" dirty="0" err="1"/>
              <a:t>complete_transaction</a:t>
            </a:r>
            <a:r>
              <a:rPr lang="en-US" dirty="0"/>
              <a:t>(</a:t>
            </a:r>
            <a:r>
              <a:rPr lang="en-US" dirty="0" err="1"/>
              <a:t>paypalProc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r>
              <a:rPr lang="en-US" dirty="0"/>
              <a:t>Don’t want to change the </a:t>
            </a:r>
            <a:r>
              <a:rPr lang="en-US" dirty="0" err="1">
                <a:latin typeface="Consolas" panose="020B0609020204030204" pitchFamily="49" charset="0"/>
                <a:cs typeface="Consolas" panose="020B0609020204030204" pitchFamily="49" charset="0"/>
              </a:rPr>
              <a:t>complete_transaction</a:t>
            </a:r>
            <a:r>
              <a:rPr lang="en-US" dirty="0"/>
              <a:t> method</a:t>
            </a:r>
          </a:p>
          <a:p>
            <a:r>
              <a:rPr lang="en-US" dirty="0"/>
              <a:t>Don’t want to or </a:t>
            </a:r>
            <a:r>
              <a:rPr lang="en-US" b="1" dirty="0"/>
              <a:t>can’t</a:t>
            </a:r>
            <a:r>
              <a:rPr lang="en-US" dirty="0"/>
              <a:t> modify </a:t>
            </a:r>
            <a:r>
              <a:rPr lang="en-US" dirty="0" err="1">
                <a:latin typeface="Consolas" panose="020B0609020204030204" pitchFamily="49" charset="0"/>
                <a:cs typeface="Consolas" panose="020B0609020204030204" pitchFamily="49" charset="0"/>
              </a:rPr>
              <a:t>PaypalProcessor</a:t>
            </a:r>
            <a:endParaRPr lang="en-US" dirty="0">
              <a:latin typeface="Consolas" panose="020B0609020204030204" pitchFamily="49" charset="0"/>
              <a:cs typeface="Consolas" panose="020B0609020204030204" pitchFamily="49" charset="0"/>
            </a:endParaRPr>
          </a:p>
          <a:p>
            <a:endParaRPr lang="en-US" dirty="0">
              <a:latin typeface="Consolas" panose="020B0609020204030204" pitchFamily="49" charset="0"/>
              <a:cs typeface="Consolas" panose="020B0609020204030204" pitchFamily="49" charset="0"/>
            </a:endParaRPr>
          </a:p>
          <a:p>
            <a:pPr marL="0" indent="0">
              <a:buNone/>
            </a:pPr>
            <a:endParaRPr lang="en-US" dirty="0"/>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
        <p:nvSpPr>
          <p:cNvPr id="2" name="Rectangle 1">
            <a:extLst>
              <a:ext uri="{FF2B5EF4-FFF2-40B4-BE49-F238E27FC236}">
                <a16:creationId xmlns:a16="http://schemas.microsoft.com/office/drawing/2014/main" id="{DAD90942-1601-E96C-CEC5-3F35E8493AA4}"/>
              </a:ext>
            </a:extLst>
          </p:cNvPr>
          <p:cNvSpPr/>
          <p:nvPr/>
        </p:nvSpPr>
        <p:spPr>
          <a:xfrm>
            <a:off x="6176512" y="2030681"/>
            <a:ext cx="5633412" cy="152004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C88414EA-D619-9CAE-A65D-CE8AEA13AA33}"/>
              </a:ext>
            </a:extLst>
          </p:cNvPr>
          <p:cNvSpPr/>
          <p:nvPr/>
        </p:nvSpPr>
        <p:spPr>
          <a:xfrm>
            <a:off x="6176512" y="3695800"/>
            <a:ext cx="5633412" cy="21356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3"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a:t>
            </a:r>
            <a:r>
              <a:rPr lang="en-US" dirty="0" err="1"/>
              <a:t>decoratee</a:t>
            </a:r>
            <a:r>
              <a:rPr lang="en-US" dirty="0"/>
              <a:t>) in another object (decorator) that adds the additional functionality</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97609" y="1441489"/>
            <a:ext cx="4892814" cy="3713412"/>
            <a:chOff x="6136013" y="1461028"/>
            <a:chExt cx="4892814" cy="3713412"/>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136013" y="1461028"/>
              <a:ext cx="4892814" cy="3364501"/>
              <a:chOff x="6136013" y="1461028"/>
              <a:chExt cx="4892814" cy="3364501"/>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136013" y="1461028"/>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4" name="TextBox 3">
            <a:extLst>
              <a:ext uri="{FF2B5EF4-FFF2-40B4-BE49-F238E27FC236}">
                <a16:creationId xmlns:a16="http://schemas.microsoft.com/office/drawing/2014/main" id="{B0AAC08C-9B16-7155-845F-B8F2BEBF4A80}"/>
              </a:ext>
            </a:extLst>
          </p:cNvPr>
          <p:cNvSpPr txBox="1"/>
          <p:nvPr/>
        </p:nvSpPr>
        <p:spPr>
          <a:xfrm>
            <a:off x="1430936" y="5232476"/>
            <a:ext cx="9783769" cy="461665"/>
          </a:xfrm>
          <a:prstGeom prst="rect">
            <a:avLst/>
          </a:prstGeom>
          <a:noFill/>
        </p:spPr>
        <p:txBody>
          <a:bodyPr wrap="none" rtlCol="0">
            <a:spAutoFit/>
          </a:bodyPr>
          <a:lstStyle/>
          <a:p>
            <a:r>
              <a:rPr lang="en-US" sz="2400" b="1" i="1" dirty="0"/>
              <a:t>How to use </a:t>
            </a:r>
            <a:r>
              <a:rPr lang="en-US" sz="2400" b="1" i="1" dirty="0" err="1"/>
              <a:t>FraudDetectionDecorator</a:t>
            </a:r>
            <a:r>
              <a:rPr lang="en-US" sz="2400" b="1" i="1" dirty="0"/>
              <a:t> object  in place of </a:t>
            </a:r>
            <a:r>
              <a:rPr lang="en-US" sz="2400" b="1" i="1" dirty="0" err="1"/>
              <a:t>PaymentProcessor</a:t>
            </a:r>
            <a:r>
              <a:rPr lang="en-US" sz="2400" b="1" i="1" dirty="0"/>
              <a:t>?</a:t>
            </a:r>
          </a:p>
        </p:txBody>
      </p:sp>
    </p:spTree>
    <p:extLst>
      <p:ext uri="{BB962C8B-B14F-4D97-AF65-F5344CB8AC3E}">
        <p14:creationId xmlns:p14="http://schemas.microsoft.com/office/powerpoint/2010/main" val="1949234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a:t>
            </a:r>
            <a:r>
              <a:rPr lang="en-US"/>
              <a:t>void pay(</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pPr lvl="1"/>
            <a:r>
              <a:rPr lang="en-US" dirty="0"/>
              <a:t>And implements/extends </a:t>
            </a:r>
            <a:r>
              <a:rPr lang="en-US" dirty="0" err="1"/>
              <a:t>PaymentProcessor</a:t>
            </a:r>
            <a:endParaRPr lang="en-US" dirty="0"/>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pay(double amount) { 			</a:t>
            </a:r>
            <a:r>
              <a:rPr lang="en-US" dirty="0" err="1"/>
              <a:t>wrappedProcessor.pay</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pay(double amount) {</a:t>
            </a:r>
          </a:p>
          <a:p>
            <a:r>
              <a:rPr lang="en-US" dirty="0"/>
              <a:t>		</a:t>
            </a:r>
            <a:r>
              <a:rPr lang="en-US" dirty="0" err="1"/>
              <a:t>detectFraud</a:t>
            </a:r>
            <a:r>
              <a:rPr lang="en-US" dirty="0"/>
              <a:t>();</a:t>
            </a:r>
          </a:p>
          <a:p>
            <a:r>
              <a:rPr lang="en-US" dirty="0"/>
              <a:t>		</a:t>
            </a:r>
            <a:r>
              <a:rPr lang="en-US" dirty="0" err="1"/>
              <a:t>wrappedProcessor.pay</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a:bodyPr>
          <a:lstStyle/>
          <a:p>
            <a:r>
              <a:rPr lang="en-US" dirty="0"/>
              <a:t>abstract class </a:t>
            </a:r>
            <a:r>
              <a:rPr lang="en-US" dirty="0" err="1"/>
              <a:t>PaymentProcessorDecorator</a:t>
            </a:r>
            <a:r>
              <a:rPr lang="en-US" dirty="0"/>
              <a:t> implements </a:t>
            </a:r>
            <a:r>
              <a:rPr lang="en-US" dirty="0" err="1"/>
              <a:t>PaymentProcessor</a:t>
            </a:r>
            <a:r>
              <a:rPr lang="en-US" dirty="0"/>
              <a:t> {</a:t>
            </a:r>
            <a:br>
              <a:rPr lang="en-US" dirty="0"/>
            </a:br>
            <a:r>
              <a:rPr lang="en-US" dirty="0"/>
              <a:t>	// ... snip</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 ... snip</a:t>
            </a:r>
            <a:br>
              <a:rPr lang="en-US" dirty="0"/>
            </a:br>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PaypalProcessor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complete_transaction</a:t>
            </a:r>
            <a:r>
              <a:rPr lang="en-US" dirty="0"/>
              <a:t>(</a:t>
            </a:r>
            <a:r>
              <a:rPr lang="en-US" dirty="0" err="1"/>
              <a:t>fraudProc</a:t>
            </a:r>
            <a:r>
              <a:rPr lang="en-US" dirty="0"/>
              <a:t>);</a:t>
            </a:r>
          </a:p>
          <a:p>
            <a:r>
              <a:rPr lang="en-US" dirty="0"/>
              <a:t>}</a:t>
            </a:r>
            <a:br>
              <a:rPr lang="en-US" dirty="0"/>
            </a:br>
            <a:br>
              <a:rPr lang="en-US" dirty="0"/>
            </a:br>
            <a:r>
              <a:rPr lang="en-US" dirty="0"/>
              <a:t>static void </a:t>
            </a:r>
            <a:r>
              <a:rPr lang="en-US" dirty="0" err="1"/>
              <a:t>complete_transaction</a:t>
            </a:r>
            <a:r>
              <a:rPr lang="en-US" dirty="0"/>
              <a:t>(</a:t>
            </a:r>
            <a:r>
              <a:rPr lang="en-US" dirty="0" err="1"/>
              <a:t>PaymentProcessor</a:t>
            </a:r>
            <a:r>
              <a:rPr lang="en-US" dirty="0"/>
              <a:t> p) { /// 100 uses of p }</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4" y="3155220"/>
            <a:ext cx="6015486" cy="25330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1" y="641066"/>
            <a:ext cx="5562036" cy="5408042"/>
            <a:chOff x="5998791" y="641066"/>
            <a:chExt cx="5562036" cy="5408042"/>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496226" y="1200864"/>
              <a:ext cx="4892814" cy="3750837"/>
              <a:chOff x="6191432" y="1423603"/>
              <a:chExt cx="4892814" cy="3750837"/>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191432" y="1423603"/>
                <a:ext cx="4892814" cy="3425276"/>
                <a:chOff x="6191432" y="1423603"/>
                <a:chExt cx="4892814" cy="3425276"/>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191432" y="1423603"/>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1" y="641066"/>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nvGrpSpPr>
          <p:cNvPr id="34" name="Group 33">
            <a:extLst>
              <a:ext uri="{FF2B5EF4-FFF2-40B4-BE49-F238E27FC236}">
                <a16:creationId xmlns:a16="http://schemas.microsoft.com/office/drawing/2014/main" id="{FBDD6103-0844-D0CE-0C1F-47F88D4F8551}"/>
              </a:ext>
            </a:extLst>
          </p:cNvPr>
          <p:cNvGrpSpPr/>
          <p:nvPr/>
        </p:nvGrpSpPr>
        <p:grpSpPr>
          <a:xfrm>
            <a:off x="9434113" y="2608384"/>
            <a:ext cx="2357698" cy="1394457"/>
            <a:chOff x="9434113" y="2608384"/>
            <a:chExt cx="2357698" cy="1394457"/>
          </a:xfrm>
        </p:grpSpPr>
        <p:sp>
          <p:nvSpPr>
            <p:cNvPr id="27" name="Rectangle 26">
              <a:extLst>
                <a:ext uri="{FF2B5EF4-FFF2-40B4-BE49-F238E27FC236}">
                  <a16:creationId xmlns:a16="http://schemas.microsoft.com/office/drawing/2014/main" id="{EEBFF26F-8F93-882B-75E8-B678007A31D8}"/>
                </a:ext>
              </a:extLst>
            </p:cNvPr>
            <p:cNvSpPr/>
            <p:nvPr/>
          </p:nvSpPr>
          <p:spPr>
            <a:xfrm>
              <a:off x="9434113" y="3479621"/>
              <a:ext cx="2357698" cy="523220"/>
            </a:xfrm>
            <a:prstGeom prst="rect">
              <a:avLst/>
            </a:prstGeom>
            <a:noFill/>
          </p:spPr>
          <p:txBody>
            <a:bodyPr wrap="none" lIns="91440" tIns="45720" rIns="91440" bIns="45720">
              <a:spAutoFit/>
            </a:bodyPr>
            <a:lstStyle/>
            <a:p>
              <a:pPr algn="ctr"/>
              <a:r>
                <a:rPr lang="en-US" sz="2800" dirty="0">
                  <a:ln w="0"/>
                  <a:effectLst>
                    <a:outerShdw blurRad="38100" dist="19050" dir="2700000" algn="tl" rotWithShape="0">
                      <a:schemeClr val="dk1">
                        <a:alpha val="40000"/>
                      </a:schemeClr>
                    </a:outerShdw>
                  </a:effectLst>
                </a:rPr>
                <a:t>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cxnSp>
          <p:nvCxnSpPr>
            <p:cNvPr id="31" name="Curved Connector 30">
              <a:extLst>
                <a:ext uri="{FF2B5EF4-FFF2-40B4-BE49-F238E27FC236}">
                  <a16:creationId xmlns:a16="http://schemas.microsoft.com/office/drawing/2014/main" id="{CDDF5D07-EA23-768D-DB46-F115C3F61A8B}"/>
                </a:ext>
              </a:extLst>
            </p:cNvPr>
            <p:cNvCxnSpPr>
              <a:cxnSpLocks/>
              <a:endCxn id="56" idx="3"/>
            </p:cNvCxnSpPr>
            <p:nvPr/>
          </p:nvCxnSpPr>
          <p:spPr>
            <a:xfrm rot="16200000" flipV="1">
              <a:off x="9916579" y="2732615"/>
              <a:ext cx="820615" cy="572154"/>
            </a:xfrm>
            <a:prstGeom prst="curvedConnector2">
              <a:avLst/>
            </a:prstGeom>
            <a:ln w="28575">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 [Revisit next module]</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r>
              <a:rPr lang="en-US" dirty="0"/>
              <a:t>Breaks single-responsibility-principle</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850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 </a:t>
            </a:r>
          </a:p>
          <a:p>
            <a:pPr lvl="1"/>
            <a:r>
              <a:rPr lang="en-US" dirty="0"/>
              <a:t>Results in class explosion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Proxy Decorator, Bridge, Façade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design patterns use inheritance and composition to distribute behavior between classes and objects</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92500" lnSpcReduction="20000"/>
          </a:bodyPr>
          <a:lstStyle/>
          <a:p>
            <a:r>
              <a:rPr lang="en-US" sz="1400" dirty="0"/>
              <a:t>abstract class </a:t>
            </a:r>
            <a:r>
              <a:rPr lang="en-US" sz="1400" dirty="0" err="1"/>
              <a:t>GraphPathFinder</a:t>
            </a:r>
            <a:r>
              <a:rPr lang="en-US" sz="1400" dirty="0"/>
              <a:t> {</a:t>
            </a:r>
          </a:p>
          <a:p>
            <a:r>
              <a:rPr lang="en-US" sz="1400" dirty="0"/>
              <a:t>    protected Map&lt;Integer, List&lt;Integer&gt;&gt; graph = new HashMap&lt;&gt;();</a:t>
            </a:r>
          </a:p>
          <a:p>
            <a:r>
              <a:rPr lang="en-US" sz="1400" dirty="0"/>
              <a:t>    protected List&lt;List&lt;Integer&gt;&gt; </a:t>
            </a:r>
            <a:r>
              <a:rPr lang="en-US" sz="1400" dirty="0" err="1"/>
              <a:t>allPaths</a:t>
            </a:r>
            <a:r>
              <a:rPr lang="en-US" sz="1400" dirty="0"/>
              <a:t> = new </a:t>
            </a:r>
            <a:r>
              <a:rPr lang="en-US" sz="1400" dirty="0" err="1"/>
              <a:t>ArrayList</a:t>
            </a:r>
            <a:r>
              <a:rPr lang="en-US" sz="1400" dirty="0"/>
              <a:t>&lt;&gt;();</a:t>
            </a:r>
          </a:p>
          <a:p>
            <a:r>
              <a:rPr lang="en-US" sz="1400" dirty="0"/>
              <a:t>    protected int source, destination;</a:t>
            </a:r>
          </a:p>
          <a:p>
            <a:endParaRPr lang="en-US" sz="1400" dirty="0"/>
          </a:p>
          <a:p>
            <a:r>
              <a:rPr lang="en-US" sz="1400" dirty="0"/>
              <a:t>    // Template method</a:t>
            </a:r>
          </a:p>
          <a:p>
            <a:r>
              <a:rPr lang="en-US" sz="1400" dirty="0"/>
              <a:t>    public final void </a:t>
            </a:r>
            <a:r>
              <a:rPr lang="en-US" sz="1400" dirty="0" err="1"/>
              <a:t>findPaths</a:t>
            </a:r>
            <a:r>
              <a:rPr lang="en-US" sz="1400" dirty="0"/>
              <a:t>(int source, int destination) {</a:t>
            </a:r>
          </a:p>
          <a:p>
            <a:r>
              <a:rPr lang="en-US" sz="1400" dirty="0"/>
              <a:t>        </a:t>
            </a:r>
            <a:r>
              <a:rPr lang="en-US" sz="1400" dirty="0" err="1"/>
              <a:t>this.source</a:t>
            </a:r>
            <a:r>
              <a:rPr lang="en-US" sz="1400" dirty="0"/>
              <a:t> = source;</a:t>
            </a:r>
          </a:p>
          <a:p>
            <a:r>
              <a:rPr lang="en-US" sz="1400" dirty="0"/>
              <a:t>        </a:t>
            </a:r>
            <a:r>
              <a:rPr lang="en-US" sz="1400" dirty="0" err="1"/>
              <a:t>this.destination</a:t>
            </a:r>
            <a:r>
              <a:rPr lang="en-US" sz="1400" dirty="0"/>
              <a:t> = destination;</a:t>
            </a:r>
          </a:p>
          <a:p>
            <a:r>
              <a:rPr lang="en-US" sz="1400" dirty="0"/>
              <a:t>        initialize();</a:t>
            </a:r>
          </a:p>
          <a:p>
            <a:r>
              <a:rPr lang="en-US" sz="1400" dirty="0"/>
              <a:t>        </a:t>
            </a:r>
            <a:r>
              <a:rPr lang="en-US" sz="1400" dirty="0" err="1"/>
              <a:t>traverseGraph</a:t>
            </a:r>
            <a:r>
              <a:rPr lang="en-US" sz="1400" dirty="0"/>
              <a:t>();</a:t>
            </a:r>
          </a:p>
          <a:p>
            <a:r>
              <a:rPr lang="en-US" sz="1400" dirty="0"/>
              <a:t>        </a:t>
            </a:r>
            <a:r>
              <a:rPr lang="en-US" sz="1400" dirty="0" err="1"/>
              <a:t>collectResults</a:t>
            </a:r>
            <a:r>
              <a:rPr lang="en-US" sz="1400" dirty="0"/>
              <a:t>();</a:t>
            </a:r>
          </a:p>
          <a:p>
            <a:r>
              <a:rPr lang="en-US" sz="1400" dirty="0"/>
              <a:t>    }</a:t>
            </a:r>
          </a:p>
          <a:p>
            <a:endParaRPr lang="en-US" sz="1400" dirty="0"/>
          </a:p>
          <a:p>
            <a:r>
              <a:rPr lang="en-US" sz="1400" dirty="0"/>
              <a:t>    // Initialize the graph</a:t>
            </a:r>
          </a:p>
          <a:p>
            <a:r>
              <a:rPr lang="en-US" sz="1400" dirty="0"/>
              <a:t>    protected void initialize() {</a:t>
            </a:r>
          </a:p>
          <a:p>
            <a:r>
              <a:rPr lang="en-US" sz="1400" dirty="0"/>
              <a:t>        // -- snip</a:t>
            </a:r>
          </a:p>
          <a:p>
            <a:r>
              <a:rPr lang="en-US" sz="1400" dirty="0"/>
              <a:t>       </a:t>
            </a:r>
          </a:p>
          <a:p>
            <a:r>
              <a:rPr lang="en-US" sz="1400" dirty="0"/>
              <a:t>    }</a:t>
            </a:r>
          </a:p>
          <a:p>
            <a:endParaRPr lang="en-US" sz="1400" dirty="0"/>
          </a:p>
          <a:p>
            <a:r>
              <a:rPr lang="en-US" sz="1400" dirty="0"/>
              <a:t>    // Abstract method for traversal (BFS or DFS)</a:t>
            </a:r>
          </a:p>
          <a:p>
            <a:r>
              <a:rPr lang="en-US" sz="1400" dirty="0"/>
              <a:t>    protected abstract void </a:t>
            </a:r>
            <a:r>
              <a:rPr lang="en-US" sz="1400" dirty="0" err="1"/>
              <a:t>traverseGraph</a:t>
            </a:r>
            <a:r>
              <a:rPr lang="en-US" sz="1400" dirty="0"/>
              <a:t>();</a:t>
            </a:r>
          </a:p>
          <a:p>
            <a:endParaRPr lang="en-US" sz="1400" dirty="0"/>
          </a:p>
          <a:p>
            <a:r>
              <a:rPr lang="en-US" sz="1400" dirty="0"/>
              <a:t>    // Collect and display the results</a:t>
            </a:r>
          </a:p>
          <a:p>
            <a:r>
              <a:rPr lang="en-US" sz="1400" dirty="0"/>
              <a:t>    protected void </a:t>
            </a:r>
            <a:r>
              <a:rPr lang="en-US" sz="1400" dirty="0" err="1"/>
              <a:t>collectResults</a:t>
            </a:r>
            <a:r>
              <a:rPr lang="en-US" sz="1400" dirty="0"/>
              <a:t>() {</a:t>
            </a:r>
          </a:p>
          <a:p>
            <a:r>
              <a:rPr lang="en-US" sz="1400" dirty="0"/>
              <a:t>	  // -- snip</a:t>
            </a:r>
          </a:p>
          <a:p>
            <a:r>
              <a:rPr lang="en-US" sz="1400" dirty="0"/>
              <a:t>    }</a:t>
            </a:r>
          </a:p>
          <a:p>
            <a:r>
              <a:rPr lang="en-US" sz="1400"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381215"/>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3110830"/>
            <a:ext cx="5871110" cy="9611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618050"/>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4687D379-8DE0-8125-CA3B-DAD079CC3D5F}"/>
              </a:ext>
            </a:extLst>
          </p:cNvPr>
          <p:cNvSpPr/>
          <p:nvPr/>
        </p:nvSpPr>
        <p:spPr>
          <a:xfrm>
            <a:off x="6176510" y="4032263"/>
            <a:ext cx="5871110" cy="6254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4" grpId="0" animBg="1"/>
      <p:bldP spid="4" grpId="1" animBg="1"/>
      <p:bldP spid="5" grpId="0" animBg="1"/>
      <p:bldP spid="5" grpId="1" animBg="1"/>
      <p:bldP spid="6" grpId="0" animBg="1"/>
      <p:bldP spid="6" grpId="1"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 -- snip</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071564"/>
            <a:ext cx="5871110" cy="33147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2E7013F-A4E8-99F3-5BE0-1994710D6D36}"/>
              </a:ext>
            </a:extLst>
          </p:cNvPr>
          <p:cNvSpPr>
            <a:spLocks noGrp="1"/>
          </p:cNvSpPr>
          <p:nvPr>
            <p:ph idx="1"/>
          </p:nvPr>
        </p:nvSpPr>
        <p:spPr/>
        <p:txBody>
          <a:bodyPr>
            <a:normAutofit/>
          </a:bodyPr>
          <a:lstStyle/>
          <a:p>
            <a:r>
              <a:rPr lang="en-US" dirty="0"/>
              <a:t>class </a:t>
            </a:r>
            <a:r>
              <a:rPr lang="en-US" dirty="0" err="1"/>
              <a:t>BFSPathFinder</a:t>
            </a:r>
            <a:r>
              <a:rPr lang="en-US" dirty="0"/>
              <a:t> extends </a:t>
            </a:r>
            <a:r>
              <a:rPr lang="en-US" dirty="0" err="1"/>
              <a:t>GraphPathFinder</a:t>
            </a:r>
            <a:r>
              <a:rPr lang="en-US" dirty="0"/>
              <a:t> {</a:t>
            </a:r>
          </a:p>
          <a:p>
            <a:r>
              <a:rPr lang="en-US" dirty="0"/>
              <a:t>    protected void </a:t>
            </a:r>
            <a:r>
              <a:rPr lang="en-US" dirty="0" err="1"/>
              <a:t>traverseGraph</a:t>
            </a:r>
            <a:r>
              <a:rPr lang="en-US" dirty="0"/>
              <a:t>() {</a:t>
            </a:r>
          </a:p>
          <a:p>
            <a:r>
              <a:rPr lang="en-US" dirty="0"/>
              <a:t>        // -- snip</a:t>
            </a:r>
          </a:p>
          <a:p>
            <a:r>
              <a:rPr lang="en-US" dirty="0"/>
              <a:t>    }</a:t>
            </a:r>
          </a:p>
          <a:p>
            <a:r>
              <a:rPr lang="en-US" dirty="0"/>
              <a:t>}</a:t>
            </a:r>
            <a:br>
              <a:rPr lang="en-US" dirty="0"/>
            </a:br>
            <a:br>
              <a:rPr lang="en-US" dirty="0"/>
            </a:br>
            <a:r>
              <a:rPr lang="en-US" dirty="0"/>
              <a:t>public static void main(..) {</a:t>
            </a:r>
            <a:br>
              <a:rPr lang="en-US" dirty="0"/>
            </a:br>
            <a:r>
              <a:rPr lang="en-US" dirty="0"/>
              <a:t>	</a:t>
            </a:r>
            <a:r>
              <a:rPr lang="en-US" dirty="0" err="1"/>
              <a:t>GraphPathFinder</a:t>
            </a:r>
            <a:r>
              <a:rPr lang="en-US" dirty="0"/>
              <a:t> finder = new </a:t>
            </a:r>
          </a:p>
          <a:p>
            <a:r>
              <a:rPr lang="en-US" dirty="0"/>
              <a:t>				</a:t>
            </a:r>
            <a:r>
              <a:rPr lang="en-US" dirty="0" err="1"/>
              <a:t>BFSPathFinder</a:t>
            </a:r>
            <a:r>
              <a:rPr lang="en-US" dirty="0"/>
              <a:t>();</a:t>
            </a:r>
          </a:p>
          <a:p>
            <a:r>
              <a:rPr lang="en-US" dirty="0"/>
              <a:t>	</a:t>
            </a:r>
            <a:r>
              <a:rPr lang="en-US" dirty="0" err="1"/>
              <a:t>finder.findPaths</a:t>
            </a:r>
            <a:r>
              <a:rPr lang="en-US" dirty="0"/>
              <a:t>(1, 100);</a:t>
            </a:r>
            <a:br>
              <a:rPr lang="en-US" dirty="0"/>
            </a:br>
            <a:r>
              <a:rPr lang="en-US" dirty="0"/>
              <a:t>}</a:t>
            </a:r>
          </a:p>
        </p:txBody>
      </p:sp>
      <p:sp>
        <p:nvSpPr>
          <p:cNvPr id="5" name="Title 4">
            <a:extLst>
              <a:ext uri="{FF2B5EF4-FFF2-40B4-BE49-F238E27FC236}">
                <a16:creationId xmlns:a16="http://schemas.microsoft.com/office/drawing/2014/main" id="{2CFFE94A-9EE1-583F-8330-E98CEB7CC221}"/>
              </a:ext>
            </a:extLst>
          </p:cNvPr>
          <p:cNvSpPr>
            <a:spLocks noGrp="1"/>
          </p:cNvSpPr>
          <p:nvPr>
            <p:ph type="title"/>
          </p:nvPr>
        </p:nvSpPr>
        <p:spPr/>
        <p:txBody>
          <a:bodyPr/>
          <a:lstStyle/>
          <a:p>
            <a:r>
              <a:rPr lang="en-US" dirty="0"/>
              <a:t>Case study: find all paths from source to destination</a:t>
            </a:r>
          </a:p>
        </p:txBody>
      </p:sp>
      <p:sp>
        <p:nvSpPr>
          <p:cNvPr id="7" name="Content Placeholder 6">
            <a:extLst>
              <a:ext uri="{FF2B5EF4-FFF2-40B4-BE49-F238E27FC236}">
                <a16:creationId xmlns:a16="http://schemas.microsoft.com/office/drawing/2014/main" id="{2806EE9D-D728-57E4-BB0C-D5CE4D9A5C4A}"/>
              </a:ext>
            </a:extLst>
          </p:cNvPr>
          <p:cNvSpPr>
            <a:spLocks noGrp="1"/>
          </p:cNvSpPr>
          <p:nvPr>
            <p:ph idx="14"/>
          </p:nvPr>
        </p:nvSpPr>
        <p:spPr/>
        <p:txBody>
          <a:bodyPr>
            <a:normAutofit fontScale="85000" lnSpcReduction="20000"/>
          </a:bodyPr>
          <a:lstStyle/>
          <a:p>
            <a:r>
              <a:rPr lang="en-US" dirty="0"/>
              <a:t>abstract class </a:t>
            </a:r>
            <a:r>
              <a:rPr lang="en-US" dirty="0" err="1"/>
              <a:t>GraphPathFinder</a:t>
            </a:r>
            <a:r>
              <a:rPr lang="en-US" dirty="0"/>
              <a:t> {</a:t>
            </a:r>
          </a:p>
          <a:p>
            <a:r>
              <a:rPr lang="en-US" dirty="0"/>
              <a:t>    // -- snip</a:t>
            </a:r>
          </a:p>
          <a:p>
            <a:r>
              <a:rPr lang="en-US" dirty="0"/>
              <a:t>    </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 -- snip</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 -- snip</a:t>
            </a:r>
          </a:p>
          <a:p>
            <a:r>
              <a:rPr lang="en-US" dirty="0"/>
              <a:t>    }</a:t>
            </a:r>
          </a:p>
          <a:p>
            <a:r>
              <a:rPr lang="en-US" dirty="0"/>
              <a:t>}</a:t>
            </a:r>
          </a:p>
          <a:p>
            <a:endParaRPr lang="en-US" dirty="0"/>
          </a:p>
        </p:txBody>
      </p:sp>
      <p:sp>
        <p:nvSpPr>
          <p:cNvPr id="8" name="Rectangle 7">
            <a:extLst>
              <a:ext uri="{FF2B5EF4-FFF2-40B4-BE49-F238E27FC236}">
                <a16:creationId xmlns:a16="http://schemas.microsoft.com/office/drawing/2014/main" id="{1478F8CB-B273-361C-E18E-EF42A3525FDE}"/>
              </a:ext>
            </a:extLst>
          </p:cNvPr>
          <p:cNvSpPr/>
          <p:nvPr/>
        </p:nvSpPr>
        <p:spPr>
          <a:xfrm>
            <a:off x="6176511" y="2486025"/>
            <a:ext cx="5871110" cy="81438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02E23BCC-0912-303A-9280-F30DA63C7310}"/>
              </a:ext>
            </a:extLst>
          </p:cNvPr>
          <p:cNvSpPr/>
          <p:nvPr/>
        </p:nvSpPr>
        <p:spPr>
          <a:xfrm>
            <a:off x="250427" y="2014537"/>
            <a:ext cx="5871110" cy="58578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0AA930F9-C348-AADA-4A7C-C11637077998}"/>
              </a:ext>
            </a:extLst>
          </p:cNvPr>
          <p:cNvSpPr/>
          <p:nvPr/>
        </p:nvSpPr>
        <p:spPr>
          <a:xfrm>
            <a:off x="277914" y="2893219"/>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85B47881-52AD-F0E7-2D39-11E13EB7381D}"/>
              </a:ext>
            </a:extLst>
          </p:cNvPr>
          <p:cNvSpPr/>
          <p:nvPr/>
        </p:nvSpPr>
        <p:spPr>
          <a:xfrm>
            <a:off x="6320890" y="1025161"/>
            <a:ext cx="5871110" cy="93663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Rectangle 11">
            <a:extLst>
              <a:ext uri="{FF2B5EF4-FFF2-40B4-BE49-F238E27FC236}">
                <a16:creationId xmlns:a16="http://schemas.microsoft.com/office/drawing/2014/main" id="{5EC9048D-22A9-3B17-4F71-1406E9D0098C}"/>
              </a:ext>
            </a:extLst>
          </p:cNvPr>
          <p:cNvSpPr/>
          <p:nvPr/>
        </p:nvSpPr>
        <p:spPr>
          <a:xfrm>
            <a:off x="277914" y="4357688"/>
            <a:ext cx="5871110" cy="7858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18598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1"/>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8DF0EFF-520D-2117-10D5-FE5FE93EFE3E}"/>
              </a:ext>
            </a:extLst>
          </p:cNvPr>
          <p:cNvSpPr>
            <a:spLocks noGrp="1"/>
          </p:cNvSpPr>
          <p:nvPr>
            <p:ph idx="1"/>
          </p:nvPr>
        </p:nvSpPr>
        <p:spPr>
          <a:xfrm>
            <a:off x="6176512" y="785004"/>
            <a:ext cx="5924444" cy="5046453"/>
          </a:xfrm>
        </p:spPr>
        <p:txBody>
          <a:bodyPr/>
          <a:lstStyle/>
          <a:p>
            <a:r>
              <a:rPr lang="en-US" dirty="0"/>
              <a:t>class A {</a:t>
            </a:r>
            <a:br>
              <a:rPr lang="en-US" dirty="0"/>
            </a:br>
            <a:r>
              <a:rPr lang="en-US" dirty="0"/>
              <a:t>   public void f() { </a:t>
            </a:r>
            <a:r>
              <a:rPr lang="en-US" dirty="0" err="1"/>
              <a:t>S.o.p</a:t>
            </a:r>
            <a:r>
              <a:rPr lang="en-US" dirty="0"/>
              <a:t>(“Hello”); }</a:t>
            </a:r>
            <a:br>
              <a:rPr lang="en-US" dirty="0"/>
            </a:br>
            <a:r>
              <a:rPr lang="en-US" dirty="0"/>
              <a:t>   public void f(int a) { </a:t>
            </a:r>
            <a:r>
              <a:rPr lang="en-US" dirty="0" err="1"/>
              <a:t>S.o.p</a:t>
            </a:r>
            <a:r>
              <a:rPr lang="en-US" dirty="0"/>
              <a:t>(”Hi” + a); }</a:t>
            </a:r>
            <a:br>
              <a:rPr lang="en-US" dirty="0"/>
            </a:br>
            <a:r>
              <a:rPr lang="en-US" dirty="0"/>
              <a:t>   public void f(bool b) { if (b) { </a:t>
            </a:r>
            <a:r>
              <a:rPr lang="en-US" dirty="0" err="1"/>
              <a:t>S.o.p</a:t>
            </a:r>
            <a:r>
              <a:rPr lang="en-US" dirty="0"/>
              <a:t>(“Bye”);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  // prints “Hello”</a:t>
            </a:r>
            <a:br>
              <a:rPr lang="en-US" dirty="0"/>
            </a:br>
            <a:r>
              <a:rPr lang="en-US" dirty="0"/>
              <a:t>   </a:t>
            </a:r>
            <a:r>
              <a:rPr lang="en-US" dirty="0" err="1"/>
              <a:t>objA.f</a:t>
            </a:r>
            <a:r>
              <a:rPr lang="en-US" dirty="0"/>
              <a:t>(10); // prints “Hi 10”</a:t>
            </a:r>
            <a:br>
              <a:rPr lang="en-US" dirty="0"/>
            </a:br>
            <a:r>
              <a:rPr lang="en-US" dirty="0"/>
              <a:t>   </a:t>
            </a:r>
            <a:r>
              <a:rPr lang="en-US" dirty="0" err="1"/>
              <a:t>objA.f</a:t>
            </a:r>
            <a:r>
              <a:rPr lang="en-US" dirty="0"/>
              <a:t>(false); // prints nothing</a:t>
            </a:r>
            <a:br>
              <a:rPr lang="en-US" dirty="0"/>
            </a:br>
            <a:r>
              <a:rPr lang="en-US" dirty="0"/>
              <a:t>}</a:t>
            </a:r>
          </a:p>
        </p:txBody>
      </p:sp>
      <p:sp>
        <p:nvSpPr>
          <p:cNvPr id="4" name="Title 3">
            <a:extLst>
              <a:ext uri="{FF2B5EF4-FFF2-40B4-BE49-F238E27FC236}">
                <a16:creationId xmlns:a16="http://schemas.microsoft.com/office/drawing/2014/main" id="{0A81E7EB-54AB-6DDB-4CB8-B9407090FDAB}"/>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E0E1C338-C04D-269B-6879-2C902D65D2F1}"/>
              </a:ext>
            </a:extLst>
          </p:cNvPr>
          <p:cNvSpPr>
            <a:spLocks noGrp="1"/>
          </p:cNvSpPr>
          <p:nvPr>
            <p:ph idx="13"/>
          </p:nvPr>
        </p:nvSpPr>
        <p:spPr/>
        <p:txBody>
          <a:bodyPr>
            <a:normAutofit/>
          </a:bodyPr>
          <a:lstStyle/>
          <a:p>
            <a:r>
              <a:rPr lang="en-US" dirty="0"/>
              <a:t>Methods can be overloaded</a:t>
            </a:r>
          </a:p>
          <a:p>
            <a:pPr lvl="1"/>
            <a:r>
              <a:rPr lang="en-US" dirty="0"/>
              <a:t>Methods with same name, but different argument count/type are treated distinctly by the compiler</a:t>
            </a:r>
          </a:p>
          <a:p>
            <a:r>
              <a:rPr lang="en-US" dirty="0"/>
              <a:t>Method overloading is resolved at compile time</a:t>
            </a:r>
          </a:p>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pPr marL="0" indent="0">
              <a:buNone/>
            </a:pPr>
            <a:endParaRPr lang="en-US" b="1" dirty="0"/>
          </a:p>
        </p:txBody>
      </p:sp>
      <p:sp>
        <p:nvSpPr>
          <p:cNvPr id="7" name="Rectangle 6">
            <a:extLst>
              <a:ext uri="{FF2B5EF4-FFF2-40B4-BE49-F238E27FC236}">
                <a16:creationId xmlns:a16="http://schemas.microsoft.com/office/drawing/2014/main" id="{B95E551F-CA88-8DB0-A5CD-84C21565E57F}"/>
              </a:ext>
            </a:extLst>
          </p:cNvPr>
          <p:cNvSpPr/>
          <p:nvPr/>
        </p:nvSpPr>
        <p:spPr>
          <a:xfrm>
            <a:off x="6096000" y="1026544"/>
            <a:ext cx="5871110" cy="86238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AF2787F-4415-32A0-D27D-2A33F0ABBD18}"/>
              </a:ext>
            </a:extLst>
          </p:cNvPr>
          <p:cNvSpPr/>
          <p:nvPr/>
        </p:nvSpPr>
        <p:spPr>
          <a:xfrm>
            <a:off x="6176512" y="3051212"/>
            <a:ext cx="5871110" cy="76076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276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BA9A-1B7A-F59C-5CFB-3A77BE871CE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A183AB9-38A9-EE55-DB0A-7A009B629B4B}"/>
              </a:ext>
            </a:extLst>
          </p:cNvPr>
          <p:cNvSpPr>
            <a:spLocks noGrp="1"/>
          </p:cNvSpPr>
          <p:nvPr>
            <p:ph idx="1"/>
          </p:nvPr>
        </p:nvSpPr>
        <p:spPr>
          <a:xfrm>
            <a:off x="6176512" y="785004"/>
            <a:ext cx="5924444" cy="5046453"/>
          </a:xfrm>
        </p:spPr>
        <p:txBody>
          <a:bodyPr/>
          <a:lstStyle/>
          <a:p>
            <a:r>
              <a:rPr lang="en-US" dirty="0"/>
              <a:t>class X {</a:t>
            </a:r>
            <a:br>
              <a:rPr lang="en-US" dirty="0"/>
            </a:br>
            <a:r>
              <a:rPr lang="en-US" dirty="0"/>
              <a:t>	public void print() { </a:t>
            </a:r>
            <a:r>
              <a:rPr lang="en-US" dirty="0" err="1"/>
              <a:t>S.o.p</a:t>
            </a:r>
            <a:r>
              <a:rPr lang="en-US" dirty="0"/>
              <a:t>(“1”); }</a:t>
            </a:r>
            <a:br>
              <a:rPr lang="en-US" dirty="0"/>
            </a:br>
            <a:r>
              <a:rPr lang="en-US" dirty="0"/>
              <a:t>}</a:t>
            </a:r>
          </a:p>
          <a:p>
            <a:br>
              <a:rPr lang="en-US" dirty="0"/>
            </a:br>
            <a:r>
              <a:rPr lang="en-US" dirty="0"/>
              <a:t>class Y extends X {</a:t>
            </a:r>
          </a:p>
          <a:p>
            <a:r>
              <a:rPr lang="en-US" dirty="0"/>
              <a:t>	public void print() { </a:t>
            </a:r>
            <a:r>
              <a:rPr lang="en-US" dirty="0" err="1"/>
              <a:t>S.o.p</a:t>
            </a:r>
            <a:r>
              <a:rPr lang="en-US" dirty="0"/>
              <a:t>(“2”); }</a:t>
            </a:r>
          </a:p>
          <a:p>
            <a:r>
              <a:rPr lang="en-US" dirty="0"/>
              <a:t>}</a:t>
            </a:r>
            <a:br>
              <a:rPr lang="en-US" dirty="0"/>
            </a:br>
            <a:br>
              <a:rPr lang="en-US" dirty="0"/>
            </a:br>
            <a:r>
              <a:rPr lang="en-US" dirty="0"/>
              <a:t>class A {</a:t>
            </a:r>
            <a:br>
              <a:rPr lang="en-US" dirty="0"/>
            </a:br>
            <a:r>
              <a:rPr lang="en-US" dirty="0"/>
              <a:t>   public void f(X x) { </a:t>
            </a:r>
            <a:r>
              <a:rPr lang="en-US" dirty="0" err="1"/>
              <a:t>S.o.p</a:t>
            </a:r>
            <a:r>
              <a:rPr lang="en-US" dirty="0"/>
              <a:t>(“Hello”); }</a:t>
            </a:r>
            <a:br>
              <a:rPr lang="en-US" dirty="0"/>
            </a:br>
            <a:r>
              <a:rPr lang="en-US" dirty="0"/>
              <a:t>   public void f(Y y) { </a:t>
            </a:r>
            <a:r>
              <a:rPr lang="en-US" dirty="0" err="1"/>
              <a:t>S.o.p</a:t>
            </a:r>
            <a:r>
              <a:rPr lang="en-US" dirty="0"/>
              <a:t>(“Hi”); }</a:t>
            </a:r>
            <a:br>
              <a:rPr lang="en-US" dirty="0"/>
            </a:br>
            <a:r>
              <a:rPr lang="en-US" dirty="0"/>
              <a:t>}</a:t>
            </a:r>
            <a:br>
              <a:rPr lang="en-US" dirty="0"/>
            </a:br>
            <a:br>
              <a:rPr lang="en-US" dirty="0"/>
            </a:br>
            <a:br>
              <a:rPr lang="en-US" dirty="0"/>
            </a:br>
            <a:r>
              <a:rPr lang="en-US" dirty="0"/>
              <a:t>public static void main(String </a:t>
            </a:r>
            <a:r>
              <a:rPr lang="en-US" dirty="0" err="1"/>
              <a:t>args</a:t>
            </a:r>
            <a:r>
              <a:rPr lang="en-US" dirty="0"/>
              <a:t>[]) {</a:t>
            </a:r>
            <a:br>
              <a:rPr lang="en-US" dirty="0"/>
            </a:br>
            <a:r>
              <a:rPr lang="en-US" dirty="0"/>
              <a:t>   X </a:t>
            </a:r>
            <a:r>
              <a:rPr lang="en-US" dirty="0" err="1"/>
              <a:t>objX</a:t>
            </a:r>
            <a:r>
              <a:rPr lang="en-US" dirty="0"/>
              <a:t> = new Y();</a:t>
            </a:r>
            <a:br>
              <a:rPr lang="en-US" dirty="0"/>
            </a:br>
            <a:r>
              <a:rPr lang="en-US" dirty="0"/>
              <a:t>   A </a:t>
            </a:r>
            <a:r>
              <a:rPr lang="en-US" dirty="0" err="1"/>
              <a:t>objA</a:t>
            </a:r>
            <a:r>
              <a:rPr lang="en-US" dirty="0"/>
              <a:t> = new A();</a:t>
            </a:r>
            <a:br>
              <a:rPr lang="en-US" dirty="0"/>
            </a:br>
            <a:r>
              <a:rPr lang="en-US" dirty="0"/>
              <a:t>   </a:t>
            </a:r>
            <a:r>
              <a:rPr lang="en-US" dirty="0" err="1"/>
              <a:t>objA.f</a:t>
            </a:r>
            <a:r>
              <a:rPr lang="en-US" dirty="0"/>
              <a:t>(</a:t>
            </a:r>
            <a:r>
              <a:rPr lang="en-US" dirty="0" err="1"/>
              <a:t>objX</a:t>
            </a:r>
            <a:r>
              <a:rPr lang="en-US" dirty="0"/>
              <a:t>);</a:t>
            </a:r>
            <a:br>
              <a:rPr lang="en-US" dirty="0"/>
            </a:br>
            <a:r>
              <a:rPr lang="en-US" dirty="0"/>
              <a:t>   </a:t>
            </a:r>
            <a:r>
              <a:rPr lang="en-US" dirty="0" err="1"/>
              <a:t>objX.print</a:t>
            </a:r>
            <a:r>
              <a:rPr lang="en-US" dirty="0"/>
              <a:t>();</a:t>
            </a:r>
            <a:br>
              <a:rPr lang="en-US" dirty="0"/>
            </a:br>
            <a:r>
              <a:rPr lang="en-US" dirty="0"/>
              <a:t>}</a:t>
            </a:r>
          </a:p>
        </p:txBody>
      </p:sp>
      <p:sp>
        <p:nvSpPr>
          <p:cNvPr id="4" name="Title 3">
            <a:extLst>
              <a:ext uri="{FF2B5EF4-FFF2-40B4-BE49-F238E27FC236}">
                <a16:creationId xmlns:a16="http://schemas.microsoft.com/office/drawing/2014/main" id="{FF95A57F-17ED-1A49-3673-198813082435}"/>
              </a:ext>
            </a:extLst>
          </p:cNvPr>
          <p:cNvSpPr>
            <a:spLocks noGrp="1"/>
          </p:cNvSpPr>
          <p:nvPr>
            <p:ph type="title"/>
          </p:nvPr>
        </p:nvSpPr>
        <p:spPr/>
        <p:txBody>
          <a:bodyPr/>
          <a:lstStyle/>
          <a:p>
            <a:r>
              <a:rPr lang="en-US" dirty="0"/>
              <a:t>Background: method overloading</a:t>
            </a:r>
          </a:p>
        </p:txBody>
      </p:sp>
      <p:sp>
        <p:nvSpPr>
          <p:cNvPr id="6" name="Content Placeholder 5">
            <a:extLst>
              <a:ext uri="{FF2B5EF4-FFF2-40B4-BE49-F238E27FC236}">
                <a16:creationId xmlns:a16="http://schemas.microsoft.com/office/drawing/2014/main" id="{611EAD93-9BD5-648F-7B41-6F8450CA4AAB}"/>
              </a:ext>
            </a:extLst>
          </p:cNvPr>
          <p:cNvSpPr>
            <a:spLocks noGrp="1"/>
          </p:cNvSpPr>
          <p:nvPr>
            <p:ph idx="13"/>
          </p:nvPr>
        </p:nvSpPr>
        <p:spPr/>
        <p:txBody>
          <a:bodyPr/>
          <a:lstStyle/>
          <a:p>
            <a:r>
              <a:rPr lang="en-US" dirty="0"/>
              <a:t>Which version of </a:t>
            </a:r>
            <a:r>
              <a:rPr lang="en-US" dirty="0">
                <a:latin typeface="Consolas" panose="020B0609020204030204" pitchFamily="49" charset="0"/>
                <a:cs typeface="Consolas" panose="020B0609020204030204" pitchFamily="49" charset="0"/>
              </a:rPr>
              <a:t>f</a:t>
            </a:r>
            <a:r>
              <a:rPr lang="en-US" dirty="0"/>
              <a:t> is invoked is decided at compile time</a:t>
            </a:r>
          </a:p>
          <a:p>
            <a:r>
              <a:rPr lang="en-US" dirty="0"/>
              <a:t>For objects, the </a:t>
            </a:r>
            <a:r>
              <a:rPr lang="en-US" b="1" dirty="0"/>
              <a:t>overloaded method</a:t>
            </a:r>
            <a:r>
              <a:rPr lang="en-US" dirty="0"/>
              <a:t> invoked depends on the </a:t>
            </a:r>
            <a:r>
              <a:rPr lang="en-US" b="1" dirty="0"/>
              <a:t>reference type</a:t>
            </a:r>
          </a:p>
          <a:p>
            <a:r>
              <a:rPr lang="en-US" dirty="0"/>
              <a:t>Which </a:t>
            </a:r>
            <a:r>
              <a:rPr lang="en-US" dirty="0">
                <a:latin typeface="Consolas" panose="020B0609020204030204" pitchFamily="49" charset="0"/>
                <a:cs typeface="Consolas" panose="020B0609020204030204" pitchFamily="49" charset="0"/>
              </a:rPr>
              <a:t>f</a:t>
            </a:r>
            <a:r>
              <a:rPr lang="en-US" dirty="0"/>
              <a:t> method of </a:t>
            </a:r>
            <a:r>
              <a:rPr lang="en-US" dirty="0" err="1">
                <a:latin typeface="Consolas" panose="020B0609020204030204" pitchFamily="49" charset="0"/>
                <a:cs typeface="Consolas" panose="020B0609020204030204" pitchFamily="49" charset="0"/>
              </a:rPr>
              <a:t>objA</a:t>
            </a:r>
            <a:r>
              <a:rPr lang="en-US" dirty="0"/>
              <a:t> is invoked?</a:t>
            </a:r>
          </a:p>
          <a:p>
            <a:r>
              <a:rPr lang="en-US" dirty="0"/>
              <a:t>Which </a:t>
            </a:r>
            <a:r>
              <a:rPr lang="en-US" dirty="0">
                <a:latin typeface="Consolas" panose="020B0609020204030204" pitchFamily="49" charset="0"/>
                <a:cs typeface="Consolas" panose="020B0609020204030204" pitchFamily="49" charset="0"/>
              </a:rPr>
              <a:t>print</a:t>
            </a:r>
            <a:r>
              <a:rPr lang="en-US" dirty="0"/>
              <a:t> method is invoked?</a:t>
            </a:r>
          </a:p>
        </p:txBody>
      </p:sp>
      <p:sp>
        <p:nvSpPr>
          <p:cNvPr id="2" name="Rectangle 1">
            <a:extLst>
              <a:ext uri="{FF2B5EF4-FFF2-40B4-BE49-F238E27FC236}">
                <a16:creationId xmlns:a16="http://schemas.microsoft.com/office/drawing/2014/main" id="{0047EAA3-6A2B-9A78-308A-4E442E692CD4}"/>
              </a:ext>
            </a:extLst>
          </p:cNvPr>
          <p:cNvSpPr/>
          <p:nvPr/>
        </p:nvSpPr>
        <p:spPr>
          <a:xfrm>
            <a:off x="6176511" y="4465122"/>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EA0EE741-2419-C534-6B6E-BFE98EDEB66A}"/>
              </a:ext>
            </a:extLst>
          </p:cNvPr>
          <p:cNvSpPr/>
          <p:nvPr/>
        </p:nvSpPr>
        <p:spPr>
          <a:xfrm>
            <a:off x="6176511" y="4958284"/>
            <a:ext cx="5871110" cy="3087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1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E6F4CAA-CD2F-F677-BDFE-D4DB80B08FC6}"/>
              </a:ext>
            </a:extLst>
          </p:cNvPr>
          <p:cNvSpPr>
            <a:spLocks noGrp="1"/>
          </p:cNvSpPr>
          <p:nvPr>
            <p:ph idx="1"/>
          </p:nvPr>
        </p:nvSpPr>
        <p:spPr/>
        <p:txBody>
          <a:bodyPr>
            <a:normAutofit fontScale="92500" lnSpcReduction="20000"/>
          </a:bodyPr>
          <a:lstStyle/>
          <a:p>
            <a:r>
              <a:rPr lang="en-US" dirty="0"/>
              <a:t>Single dispatch (Java, C++)</a:t>
            </a:r>
          </a:p>
          <a:p>
            <a:pPr lvl="1"/>
            <a:r>
              <a:rPr lang="en-US" dirty="0"/>
              <a:t>Method selection only depends on the runtime type of the receiver object</a:t>
            </a:r>
          </a:p>
          <a:p>
            <a:pPr lvl="1"/>
            <a:r>
              <a:rPr lang="en-US" dirty="0"/>
              <a:t>Method selection does not depend on the </a:t>
            </a:r>
            <a:r>
              <a:rPr lang="en-US"/>
              <a:t>runtime type of </a:t>
            </a:r>
            <a:r>
              <a:rPr lang="en-US" dirty="0"/>
              <a:t>the argument</a:t>
            </a:r>
          </a:p>
          <a:p>
            <a:pPr lvl="2"/>
            <a:r>
              <a:rPr lang="en-US" dirty="0"/>
              <a:t>The compile time type of the argument reference dictates the method selection</a:t>
            </a:r>
          </a:p>
          <a:p>
            <a:pPr lvl="1"/>
            <a:r>
              <a:rPr lang="en-US" dirty="0"/>
              <a:t>E.g. </a:t>
            </a:r>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 of the object referred to by </a:t>
            </a:r>
            <a:r>
              <a:rPr lang="en-US" dirty="0">
                <a:latin typeface="Consolas" panose="020B0609020204030204" pitchFamily="49" charset="0"/>
                <a:cs typeface="Consolas" panose="020B0609020204030204" pitchFamily="49" charset="0"/>
              </a:rPr>
              <a:t>objRef1</a:t>
            </a:r>
            <a:r>
              <a:rPr lang="en-US" dirty="0"/>
              <a:t> + the compile time type of </a:t>
            </a:r>
            <a:r>
              <a:rPr lang="en-US" dirty="0">
                <a:latin typeface="Consolas" panose="020B0609020204030204" pitchFamily="49" charset="0"/>
                <a:cs typeface="Consolas" panose="020B0609020204030204" pitchFamily="49" charset="0"/>
              </a:rPr>
              <a:t>objRef2</a:t>
            </a:r>
          </a:p>
          <a:p>
            <a:r>
              <a:rPr lang="en-US" dirty="0"/>
              <a:t>Double dispatch (some functional languages)</a:t>
            </a:r>
          </a:p>
          <a:p>
            <a:pPr lvl="1"/>
            <a:r>
              <a:rPr lang="en-US" dirty="0"/>
              <a:t>Method selection depends on both the run time types of the receiver object and argument</a:t>
            </a:r>
          </a:p>
          <a:p>
            <a:pPr lvl="1"/>
            <a:r>
              <a:rPr lang="en-US" dirty="0">
                <a:latin typeface="Consolas" panose="020B0609020204030204" pitchFamily="49" charset="0"/>
                <a:cs typeface="Consolas" panose="020B0609020204030204" pitchFamily="49" charset="0"/>
              </a:rPr>
              <a:t>objRef1.func(objRef2); </a:t>
            </a:r>
            <a:r>
              <a:rPr lang="en-US" dirty="0"/>
              <a:t>- the method invoked will depend on the run time types of objects referred to by </a:t>
            </a:r>
            <a:r>
              <a:rPr lang="en-US" dirty="0">
                <a:latin typeface="Consolas" panose="020B0609020204030204" pitchFamily="49" charset="0"/>
                <a:cs typeface="Consolas" panose="020B0609020204030204" pitchFamily="49" charset="0"/>
              </a:rPr>
              <a:t>objRef1</a:t>
            </a:r>
            <a:r>
              <a:rPr lang="en-US" dirty="0"/>
              <a:t> and </a:t>
            </a:r>
            <a:r>
              <a:rPr lang="en-US" dirty="0">
                <a:latin typeface="Consolas" panose="020B0609020204030204" pitchFamily="49" charset="0"/>
                <a:cs typeface="Consolas" panose="020B0609020204030204" pitchFamily="49" charset="0"/>
              </a:rPr>
              <a:t>objRef2</a:t>
            </a:r>
          </a:p>
          <a:p>
            <a:pPr lvl="1"/>
            <a:endParaRPr lang="en-US" dirty="0"/>
          </a:p>
          <a:p>
            <a:pPr lvl="1"/>
            <a:endParaRPr lang="en-US" dirty="0"/>
          </a:p>
        </p:txBody>
      </p:sp>
      <p:sp>
        <p:nvSpPr>
          <p:cNvPr id="5" name="Title 4">
            <a:extLst>
              <a:ext uri="{FF2B5EF4-FFF2-40B4-BE49-F238E27FC236}">
                <a16:creationId xmlns:a16="http://schemas.microsoft.com/office/drawing/2014/main" id="{8FA7F828-F37E-D648-ED24-F3F1F8C09F83}"/>
              </a:ext>
            </a:extLst>
          </p:cNvPr>
          <p:cNvSpPr>
            <a:spLocks noGrp="1"/>
          </p:cNvSpPr>
          <p:nvPr>
            <p:ph type="title"/>
          </p:nvPr>
        </p:nvSpPr>
        <p:spPr/>
        <p:txBody>
          <a:bodyPr/>
          <a:lstStyle/>
          <a:p>
            <a:r>
              <a:rPr lang="en-US" dirty="0"/>
              <a:t>Single dispatch vs. double dispatch</a:t>
            </a:r>
          </a:p>
        </p:txBody>
      </p:sp>
    </p:spTree>
    <p:extLst>
      <p:ext uri="{BB962C8B-B14F-4D97-AF65-F5344CB8AC3E}">
        <p14:creationId xmlns:p14="http://schemas.microsoft.com/office/powerpoint/2010/main" val="3036392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a:p>
            <a:pPr marL="0" indent="0">
              <a:buNone/>
            </a:pPr>
            <a:endParaRPr lang="en-US" dirty="0">
              <a:latin typeface="Consolas" panose="020B0609020204030204" pitchFamily="49" charset="0"/>
            </a:endParaRP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dirty="0">
                <a:latin typeface="Helvetica" panose="020B0604020202020204"/>
                <a:cs typeface="Helvetica" panose="020B0604020202020204"/>
              </a:rPr>
              <a:t>Translate</a:t>
            </a:r>
          </a:p>
          <a:p>
            <a:pPr lvl="1"/>
            <a:r>
              <a:rPr lang="en-US"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18B1A54-279D-2B0A-5EC6-09F1035B7C81}"/>
              </a:ext>
            </a:extLst>
          </p:cNvPr>
          <p:cNvSpPr>
            <a:spLocks noGrp="1"/>
          </p:cNvSpPr>
          <p:nvPr>
            <p:ph idx="1"/>
          </p:nvPr>
        </p:nvSpPr>
        <p:spPr/>
        <p:txBody>
          <a:bodyPr/>
          <a:lstStyle/>
          <a:p>
            <a:r>
              <a:rPr lang="en-US" dirty="0"/>
              <a:t>Visit every shape in the shape object hierarchy and apply a custom operation on each shape visited</a:t>
            </a:r>
          </a:p>
          <a:p>
            <a:r>
              <a:rPr lang="en-US" dirty="0"/>
              <a:t>Keep the operation logic </a:t>
            </a:r>
            <a:r>
              <a:rPr lang="en-US" b="1" dirty="0"/>
              <a:t>in a single class</a:t>
            </a:r>
          </a:p>
          <a:p>
            <a:pPr lvl="1"/>
            <a:r>
              <a:rPr lang="en-US" dirty="0"/>
              <a:t>Operation logic should not be spread across many classes</a:t>
            </a:r>
          </a:p>
          <a:p>
            <a:pPr lvl="1"/>
            <a:r>
              <a:rPr lang="en-US" dirty="0"/>
              <a:t>Translation logic for all shapes should be in a single class</a:t>
            </a:r>
          </a:p>
          <a:p>
            <a:pPr lvl="1"/>
            <a:r>
              <a:rPr lang="en-US" dirty="0"/>
              <a:t>Rotation logic in a single class</a:t>
            </a:r>
          </a:p>
          <a:p>
            <a:pPr lvl="1"/>
            <a:r>
              <a:rPr lang="en-US" dirty="0"/>
              <a:t>And so on…</a:t>
            </a:r>
          </a:p>
        </p:txBody>
      </p:sp>
      <p:sp>
        <p:nvSpPr>
          <p:cNvPr id="5" name="Title 4">
            <a:extLst>
              <a:ext uri="{FF2B5EF4-FFF2-40B4-BE49-F238E27FC236}">
                <a16:creationId xmlns:a16="http://schemas.microsoft.com/office/drawing/2014/main" id="{AC43EADE-D451-B40A-1E59-6A6ED189F8F0}"/>
              </a:ext>
            </a:extLst>
          </p:cNvPr>
          <p:cNvSpPr>
            <a:spLocks noGrp="1"/>
          </p:cNvSpPr>
          <p:nvPr>
            <p:ph type="title"/>
          </p:nvPr>
        </p:nvSpPr>
        <p:spPr/>
        <p:txBody>
          <a:bodyPr/>
          <a:lstStyle/>
          <a:p>
            <a:r>
              <a:rPr lang="en-US" dirty="0"/>
              <a:t>Requirements</a:t>
            </a:r>
          </a:p>
        </p:txBody>
      </p:sp>
    </p:spTree>
    <p:extLst>
      <p:ext uri="{BB962C8B-B14F-4D97-AF65-F5344CB8AC3E}">
        <p14:creationId xmlns:p14="http://schemas.microsoft.com/office/powerpoint/2010/main" val="3509640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Visitor {</a:t>
            </a:r>
          </a:p>
          <a:p>
            <a:r>
              <a:rPr lang="en-US" dirty="0"/>
              <a:t>	abstract void visit(Circle circle);</a:t>
            </a:r>
          </a:p>
          <a:p>
            <a:r>
              <a:rPr lang="en-US" dirty="0"/>
              <a:t>    abstract void visit(Rectangle rectangle);</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fontScale="92500" lnSpcReduction="10000"/>
          </a:bodyPr>
          <a:lstStyle/>
          <a:p>
            <a:r>
              <a:rPr lang="en-US" dirty="0"/>
              <a:t>Encapsulate the operational logic in a “Visitor” class</a:t>
            </a:r>
          </a:p>
          <a:p>
            <a:r>
              <a:rPr lang="en-US" dirty="0"/>
              <a:t>Abstract visitor class provides concrete implementation for the </a:t>
            </a:r>
            <a:r>
              <a:rPr lang="en-US" dirty="0">
                <a:latin typeface="Consolas" panose="020B0609020204030204" pitchFamily="49" charset="0"/>
              </a:rPr>
              <a:t>visit</a:t>
            </a:r>
            <a:r>
              <a:rPr lang="en-US" dirty="0"/>
              <a:t> method for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a:p>
            <a:r>
              <a:rPr lang="en-US" dirty="0"/>
              <a:t>Concrete subclasses will override </a:t>
            </a:r>
            <a:r>
              <a:rPr lang="en-US" dirty="0">
                <a:latin typeface="Consolas" panose="020B0609020204030204" pitchFamily="49" charset="0"/>
                <a:cs typeface="Consolas" panose="020B0609020204030204" pitchFamily="49" charset="0"/>
              </a:rPr>
              <a:t>visit</a:t>
            </a:r>
            <a:r>
              <a:rPr lang="en-US" dirty="0"/>
              <a:t> method with translation, scaling, rotation logic</a:t>
            </a:r>
          </a:p>
          <a:p>
            <a:r>
              <a:rPr lang="en-US" dirty="0">
                <a:latin typeface="Consolas" panose="020B0609020204030204" pitchFamily="49" charset="0"/>
                <a:cs typeface="Consolas" panose="020B0609020204030204" pitchFamily="49" charset="0"/>
              </a:rPr>
              <a:t>accept</a:t>
            </a:r>
            <a:r>
              <a:rPr lang="en-US" dirty="0"/>
              <a:t> method is the glue that holds it all together</a:t>
            </a:r>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8C1E732-16BB-5FC8-2E59-E48E7427C2CD}"/>
              </a:ext>
            </a:extLst>
          </p:cNvPr>
          <p:cNvSpPr>
            <a:spLocks noGrp="1"/>
          </p:cNvSpPr>
          <p:nvPr>
            <p:ph idx="1"/>
          </p:nvPr>
        </p:nvSpPr>
        <p:spPr/>
        <p:txBody>
          <a:bodyPr/>
          <a:lstStyle/>
          <a:p>
            <a:endParaRPr lang="en-US" dirty="0"/>
          </a:p>
        </p:txBody>
      </p:sp>
      <p:sp>
        <p:nvSpPr>
          <p:cNvPr id="5" name="Title 4">
            <a:extLst>
              <a:ext uri="{FF2B5EF4-FFF2-40B4-BE49-F238E27FC236}">
                <a16:creationId xmlns:a16="http://schemas.microsoft.com/office/drawing/2014/main" id="{DC3E6913-A957-5458-A364-A467B6586D09}"/>
              </a:ext>
            </a:extLst>
          </p:cNvPr>
          <p:cNvSpPr>
            <a:spLocks noGrp="1"/>
          </p:cNvSpPr>
          <p:nvPr>
            <p:ph type="title"/>
          </p:nvPr>
        </p:nvSpPr>
        <p:spPr/>
        <p:txBody>
          <a:bodyPr/>
          <a:lstStyle/>
          <a:p>
            <a:r>
              <a:rPr lang="en-US" dirty="0"/>
              <a:t>Visitor design pattern so far…</a:t>
            </a:r>
          </a:p>
        </p:txBody>
      </p:sp>
      <p:grpSp>
        <p:nvGrpSpPr>
          <p:cNvPr id="12" name="Group 11">
            <a:extLst>
              <a:ext uri="{FF2B5EF4-FFF2-40B4-BE49-F238E27FC236}">
                <a16:creationId xmlns:a16="http://schemas.microsoft.com/office/drawing/2014/main" id="{C2C52998-E30E-FDBF-8EDC-7A01415A8230}"/>
              </a:ext>
            </a:extLst>
          </p:cNvPr>
          <p:cNvGrpSpPr/>
          <p:nvPr/>
        </p:nvGrpSpPr>
        <p:grpSpPr>
          <a:xfrm>
            <a:off x="950024" y="854015"/>
            <a:ext cx="3016334" cy="2946090"/>
            <a:chOff x="902523" y="1710047"/>
            <a:chExt cx="3016334" cy="2946090"/>
          </a:xfrm>
        </p:grpSpPr>
        <p:sp>
          <p:nvSpPr>
            <p:cNvPr id="7" name="Rectangle 6">
              <a:extLst>
                <a:ext uri="{FF2B5EF4-FFF2-40B4-BE49-F238E27FC236}">
                  <a16:creationId xmlns:a16="http://schemas.microsoft.com/office/drawing/2014/main" id="{5EA75D65-37BA-167B-1F1D-FDD72B83A9E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8" name="Rectangle 7">
              <a:extLst>
                <a:ext uri="{FF2B5EF4-FFF2-40B4-BE49-F238E27FC236}">
                  <a16:creationId xmlns:a16="http://schemas.microsoft.com/office/drawing/2014/main" id="{E56F8803-8020-041A-E267-3A15B6575EF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0" name="Rectangle 9">
              <a:extLst>
                <a:ext uri="{FF2B5EF4-FFF2-40B4-BE49-F238E27FC236}">
                  <a16:creationId xmlns:a16="http://schemas.microsoft.com/office/drawing/2014/main" id="{C28BA9B3-4EC6-432B-3B26-F2D148BF7CB4}"/>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1" name="Rectangle 10">
              <a:extLst>
                <a:ext uri="{FF2B5EF4-FFF2-40B4-BE49-F238E27FC236}">
                  <a16:creationId xmlns:a16="http://schemas.microsoft.com/office/drawing/2014/main" id="{8508C0D0-CD3A-A91D-F7CB-6ABA9DADEF7B}"/>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Tree>
    <p:extLst>
      <p:ext uri="{BB962C8B-B14F-4D97-AF65-F5344CB8AC3E}">
        <p14:creationId xmlns:p14="http://schemas.microsoft.com/office/powerpoint/2010/main" val="333686146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abstract void accept(Visitor visitor);</a:t>
            </a:r>
          </a:p>
          <a:p>
            <a:r>
              <a:rPr lang="en-US" dirty="0"/>
              <a:t>}</a:t>
            </a:r>
            <a:br>
              <a:rPr lang="en-US" dirty="0"/>
            </a:br>
            <a:br>
              <a:rPr lang="en-US" dirty="0"/>
            </a:br>
            <a:r>
              <a:rPr lang="en-US" dirty="0"/>
              <a:t>class Circle extends Shape {</a:t>
            </a:r>
          </a:p>
          <a:p>
            <a:r>
              <a:rPr lang="en-US" dirty="0"/>
              <a:t>	/// … fields and getters/setters</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accept(Visitor visitor) {</a:t>
            </a:r>
            <a:br>
              <a:rPr lang="en-US" dirty="0"/>
            </a:br>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a:bodyPr>
          <a:lstStyle/>
          <a:p>
            <a:r>
              <a:rPr lang="en-US" dirty="0"/>
              <a:t>Create abstract </a:t>
            </a:r>
            <a:r>
              <a:rPr lang="en-US" dirty="0">
                <a:latin typeface="Consolas" panose="020B0609020204030204" pitchFamily="49" charset="0"/>
                <a:cs typeface="Consolas" panose="020B0609020204030204" pitchFamily="49" charset="0"/>
              </a:rPr>
              <a:t>accept</a:t>
            </a:r>
            <a:r>
              <a:rPr lang="en-US" dirty="0"/>
              <a:t> method in parent </a:t>
            </a:r>
            <a:r>
              <a:rPr lang="en-US" dirty="0">
                <a:latin typeface="Consolas" panose="020B0609020204030204" pitchFamily="49" charset="0"/>
                <a:cs typeface="Consolas" panose="020B0609020204030204" pitchFamily="49" charset="0"/>
              </a:rPr>
              <a:t>Shape</a:t>
            </a:r>
            <a:r>
              <a:rPr lang="en-US" dirty="0"/>
              <a:t> class and create concrete implementations in subclasses</a:t>
            </a:r>
          </a:p>
          <a:p>
            <a:r>
              <a:rPr lang="en-US" dirty="0"/>
              <a:t>The </a:t>
            </a:r>
            <a:r>
              <a:rPr lang="en-US" dirty="0">
                <a:latin typeface="Consolas" panose="020B0609020204030204" pitchFamily="49" charset="0"/>
              </a:rPr>
              <a:t>accept</a:t>
            </a:r>
            <a:r>
              <a:rPr lang="en-US" dirty="0"/>
              <a:t> method invokes the visitor passed as method argument</a:t>
            </a:r>
          </a:p>
          <a:p>
            <a:pPr lvl="1"/>
            <a:r>
              <a:rPr lang="en-US" dirty="0"/>
              <a:t>And passes the </a:t>
            </a:r>
            <a:r>
              <a:rPr lang="en-US" dirty="0">
                <a:latin typeface="Consolas" panose="020B0609020204030204" pitchFamily="49" charset="0"/>
                <a:cs typeface="Consolas" panose="020B0609020204030204" pitchFamily="49" charset="0"/>
              </a:rPr>
              <a:t>this</a:t>
            </a:r>
            <a:r>
              <a:rPr lang="en-US" dirty="0"/>
              <a:t> reference to it</a:t>
            </a:r>
          </a:p>
          <a:p>
            <a:pPr marL="0" indent="0">
              <a:buNone/>
            </a:pPr>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47984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3506-C4C2-E8C4-2469-B226022D526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EBABB31-AA27-AA84-30A8-58F09852E763}"/>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94DA7F7-45DB-9382-BC6C-D9BAC7A4948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B769AFF-9799-9E9E-5B12-E90B41CB8B91}"/>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6F3601A-D166-52A8-E59E-89C4B9DDB46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CF7E05F0-CB4F-EE2F-DE59-C59A7017E65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6F39414D-0B1B-774F-1E48-7187AD29167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6" name="Group 15">
            <a:extLst>
              <a:ext uri="{FF2B5EF4-FFF2-40B4-BE49-F238E27FC236}">
                <a16:creationId xmlns:a16="http://schemas.microsoft.com/office/drawing/2014/main" id="{CB8835E9-9B85-05E3-DB13-06F69832CE5D}"/>
              </a:ext>
            </a:extLst>
          </p:cNvPr>
          <p:cNvGrpSpPr/>
          <p:nvPr/>
        </p:nvGrpSpPr>
        <p:grpSpPr>
          <a:xfrm>
            <a:off x="5005449" y="1281002"/>
            <a:ext cx="3016333" cy="928399"/>
            <a:chOff x="5650674" y="1292287"/>
            <a:chExt cx="3016333" cy="928399"/>
          </a:xfrm>
        </p:grpSpPr>
        <p:sp>
          <p:nvSpPr>
            <p:cNvPr id="2" name="Rectangle 1">
              <a:extLst>
                <a:ext uri="{FF2B5EF4-FFF2-40B4-BE49-F238E27FC236}">
                  <a16:creationId xmlns:a16="http://schemas.microsoft.com/office/drawing/2014/main" id="{29F54B63-52B4-C51D-0EEE-2923A98F42F6}"/>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15" name="Rectangle 14">
              <a:extLst>
                <a:ext uri="{FF2B5EF4-FFF2-40B4-BE49-F238E27FC236}">
                  <a16:creationId xmlns:a16="http://schemas.microsoft.com/office/drawing/2014/main" id="{871E345B-C9DB-B935-BB76-D759F790836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grpSp>
        <p:nvGrpSpPr>
          <p:cNvPr id="17" name="Group 16">
            <a:extLst>
              <a:ext uri="{FF2B5EF4-FFF2-40B4-BE49-F238E27FC236}">
                <a16:creationId xmlns:a16="http://schemas.microsoft.com/office/drawing/2014/main" id="{BBB0ACB4-54CA-F28A-DA3C-21FD5B11CD5B}"/>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3604FA3E-CC84-DAEA-E549-97B05F018E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767447-C522-52C3-4DEC-989453E5B88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64B8E8A9-051A-1526-4BB2-2877B1D68ABB}"/>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3A7CFC-1B5D-545B-D93E-2BE8DCDBD74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C5D874AE-9FA6-AEAE-541A-7D69C4F913F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A381AD2-9233-56E4-7080-CF90C025A0EC}"/>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CAB9640D-4952-9B51-5109-6BDEDA2FBE3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7556C533-B643-5F22-B3C3-4E5D4B17BCB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009BDE5-AFDC-F4D5-BBC6-C75A60A412B1}"/>
              </a:ext>
            </a:extLst>
          </p:cNvPr>
          <p:cNvCxnSpPr>
            <a:cxnSpLocks/>
            <a:stCxn id="15" idx="2"/>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A0E72D9-CB13-005C-AE57-F75A1F768107}"/>
              </a:ext>
            </a:extLst>
          </p:cNvPr>
          <p:cNvCxnSpPr>
            <a:cxnSpLocks/>
            <a:stCxn id="15" idx="2"/>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75CA73D-7EB3-7A05-E16B-FDA4D238E17B}"/>
              </a:ext>
            </a:extLst>
          </p:cNvPr>
          <p:cNvCxnSpPr>
            <a:cxnSpLocks/>
            <a:stCxn id="15" idx="2"/>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A7138F7-B025-2AEE-321B-9DB24C55557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6E796D8-8BA6-7E07-5F61-629C5DFBBF6B}"/>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0C0075E-7D7D-3F16-D30B-608240A14D4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93909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2AEA2-4418-2EA3-CA5D-CE36DAC879A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E62FA1-9778-3B00-0D89-584628094B4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FE20959B-97AB-0C6D-DE07-F8FE83CEB41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F91E86-4664-B010-8B37-C7154CF052B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1423F26-3B45-1356-4471-A76174817038}"/>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19C6415-9DE3-BEBB-591D-77FCA1C6C6C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A44A4C20-46AA-83F1-6B54-0FA85B003F86}"/>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98BE08D0-3C90-32FE-31F7-CD0C08D2B6E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4C203E2-5F66-16C4-FB1E-BDA1696D7D5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72309A-308F-F39C-880C-7F67583682C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ED52C9ED-D22D-AB77-4FF4-2612EDE9A90C}"/>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3402D9F2-CB83-9BEB-6F64-3B7BBC38BAD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4E110DF-E763-689A-1C8D-5010F6026CF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D64C9B2C-7D60-6F78-A6B6-15C381A2AE2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38E308B-3E99-4B7E-64FB-4BDD46507E62}"/>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30F36AE-0F2F-B85A-7713-A58D80AF7D3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99A993-7F47-758C-FECC-0D7FF2A244B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4986CC-DCF0-BAF4-A50D-17575325BA2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9805502-BF07-9AF3-670C-1761C1210E1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4EC0531-6EFF-29E6-103B-0224D48C41AC}"/>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AF10113-3B9B-B688-570B-41B093C01532}"/>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D50337D-3B91-E324-A4E4-E2BB14D7B06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66C532C9-1C8C-5A67-3919-EC7D1441DBE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295CACD2-E73F-3673-CEA0-8B1D40656603}"/>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3EE11280-0192-4AF2-C53A-A80864116011}"/>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AC0F7189-8303-CD0A-2AC3-65779FD706C4}"/>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58357AF-818D-2F03-46A7-A2B70B21759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FFC7250-0EB1-4780-BEAE-DD4D44DDB53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388B51C0-0973-EC08-7834-A9940FA641E9}"/>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Tree>
    <p:extLst>
      <p:ext uri="{BB962C8B-B14F-4D97-AF65-F5344CB8AC3E}">
        <p14:creationId xmlns:p14="http://schemas.microsoft.com/office/powerpoint/2010/main" val="150008318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CBFD1-9B1C-B56E-C5A5-14387B5192C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94E022C-2B0E-C8A1-D797-B47A1E43DADD}"/>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453A054-A49E-F659-B9CD-84776CCB3A3A}"/>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4AA1CD00-5C1A-F49C-25BF-6403E13A4DB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DEBAC8C3-89EF-1EB8-4684-D147830BEA5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E0C11759-DE30-0E16-093B-AAE9529BFFDD}"/>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B336FA0C-2A1E-44F1-140D-C249C702FA82}"/>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8352712-B7FD-B226-53D5-EB5D5B92900F}"/>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FECB0D2-6EED-3C96-C712-6F7BADBE7FD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0A1F8CA-D8F3-A8DB-CCE1-41BE3A91F50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sp>
        <p:nvSpPr>
          <p:cNvPr id="20" name="TextBox 19">
            <a:extLst>
              <a:ext uri="{FF2B5EF4-FFF2-40B4-BE49-F238E27FC236}">
                <a16:creationId xmlns:a16="http://schemas.microsoft.com/office/drawing/2014/main" id="{D9051BA6-AC4B-A02D-8DBC-C259B22F5DDA}"/>
              </a:ext>
            </a:extLst>
          </p:cNvPr>
          <p:cNvSpPr txBox="1"/>
          <p:nvPr/>
        </p:nvSpPr>
        <p:spPr>
          <a:xfrm>
            <a:off x="255318" y="5132893"/>
            <a:ext cx="11722928" cy="830997"/>
          </a:xfrm>
          <a:prstGeom prst="rect">
            <a:avLst/>
          </a:prstGeom>
          <a:noFill/>
        </p:spPr>
        <p:txBody>
          <a:bodyPr wrap="square" rtlCol="0">
            <a:spAutoFit/>
          </a:bodyPr>
          <a:lstStyle/>
          <a:p>
            <a:pPr algn="ctr"/>
            <a:r>
              <a:rPr lang="en-US" sz="2400" b="1" i="1" dirty="0"/>
              <a:t>Method overloading ensures the correct </a:t>
            </a:r>
            <a:r>
              <a:rPr lang="en-US" sz="2400" b="1" dirty="0">
                <a:latin typeface="Consolas" panose="020B0609020204030204" pitchFamily="49" charset="0"/>
                <a:cs typeface="Consolas" panose="020B0609020204030204" pitchFamily="49" charset="0"/>
              </a:rPr>
              <a:t>visit</a:t>
            </a:r>
            <a:r>
              <a:rPr lang="en-US" sz="2400" b="1" i="1" dirty="0"/>
              <a:t> method is invoked by the </a:t>
            </a:r>
            <a:r>
              <a:rPr lang="en-US" sz="2400" b="1" dirty="0">
                <a:latin typeface="Consolas" panose="020B0609020204030204" pitchFamily="49" charset="0"/>
                <a:cs typeface="Consolas" panose="020B0609020204030204" pitchFamily="49" charset="0"/>
              </a:rPr>
              <a:t>accept</a:t>
            </a:r>
            <a:r>
              <a:rPr lang="en-US" sz="2400" b="1" i="1" dirty="0"/>
              <a:t> method of each </a:t>
            </a:r>
            <a:r>
              <a:rPr lang="en-US" sz="2400" b="1" dirty="0">
                <a:latin typeface="Consolas" panose="020B0609020204030204" pitchFamily="49" charset="0"/>
                <a:cs typeface="Consolas" panose="020B0609020204030204" pitchFamily="49" charset="0"/>
              </a:rPr>
              <a:t>Shape</a:t>
            </a:r>
            <a:r>
              <a:rPr lang="en-US" sz="2400" b="1" i="1" dirty="0"/>
              <a:t> sub-class</a:t>
            </a:r>
          </a:p>
        </p:txBody>
      </p:sp>
      <p:grpSp>
        <p:nvGrpSpPr>
          <p:cNvPr id="21" name="Group 20">
            <a:extLst>
              <a:ext uri="{FF2B5EF4-FFF2-40B4-BE49-F238E27FC236}">
                <a16:creationId xmlns:a16="http://schemas.microsoft.com/office/drawing/2014/main" id="{D006E116-B99B-40A4-E1D6-EF5A935EB0F4}"/>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463A299-D1D5-451F-7477-A8A26C56C93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2533FF1-20C5-0878-5014-7741206BD35B}"/>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6ACA22D-0248-034F-168B-90D01EB5E12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74E2B91-3877-834A-40AB-E29FD6CB7BA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B8174B2E-BA93-DB9F-2C9D-7BC65B673A7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253B6692-433F-71B1-BA7A-57861AA61669}"/>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768286B4-3D53-86AB-47C8-D4C4690AA6C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6DA9C01-7C4A-5EF0-5143-588FE3472378}"/>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B2544B6-BD5F-982B-7046-36A0E1410E2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5713534-A63F-EA6D-220D-CDE1C5F6C94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DA49811-6AEB-F145-B2A2-4E1A73DA756B}"/>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981F0FD-B28E-E385-78BC-91E837626824}"/>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B17C343C-AA43-28EB-35B0-469C63261836}"/>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BE9820E1-5F59-4D41-00D0-3E92C51C1E5A}"/>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E4406947-59F4-DB35-E6B9-C63D4A7DDD42}"/>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A287F37-F887-B206-8F60-8A85BD4FC6F8}"/>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60BE4E0-55AF-3321-D90D-4BEC0A4F2F5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CE25902-B1D0-58B6-87C9-084DADB9A4B3}"/>
              </a:ext>
            </a:extLst>
          </p:cNvPr>
          <p:cNvSpPr/>
          <p:nvPr/>
        </p:nvSpPr>
        <p:spPr>
          <a:xfrm>
            <a:off x="102530" y="2344075"/>
            <a:ext cx="3261395" cy="1098762"/>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530702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2339E-95CA-3F17-99C9-DC2C69D0ACE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DA269FD-EE95-33E9-9646-37D28E87C592}"/>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DF0B6570-6964-ED07-7360-34528B57050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F9A2AC3A-68AE-32BB-8081-9A569473E54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8D0B888-EB9F-4557-0CBB-648D6E0DDAB4}"/>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C679B24-B4D8-0AE5-B6E9-25BB9879C0B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DEEFB13D-E723-AD22-CB3E-997032955EF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1F65A1C-AB10-E5AA-8C66-B79BD29326F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2C97D737-514E-A7CE-DBE3-02D4A9FAA4A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AA29D6B9-EF94-D752-D1BF-C9F2B64EC32D}"/>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121E5B0-26A7-CBF0-5EEA-B43CEBE7DBBC}"/>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03371E51-D5C5-BFB7-D2CF-775F50050E10}"/>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96B5EC8A-85C6-66FB-9F76-E87AF36DA33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CA8EDA2F-0EFC-69CA-E079-F880AA1E3BB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1A8E63C3-7955-712A-22EB-09C9FAC300C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610BA-7C7F-5261-2F85-E935ED4FAF1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0A669D1-7BC8-479F-4186-9BFE336192A0}"/>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FCBEA7B4-07EF-B858-A0E8-92B8537FAD6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7EB130B7-8716-79A9-1CD4-CED47786D686}"/>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EC14F6DC-431B-8D8C-483F-4656DB3D7C9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944A4C7F-991C-3E3E-C7F0-9EAB639D94A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A049266-F9A4-07D2-5336-1BBC9564B29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6631F20-D8D3-A7B0-7163-B5558331ABFA}"/>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2CFDC099-FC88-1EB5-A833-F4C9CBC2D163}"/>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27F06166-8481-5723-4AED-BB1D1BC6ED7F}"/>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3DDEF295-564D-1392-E74A-728882D9F548}"/>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33D34AF1-954C-B9D9-4E70-91C6CFD0AA4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5F95C139-075E-5D64-74DD-1F1439E88945}"/>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F6C4F4D-B313-4AAF-BD57-98BFFA83F47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02277147-93A0-541B-E48E-C78329A63E59}"/>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A487C7BD-33E7-B978-1399-2A53750A14D5}"/>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1F3A7971-515A-DF05-F7CD-4E4102C637D5}"/>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94B71A5-C062-CAB1-2371-759A70831426}"/>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57B4875-A8FE-7AEF-1CB2-BFC54D0C99F6}"/>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FC7F66A2-6388-0E10-820F-943B6B2243D7}"/>
              </a:ext>
            </a:extLst>
          </p:cNvPr>
          <p:cNvCxnSpPr>
            <a:cxnSpLocks/>
            <a:endCxn id="31" idx="2"/>
          </p:cNvCxnSpPr>
          <p:nvPr/>
        </p:nvCxnSpPr>
        <p:spPr>
          <a:xfrm>
            <a:off x="2910443" y="3099491"/>
            <a:ext cx="7573116" cy="380011"/>
          </a:xfrm>
          <a:prstGeom prst="curvedConnector4">
            <a:avLst>
              <a:gd name="adj1" fmla="val 1389"/>
              <a:gd name="adj2" fmla="val 3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012797D-652B-5AB5-3FD1-F57472B5AADB}"/>
              </a:ext>
            </a:extLst>
          </p:cNvPr>
          <p:cNvSpPr txBox="1"/>
          <p:nvPr/>
        </p:nvSpPr>
        <p:spPr>
          <a:xfrm>
            <a:off x="0" y="5209643"/>
            <a:ext cx="12251367" cy="461665"/>
          </a:xfrm>
          <a:prstGeom prst="rect">
            <a:avLst/>
          </a:prstGeom>
          <a:noFill/>
        </p:spPr>
        <p:txBody>
          <a:bodyPr wrap="none" rtlCol="0">
            <a:spAutoFit/>
          </a:bodyPr>
          <a:lstStyle/>
          <a:p>
            <a:r>
              <a:rPr lang="en-US" sz="2400" b="1" i="1" dirty="0"/>
              <a:t>Runtime polymorphism ensures the correct accept method is invoked for each Compound shape</a:t>
            </a:r>
          </a:p>
        </p:txBody>
      </p:sp>
    </p:spTree>
    <p:extLst>
      <p:ext uri="{BB962C8B-B14F-4D97-AF65-F5344CB8AC3E}">
        <p14:creationId xmlns:p14="http://schemas.microsoft.com/office/powerpoint/2010/main" val="284916262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E8EE6-A45B-D182-53AB-FBD3D125639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D724C0-9E6F-BF00-ED0A-45D0ED745AC0}"/>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6140E87B-397E-40E5-6342-7F2DAE2BDFBD}"/>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394CE1EC-E67F-F853-B181-22EE2ECD77D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67D42769-A98C-4148-911A-FBE2827B0C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0AE500F-9BAF-6184-C7D6-DEC358B1E4E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EDFE786D-8908-B4E5-4610-E4953C65BD1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7AC2A60-4F28-D8D2-7CBD-30FDCF73EFB5}"/>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B82CD9F6-1740-A781-3BA1-EFE426429B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473A515-6E0E-522F-9EFB-CB4DE23C1E5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5ADCBAFE-3145-912C-4864-588CF9B14B97}"/>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131AE86-0BBF-6FB6-3BC0-00B3EE06517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584ECBD4-9461-4BB1-7F4B-A56474EEAA8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6F8CEEA-97BB-80CC-A99F-AAE0C6C15633}"/>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36FCB564-DB23-F95E-8E46-ED5F50BD668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85C2DA7-BB81-8847-58B5-CD4FFDA0BAA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9F0397B0-FD8D-8D72-BE4D-90CC6A97E445}"/>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446317-7B4F-212D-B45E-413463B8F89D}"/>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4985D0-DC19-0B03-269C-458DCA1ACD53}"/>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0DEE3BD-16C6-8BCC-FA3D-5BF670BBC4CE}"/>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17356056-7EE8-9BD2-4387-3EB3D784457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6DFD147-860D-942B-7DC4-AB58ED7CF4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E183ED1E-CF3F-D889-1D65-EC90B506BC2E}"/>
              </a:ext>
            </a:extLst>
          </p:cNvPr>
          <p:cNvCxnSpPr>
            <a:stCxn id="19" idx="2"/>
            <a:endCxn id="12" idx="3"/>
          </p:cNvCxnSpPr>
          <p:nvPr/>
        </p:nvCxnSpPr>
        <p:spPr>
          <a:xfrm rot="5400000" flipH="1">
            <a:off x="2757877" y="1966485"/>
            <a:ext cx="2490193" cy="1545771"/>
          </a:xfrm>
          <a:prstGeom prst="curvedConnector4">
            <a:avLst>
              <a:gd name="adj1" fmla="val -9180"/>
              <a:gd name="adj2" fmla="val 9270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8CCE848F-1EED-5869-63CD-C88FFA5AAB2A}"/>
              </a:ext>
            </a:extLst>
          </p:cNvPr>
          <p:cNvCxnSpPr>
            <a:cxnSpLocks/>
            <a:stCxn id="23" idx="2"/>
            <a:endCxn id="13" idx="3"/>
          </p:cNvCxnSpPr>
          <p:nvPr/>
        </p:nvCxnSpPr>
        <p:spPr>
          <a:xfrm rot="5400000" flipH="1">
            <a:off x="4371745" y="685125"/>
            <a:ext cx="2157684" cy="4440998"/>
          </a:xfrm>
          <a:prstGeom prst="curvedConnector4">
            <a:avLst>
              <a:gd name="adj1" fmla="val -10595"/>
              <a:gd name="adj2" fmla="val 64863"/>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78404D5-0BF6-6D2A-3F1E-FA8C6D1B029D}"/>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7AA0711F-D5E4-42D0-8A72-BE0ABE55BA7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79F4A1E-F35C-67D4-0DC5-40A5E09E51E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72B641B-611B-5AE0-1377-35CE7166BEEE}"/>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8E456E0-1F9F-5E02-9E5A-B270406CA3C2}"/>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71E144D8-F6C9-4CE1-3E24-78074F66AC30}"/>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3A61B321-E700-35E5-29C5-B00A4705E150}"/>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AE86FC71-9763-3489-A201-E0F796AF7850}"/>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6E3B6C3B-FF48-3695-5AD3-9090671712B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0E9A2726-A295-5A62-320F-96E1E86DF741}"/>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205253C-1506-8E44-AD16-B1720BD03546}"/>
              </a:ext>
            </a:extLst>
          </p:cNvPr>
          <p:cNvCxnSpPr>
            <a:cxnSpLocks/>
            <a:endCxn id="31" idx="2"/>
          </p:cNvCxnSpPr>
          <p:nvPr/>
        </p:nvCxnSpPr>
        <p:spPr>
          <a:xfrm>
            <a:off x="2910443" y="3099491"/>
            <a:ext cx="7573116" cy="380011"/>
          </a:xfrm>
          <a:prstGeom prst="curvedConnector4">
            <a:avLst>
              <a:gd name="adj1" fmla="val 1389"/>
              <a:gd name="adj2" fmla="val 37578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54" name="TextBox 53">
            <a:extLst>
              <a:ext uri="{FF2B5EF4-FFF2-40B4-BE49-F238E27FC236}">
                <a16:creationId xmlns:a16="http://schemas.microsoft.com/office/drawing/2014/main" id="{3CD85ECE-7CA8-A340-2F79-64DECBD04494}"/>
              </a:ext>
            </a:extLst>
          </p:cNvPr>
          <p:cNvSpPr txBox="1"/>
          <p:nvPr/>
        </p:nvSpPr>
        <p:spPr>
          <a:xfrm>
            <a:off x="2244798" y="5210438"/>
            <a:ext cx="7890430" cy="461665"/>
          </a:xfrm>
          <a:prstGeom prst="rect">
            <a:avLst/>
          </a:prstGeom>
          <a:noFill/>
        </p:spPr>
        <p:txBody>
          <a:bodyPr wrap="none" rtlCol="0">
            <a:spAutoFit/>
          </a:bodyPr>
          <a:lstStyle/>
          <a:p>
            <a:r>
              <a:rPr lang="en-US" sz="2400" b="1" i="1" dirty="0"/>
              <a:t>What would happen if there were nested </a:t>
            </a:r>
            <a:r>
              <a:rPr lang="en-US" sz="2400" b="1" i="1" dirty="0" err="1"/>
              <a:t>CompoundShapes</a:t>
            </a:r>
            <a:r>
              <a:rPr lang="en-US" sz="2400" b="1" i="1" dirty="0"/>
              <a:t>?</a:t>
            </a:r>
          </a:p>
        </p:txBody>
      </p:sp>
    </p:spTree>
    <p:extLst>
      <p:ext uri="{BB962C8B-B14F-4D97-AF65-F5344CB8AC3E}">
        <p14:creationId xmlns:p14="http://schemas.microsoft.com/office/powerpoint/2010/main" val="100719763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normAutofit/>
          </a:bodyPr>
          <a:lstStyle/>
          <a:p>
            <a:r>
              <a:rPr lang="en-US" dirty="0"/>
              <a:t>class </a:t>
            </a:r>
            <a:r>
              <a:rPr lang="en-US" dirty="0" err="1"/>
              <a:t>TranslationVisitor</a:t>
            </a:r>
            <a:r>
              <a:rPr lang="en-US" dirty="0"/>
              <a:t> extends Visitor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visit(Circle c) {</a:t>
            </a:r>
            <a:br>
              <a:rPr lang="en-US" dirty="0"/>
            </a:br>
            <a:r>
              <a:rPr lang="en-US" dirty="0"/>
              <a:t>        </a:t>
            </a:r>
            <a:r>
              <a:rPr lang="en-US" dirty="0" err="1"/>
              <a:t>c.setRadius</a:t>
            </a:r>
            <a:r>
              <a:rPr lang="en-US" dirty="0"/>
              <a:t>(</a:t>
            </a:r>
            <a:r>
              <a:rPr lang="en-US" dirty="0" err="1"/>
              <a:t>c.getRadius</a:t>
            </a:r>
            <a:r>
              <a:rPr lang="en-US" dirty="0"/>
              <a:t>().</a:t>
            </a:r>
            <a:r>
              <a:rPr lang="en-US" dirty="0" err="1"/>
              <a:t>getX</a:t>
            </a:r>
            <a:r>
              <a:rPr lang="en-US" dirty="0"/>
              <a:t>() + </a:t>
            </a:r>
            <a:r>
              <a:rPr lang="en-US" dirty="0" err="1"/>
              <a:t>x_off</a:t>
            </a:r>
            <a:r>
              <a:rPr lang="en-US" dirty="0"/>
              <a:t>,</a:t>
            </a:r>
            <a:br>
              <a:rPr lang="en-US" dirty="0"/>
            </a:br>
            <a:r>
              <a:rPr lang="en-US" dirty="0"/>
              <a:t>                </a:t>
            </a:r>
            <a:r>
              <a:rPr lang="en-US" dirty="0" err="1"/>
              <a:t>c.getRadius</a:t>
            </a:r>
            <a:r>
              <a:rPr lang="en-US" dirty="0"/>
              <a:t>().</a:t>
            </a:r>
            <a:r>
              <a:rPr lang="en-US" dirty="0" err="1"/>
              <a:t>getY</a:t>
            </a:r>
            <a:r>
              <a:rPr lang="en-US" dirty="0"/>
              <a:t>() + </a:t>
            </a:r>
            <a:r>
              <a:rPr lang="en-US" dirty="0" err="1"/>
              <a:t>y_off</a:t>
            </a:r>
            <a:r>
              <a:rPr lang="en-US" dirty="0"/>
              <a:t>);</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normAutofit/>
          </a:bodyPr>
          <a:lstStyle/>
          <a:p>
            <a:r>
              <a:rPr lang="en-US" dirty="0"/>
              <a:t>Concrete visitor subclasses implement the particular visitor logic</a:t>
            </a:r>
          </a:p>
          <a:p>
            <a:r>
              <a:rPr lang="en-US" dirty="0"/>
              <a:t>The operation logic is encapsulated in its own visitor class</a:t>
            </a: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1180-F5E0-4C23-6A5F-71B2A817E1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F9264E-ACE1-7386-429F-5B0F1746D777}"/>
              </a:ext>
            </a:extLst>
          </p:cNvPr>
          <p:cNvSpPr>
            <a:spLocks noGrp="1"/>
          </p:cNvSpPr>
          <p:nvPr>
            <p:ph type="title"/>
          </p:nvPr>
        </p:nvSpPr>
        <p:spPr/>
        <p:txBody>
          <a:bodyPr/>
          <a:lstStyle/>
          <a:p>
            <a:r>
              <a:rPr lang="en-US" dirty="0"/>
              <a:t>Visitor design pattern so far…</a:t>
            </a:r>
          </a:p>
        </p:txBody>
      </p:sp>
      <p:grpSp>
        <p:nvGrpSpPr>
          <p:cNvPr id="4" name="Group 3">
            <a:extLst>
              <a:ext uri="{FF2B5EF4-FFF2-40B4-BE49-F238E27FC236}">
                <a16:creationId xmlns:a16="http://schemas.microsoft.com/office/drawing/2014/main" id="{3731E5C2-9912-269F-BA03-811CCF25D6E1}"/>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62409E16-59AD-8A60-B133-D9AFAEA3CD3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240C48B4-6801-5AC7-B5B4-5C1A962E543D}"/>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033CC1-B0E4-A640-3BBC-1735BCF9471E}"/>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1128E53E-7E4C-809B-4F90-3242E469A8C8}"/>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91E0A4C-BC8F-23DE-E6A8-14703AA0D6B6}"/>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B38B938-59D0-AC4D-EB9C-4E2CBA471EA5}"/>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9F250EF3-D71C-FF10-4C9D-BEB43C30C36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DF03A64E-1F65-8FDE-D83A-3716AD925C79}"/>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1A77828-ECEC-0F42-6456-D81C677A5BA6}"/>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68E5BCBD-A1A1-137E-95B6-4A0BED23147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0458C7F5-F70E-DC8F-8E3E-22AC1BDB25F7}"/>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68242771-5F63-DF9C-836B-A8D2B75FE89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39AA3BC5-B80F-912A-2584-106999920FF3}"/>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BC7D8B47-8372-CEE5-C925-F81B3736DFD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4608EF5-0B0C-49A0-A7DF-C1B5334CBCC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A7449A8F-367C-F930-4600-7D688B9C66EB}"/>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58B56C47-3E56-9293-5118-ACDB4F58AB9C}"/>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F8EDACD3-F9B9-6275-0BB1-FEAC29A14E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EB14DB51-34F5-B1C0-F2B6-0EF9C1FC033D}"/>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cxnSp>
        <p:nvCxnSpPr>
          <p:cNvPr id="7" name="Curved Connector 6">
            <a:extLst>
              <a:ext uri="{FF2B5EF4-FFF2-40B4-BE49-F238E27FC236}">
                <a16:creationId xmlns:a16="http://schemas.microsoft.com/office/drawing/2014/main" id="{DD3CA1E7-B82B-0770-2264-B3350FA14E40}"/>
              </a:ext>
            </a:extLst>
          </p:cNvPr>
          <p:cNvCxnSpPr>
            <a:cxnSpLocks/>
            <a:stCxn id="19" idx="2"/>
            <a:endCxn id="10" idx="3"/>
          </p:cNvCxnSpPr>
          <p:nvPr/>
        </p:nvCxnSpPr>
        <p:spPr>
          <a:xfrm rot="5400000">
            <a:off x="3420857" y="3805572"/>
            <a:ext cx="1176108" cy="1533896"/>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8" name="Curved Connector 7">
            <a:extLst>
              <a:ext uri="{FF2B5EF4-FFF2-40B4-BE49-F238E27FC236}">
                <a16:creationId xmlns:a16="http://schemas.microsoft.com/office/drawing/2014/main" id="{D2FBCE86-BA5D-5B24-EBB8-DB42874B8E86}"/>
              </a:ext>
            </a:extLst>
          </p:cNvPr>
          <p:cNvCxnSpPr>
            <a:cxnSpLocks/>
            <a:stCxn id="23" idx="2"/>
            <a:endCxn id="15" idx="3"/>
          </p:cNvCxnSpPr>
          <p:nvPr/>
        </p:nvCxnSpPr>
        <p:spPr>
          <a:xfrm rot="5400000">
            <a:off x="4699115" y="2527315"/>
            <a:ext cx="1514820" cy="4429123"/>
          </a:xfrm>
          <a:prstGeom prst="curvedConnector2">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27" name="Curved Connector 26">
            <a:extLst>
              <a:ext uri="{FF2B5EF4-FFF2-40B4-BE49-F238E27FC236}">
                <a16:creationId xmlns:a16="http://schemas.microsoft.com/office/drawing/2014/main" id="{DB00CE0A-75DC-DCA7-53D6-AA3C45C90F66}"/>
              </a:ext>
            </a:extLst>
          </p:cNvPr>
          <p:cNvCxnSpPr>
            <a:cxnSpLocks/>
            <a:stCxn id="26" idx="2"/>
            <a:endCxn id="14" idx="2"/>
          </p:cNvCxnSpPr>
          <p:nvPr/>
        </p:nvCxnSpPr>
        <p:spPr>
          <a:xfrm rot="5400000" flipH="1">
            <a:off x="6085453" y="-588186"/>
            <a:ext cx="209121" cy="8936185"/>
          </a:xfrm>
          <a:prstGeom prst="curvedConnector3">
            <a:avLst>
              <a:gd name="adj1" fmla="val -319427"/>
            </a:avLst>
          </a:prstGeom>
          <a:ln w="9525">
            <a:solidFill>
              <a:srgbClr val="C00000"/>
            </a:solidFill>
            <a:prstDash val="sysDot"/>
            <a:tailEnd type="triangle"/>
          </a:ln>
        </p:spPr>
        <p:style>
          <a:lnRef idx="1">
            <a:schemeClr val="dk1"/>
          </a:lnRef>
          <a:fillRef idx="0">
            <a:schemeClr val="dk1"/>
          </a:fillRef>
          <a:effectRef idx="0">
            <a:schemeClr val="dk1"/>
          </a:effectRef>
          <a:fontRef idx="minor">
            <a:schemeClr val="tx1"/>
          </a:fontRef>
        </p:style>
      </p:cxnSp>
      <p:grpSp>
        <p:nvGrpSpPr>
          <p:cNvPr id="48" name="Group 47">
            <a:extLst>
              <a:ext uri="{FF2B5EF4-FFF2-40B4-BE49-F238E27FC236}">
                <a16:creationId xmlns:a16="http://schemas.microsoft.com/office/drawing/2014/main" id="{8AC1F2A4-B1F2-9DFA-F8F0-99A86FDBDB4B}"/>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B2EDB85-3CF6-8690-AE17-3AB218B201FD}"/>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D154BF1C-0599-D200-72AC-35CF9D017EB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3023CC3-E2DF-0D76-E0AF-3F873E40325C}"/>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Curved Connector 2">
            <a:extLst>
              <a:ext uri="{FF2B5EF4-FFF2-40B4-BE49-F238E27FC236}">
                <a16:creationId xmlns:a16="http://schemas.microsoft.com/office/drawing/2014/main" id="{F2132566-13C8-0BC4-ECF1-A25CA0F2A8C6}"/>
              </a:ext>
            </a:extLst>
          </p:cNvPr>
          <p:cNvCxnSpPr>
            <a:cxnSpLocks/>
            <a:endCxn id="16" idx="1"/>
          </p:cNvCxnSpPr>
          <p:nvPr/>
        </p:nvCxnSpPr>
        <p:spPr>
          <a:xfrm>
            <a:off x="2861953" y="3082652"/>
            <a:ext cx="623079" cy="202775"/>
          </a:xfrm>
          <a:prstGeom prst="curvedConnector3">
            <a:avLst>
              <a:gd name="adj1" fmla="val 50000"/>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cxnSp>
        <p:nvCxnSpPr>
          <p:cNvPr id="11" name="Curved Connector 10">
            <a:extLst>
              <a:ext uri="{FF2B5EF4-FFF2-40B4-BE49-F238E27FC236}">
                <a16:creationId xmlns:a16="http://schemas.microsoft.com/office/drawing/2014/main" id="{B8C64843-B71A-67E3-4AAC-854528075619}"/>
              </a:ext>
            </a:extLst>
          </p:cNvPr>
          <p:cNvCxnSpPr>
            <a:cxnSpLocks/>
            <a:stCxn id="2" idx="3"/>
            <a:endCxn id="30" idx="1"/>
          </p:cNvCxnSpPr>
          <p:nvPr/>
        </p:nvCxnSpPr>
        <p:spPr>
          <a:xfrm>
            <a:off x="2861953" y="3051959"/>
            <a:ext cx="3537483" cy="231177"/>
          </a:xfrm>
          <a:prstGeom prst="curvedConnector3">
            <a:avLst>
              <a:gd name="adj1" fmla="val 34558"/>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71026A27-63BD-A275-392F-F33DF0DCF80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7C19908-68C2-519E-7B3E-9F9BC77323B8}"/>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CAACEB-8409-10C7-B3B6-D7AE360BA579}"/>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Curved Connector 44">
            <a:extLst>
              <a:ext uri="{FF2B5EF4-FFF2-40B4-BE49-F238E27FC236}">
                <a16:creationId xmlns:a16="http://schemas.microsoft.com/office/drawing/2014/main" id="{5D887B73-7CC6-E555-AC08-7E10EFC5A9FD}"/>
              </a:ext>
            </a:extLst>
          </p:cNvPr>
          <p:cNvCxnSpPr>
            <a:cxnSpLocks/>
            <a:endCxn id="31" idx="2"/>
          </p:cNvCxnSpPr>
          <p:nvPr/>
        </p:nvCxnSpPr>
        <p:spPr>
          <a:xfrm>
            <a:off x="2910443" y="3099491"/>
            <a:ext cx="7573116" cy="380011"/>
          </a:xfrm>
          <a:prstGeom prst="curvedConnector4">
            <a:avLst>
              <a:gd name="adj1" fmla="val 1389"/>
              <a:gd name="adj2" fmla="val 478905"/>
            </a:avLst>
          </a:prstGeom>
          <a:ln w="9525">
            <a:solidFill>
              <a:srgbClr val="0000FF"/>
            </a:solidFill>
            <a:prstDash val="sysDot"/>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8C5B7C37-0DF2-8239-20AC-57C8FF1B08C6}"/>
              </a:ext>
            </a:extLst>
          </p:cNvPr>
          <p:cNvSpPr/>
          <p:nvPr/>
        </p:nvSpPr>
        <p:spPr>
          <a:xfrm>
            <a:off x="225630" y="4495556"/>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36E7E1E-5EFF-2F82-44F9-2DA7103C5D22}"/>
              </a:ext>
            </a:extLst>
          </p:cNvPr>
          <p:cNvSpPr/>
          <p:nvPr/>
        </p:nvSpPr>
        <p:spPr>
          <a:xfrm>
            <a:off x="225630" y="4994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012E6F49-F763-E3ED-6E28-3622CEC1DF3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E151178F-282E-B2E9-A734-8B87B7FB7C8D}"/>
              </a:ext>
            </a:extLst>
          </p:cNvPr>
          <p:cNvCxnSpPr>
            <a:cxnSpLocks/>
            <a:stCxn id="14" idx="2"/>
            <a:endCxn id="6" idx="0"/>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F6BEB2F1-26F9-9F83-3315-903091BC4E5C}"/>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Tree>
    <p:extLst>
      <p:ext uri="{BB962C8B-B14F-4D97-AF65-F5344CB8AC3E}">
        <p14:creationId xmlns:p14="http://schemas.microsoft.com/office/powerpoint/2010/main" val="20737159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6348F-2B06-C390-E6EF-5CF7861E536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583C533-D3C7-A6C8-D278-DB60B1123091}"/>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7182379-1EBB-0663-A31A-EB4937AE782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355FDBF-5F7F-D57F-FB56-6FBB1410DDF6}"/>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937EE7AB-9BE6-2123-2A17-162FF47F1243}"/>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29AE5AC4-F56F-B4B6-7CB9-B86AFAEC7180}"/>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4AEF531-E276-1731-1BC2-163A71E48F30}"/>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59BCF-1FDE-9F8C-F47A-F6129715445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AF538A1B-5A31-D9C2-125A-40F86780A6E3}"/>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468DD152-DD23-98FD-2A1F-9E269D7B9B4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B6861F66-4DC9-6E43-9BCD-E39C4D1444C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A403A4B-4D8A-4742-75B9-583BB7586DCB}"/>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3BC2EFF-C168-FFBF-AEAC-6454062CE8E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576E8DAD-3F8E-00CE-3018-8F2B3455021D}"/>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AAC5B2E5-B1B0-03BD-E320-D0611A4874CF}"/>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03E02464-5F37-1B5B-5F70-DD150FA7B1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C6F1CAC-CE33-1DF1-1098-E8E89B4F4987}"/>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A670764-CEA2-3E8E-8B4D-765957263294}"/>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3292EEB-AEEB-51B7-46B7-A018E4FC24C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22B05C0-6B19-BB81-5A6F-E7D3F442F32D}"/>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BF498C95-EB56-FA43-FE48-990BD18B4A14}"/>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FEF8371-84B0-37A3-EDED-E6EE896B1E4A}"/>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D1B5EE1-08A6-5AD7-9E48-382AB7D4A4E1}"/>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C33A80B1-CA80-DF2F-6546-4E870203EF95}"/>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BC34508D-851C-F71C-411D-5C259AEB0BCB}"/>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68091DC7-AF9F-0638-DF0B-D807652E98A3}"/>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57B5C55-59D9-1EA4-D302-A77FFF38767C}"/>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28A2421-3AB8-FB32-FFCC-3EB5DD44D7D9}"/>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E33D924-40AB-05B0-3495-7D7C396A7A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47BA699-860E-7F57-7675-08A0626D74F8}"/>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8FA00FC7-12A1-6A52-C7F4-9F48B01485CF}"/>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A3CC7892-2FD8-28EA-3963-D6BB52C8648E}"/>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21AE6062-57DD-6DFC-43E1-4CE0F89013F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39DC979D-C8DE-9164-F11F-6C397294246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B8A44F6F-D7C0-E929-E45A-9707211828E0}"/>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
        <p:nvSpPr>
          <p:cNvPr id="8" name="Rectangle 7">
            <a:extLst>
              <a:ext uri="{FF2B5EF4-FFF2-40B4-BE49-F238E27FC236}">
                <a16:creationId xmlns:a16="http://schemas.microsoft.com/office/drawing/2014/main" id="{8A4132BA-512A-6D4F-607E-6791C65DB425}"/>
              </a:ext>
            </a:extLst>
          </p:cNvPr>
          <p:cNvSpPr/>
          <p:nvPr/>
        </p:nvSpPr>
        <p:spPr>
          <a:xfrm>
            <a:off x="8193972" y="1712531"/>
            <a:ext cx="3936672" cy="498763"/>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3263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9216D-C4D4-4082-4B7C-4D85A4557F1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8D0B29F-91EC-943F-1B1A-63B30079EAD4}"/>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0CE3DD7-2DCE-28E6-E978-4B8016C8F13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08148C9F-BB76-6161-7E28-706B43AC8E2E}"/>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F7ACDFBB-C1E4-4B10-2A3C-51D247AAF2D1}"/>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D8B53BC0-C44F-C97F-0A1C-CEA4876E8A29}"/>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C82AA7FB-2860-97AF-4309-658CB91192E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s.accept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8B53F4D7-A00A-89C2-99EA-5AB473AB13E9}"/>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754386B-0012-8E60-5CB7-F2A6250EC00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0C81EE8B-AA4A-7A83-64B5-04449DFB54C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0A23E88D-E8A3-E51E-47CA-10543E1B76F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33219162-32D1-9F32-FC88-F3A5909E33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47A71638-E3F8-93CC-3B58-BE81FD9F7FE0}"/>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8FCD5177-AA89-034D-1061-DB20B6304E18}"/>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A9C9579-E554-CDD9-BD58-3D070D9DA07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5C40E749-5EFB-4DE2-6FCC-8A106EB3EA6A}"/>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4E0ECAC9-06A4-3C6E-9ECC-F480D41428A1}"/>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E4712B0-BF6A-F682-C5C8-49E03EA81A0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30FCB75-1751-0F08-9F48-C1B1592925C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DF18953-8F3F-AD7D-7DE5-3D09DA152D84}"/>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ABD09C74-B8D8-0139-67F0-BD32DC8E169A}"/>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5727DB17-D39B-6C4F-1D4B-FC7F93BDD91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93DE7C7-6ABE-C743-9777-4BDA28171FA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A8E16A54-7239-B8AC-56CE-94D17EE62EC0}"/>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4DA2C932-F094-C561-8BD2-0CAC3EE0D8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FB8C9A4-D202-20F2-4188-10A01634D99B}"/>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CF833E3-5F57-B2BB-9D79-1C16CF5ED796}"/>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5589C026-B4BC-5608-1329-77C27E4C0984}"/>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7753FAD-813A-F748-9551-F8A46EF9069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F7C1A-6E35-3E52-D0C1-5110EB0B6A6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134E5AA7-398A-B697-E7C4-20987DCF7A13}"/>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D21D51AD-DCBB-3917-B614-9547882E112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7999C48B-9549-454B-51C3-8DABBD76E5CC}"/>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C4062BD7-CB49-6657-FF1A-B999CFF6BF71}"/>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58E9F9D8-5A98-28E9-5367-860E9E7E3E1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17809203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D63CA-B10D-F669-DD64-051F7D2300B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0A62254-9DC3-7D60-C1BD-1893EDC06F6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28E96D98-A3F0-0B5D-6C4F-C3BB8F1BE54F}"/>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B2E277D6-B213-1F6C-094C-525BE3494A4D}"/>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C63E6A30-BB19-9A36-A507-CE2A615F5FA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A627B53-DDE1-7A35-698A-F7BFD376A6F3}"/>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55819D-540F-55D2-0C96-4C5DA674A013}"/>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visit(Compound c)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for (Shape s:   </a:t>
              </a:r>
            </a:p>
            <a:p>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c.getShapeList</a:t>
              </a: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11F30DDD-881A-2CAB-1B20-81160F779C8E}"/>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7529DB35-56E6-CC2A-3A94-6849FF90903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B4F57825-4221-7D53-A940-EDD64C5B937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1F5F20A0-C2C4-A828-C21B-E19A15D3A15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4DD1A964-FDBD-78DF-83AC-4A75D00EF36E}"/>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EC3660F5-0A13-0A4E-7879-D1CCB3A829C8}"/>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A93B19A6-A209-4C81-E429-4B166CEC743F}"/>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E84223B4-6808-0622-5441-F7A5F3BEBFE2}"/>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D6B75A30-C10D-E2E9-FFD4-71CE6CF463F7}"/>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CFBF82DF-2DA7-C7EF-E310-5747ADA0EC63}"/>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C59B279F-BE0A-7E75-E697-543964A14128}"/>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9D185838-2ABF-CA6C-7A66-1C2DC617B30A}"/>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C35698ED-BA6C-7F7E-BB69-E149D03D0B66}"/>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42D5FA06-67CC-2B3D-C6AB-D03ADD136EC6}"/>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649021D-1B2F-A3D8-D6E1-A39C33722A8C}"/>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C85AD74D-2C72-481A-B1AD-543E704E4FE6}"/>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F7491DD6-31C7-FBC2-7861-123CF07D8917}"/>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1714F128-5FD9-B063-EF08-AC07CC4E83A8}"/>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8AFB6DC5-8740-B8BE-714D-B9A5CE387266}"/>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D5DA2CD-8166-1D1F-61C7-7064F2EEA3B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90B8826-CF8D-3A22-3E1D-AA9116FEA30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3247898-E491-2411-58CB-59B895A72AC2}"/>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ED2DCE3-A2FE-BA91-3AA7-02FC67258D2D}"/>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098ABBD-54B6-9BCD-F101-D1A016D1F7A9}"/>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35DCF6C-2469-FF73-394B-10DA8AB2BDE6}"/>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88DC4F2B-52F8-7EFA-3D76-AC1B6E1FF37E}"/>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0E230B2-C767-7F2F-1501-F057DEF75454}"/>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81CAE373-D0CF-31EE-8F00-19CE8E59A308}"/>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9721339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71572-40B6-A3E7-2B1B-229A9AD2631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196307-9A7C-049F-C9A2-43B7B7A6962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FDC047D8-A001-E76A-071D-9351A02E2D15}"/>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6E3CA65-B53C-64E4-B473-8F4264BE9F1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08871E62-43A5-2F07-23FB-66EB5205ED1C}"/>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F76888CE-8955-D1FE-5CB5-F7CD7C8D770A}"/>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258116B1-7F40-BE09-B5EB-50E324BEE29C}"/>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25E0EFEE-D038-1E9C-2C3B-6E285D354B8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9696A781-6305-CAC0-0191-516195F4529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AC61611-26A5-90BB-7A2D-CE2A5242BFB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9ADBD17C-35DB-90B0-761E-F6F9D40B1BA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127B8BE9-A5AC-ECB3-388D-9457F575FEE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09B3C626-FA12-26DB-48C2-448CF7C48771}"/>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464FEB03-7F8A-8AA1-849C-7AC917034D75}"/>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F5B9781A-2475-9ED3-E614-4297E95C9FC8}"/>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1270575D-F06F-A668-6FFA-8D4F3F7BD63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3D8057D7-3F1E-7EC5-B749-9310C827A39B}"/>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5358F8A3-17BD-9B0F-6ABE-E3D08357E90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EC276CCD-A2E1-DAC8-FD41-796AC44D9511}"/>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A581B47-8829-8623-CE2E-473636688945}"/>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E0C28492-F3B2-55CB-59F8-629A57CDA4C0}"/>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35775EF5-CC49-AE1B-E638-D5137A2488CF}"/>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67584F34-9540-BDFA-DDC9-DDCA73F6A57A}"/>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7BC9F84C-8D26-CF04-A375-04C6A56A9DCE}"/>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70D15F23-BFFF-58F3-CDB3-BC9BABC1C2D1}"/>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3615FF33-C791-6C92-8443-CC5B5F3C9541}"/>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679F0C-FC42-EEC7-C06D-4641F8E929FF}"/>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90A5F01-42B0-AD84-2614-57019DBEAECE}"/>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B78ACE4-5FEE-A07C-9621-762BA1FF0668}"/>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84BD61-6C77-AA4A-A1F1-3C873E91D947}"/>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9B63182B-E09E-2CBF-AF64-4D6B28FBE690}"/>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8BB8473-E912-E359-133D-FC3B19FCC4BD}"/>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D0CEA28-585F-6EE0-37B7-67C6F7CFC6A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FDDFFA76-61B6-7D3D-653F-84FA0D9D240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E1FEC3F3-AF81-9549-F421-D44C2FDF23F4}"/>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7756708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3265-ED1F-1B15-0FD8-39C5A4CDEC6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EA9F2C7-3C50-1FE6-3BF8-F1209D775BFF}"/>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3052F595-2D25-0C74-175E-3F63AF794C9B}"/>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55707026-66EE-E2F0-12F3-0F65FA7EF379}"/>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EC366E9C-246F-0B6B-8F4A-6EBA7BFA883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0281EC00-0743-557A-869A-D2C9F47D346B}"/>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286BD6E-12DD-EF4C-FB8A-FF5E36922424}"/>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F6517275-C741-D0DA-6B71-73F78690290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0B7F0FC3-4BE1-56F1-F950-FD05DBAF83D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8C70D895-1A05-460F-8224-E05BE931DD12}"/>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E178E245-09DC-5E6D-1B4A-6B250E87ED10}"/>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CF81CA64-EC63-D8F0-ED81-7702EADBD01C}"/>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389ECE1E-AD70-7AAB-F947-5141B13DF59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a:t>
              </a: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3750D31-69AD-AC14-BD28-97E5BDD5D0BB}"/>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264685F-E1D9-D0A6-62C4-B43A63CD8BB4}"/>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5D21E48-9366-7E36-9CAE-ABF4E39229F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DA3A56DE-49C2-8BB4-8A37-A57C78E2F6AE}"/>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1B1028C-C893-F84B-1523-BE4C32351FB9}"/>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20C52FB3-99D2-BDC0-F721-BB465F7EE602}"/>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9254EB6A-8311-700A-2440-45884CB753D8}"/>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08FA4869-CCE7-297F-7825-1D35A75F3629}"/>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2D779933-5D19-40F1-B829-2113E2CC6832}"/>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A29922AA-948B-89C3-A59D-0119C500C0EE}"/>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B0A02B49-D334-AE21-EE5F-D7FC8583A3DA}"/>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EE1FB4F9-D635-6C41-D90D-2C399BA98C56}"/>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065BD696-26AA-CFA4-11D2-256CBC9FA7E9}"/>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8BB0FCA-8AA2-F74B-815F-EBC445106ADA}"/>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6760D3D-17B0-E0D8-9A78-431FD577265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6461191F-84E6-FBE1-2A1E-C554935ACDDD}"/>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11B187D-F7FB-18E1-48F3-184AB60D97F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617D36F-8665-5234-E0C7-987389CE8D1C}"/>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FFBCAD89-8636-906B-2846-8251E71205F7}"/>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highlight>
                  <a:srgbClr val="FFFF00"/>
                </a:highlight>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1E28295B-617D-FD3B-67DE-C174705D3BD0}"/>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482ACDAA-F073-3697-2584-19C4E764A39E}"/>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0DA74654-3FD4-765C-AAAA-A2446C0F3E63}"/>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0276592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AE2A3-7596-9E16-CEA3-A05B78C9AC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3F40C85-B459-3749-13AF-89BFC1D2B593}"/>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DC9F7E2E-4B8B-6FA3-164B-7289A68F87AC}"/>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DCA20EBF-B6EE-C246-B117-C1D032FFE2CB}"/>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A59BE5D4-D5BD-020A-C59B-989BDC75C8C6}"/>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15DDD932-B7BE-4A44-F501-E9E879399132}"/>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0C993862-59FE-D62B-85E4-A3BE9CC10A8D}"/>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544D12F4-BCB4-7872-9AE2-85282D799617}"/>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D00298C2-33C3-2AE1-B5FB-4EBED8AD2FCD}"/>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F2071EFC-AE6F-CF29-5B7A-EDFC0214526C}"/>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2688C8E9-E4D8-E5FB-EB45-424A00C697D1}"/>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25995876-31B2-C0DE-23CE-16BAB7B3AFF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F4468A49-BB46-4C3E-EDB2-E280A3EB9C35}"/>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78AFF652-935E-5F13-1911-A15948943EE6}"/>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7042F736-FEB0-5B53-3168-72535BAC7E4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408DF0B2-2AA3-B7A7-2C41-C78EA2C748F9}"/>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844BFDF4-8172-8E56-005D-4156C6C77F7C}"/>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62EA7866-9B94-9031-F7EE-80DB1236FD20}"/>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6D1B595D-DADE-D874-CF4B-2170D5CCE4D0}"/>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1E8FD6E1-66A2-36FD-D0F9-0FF2BA9A99B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3A4B9BCC-87FE-DDEB-BB45-E55F513D8B4D}"/>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A0F4BC27-FC89-2F2C-F6CD-ECDD710CDA16}"/>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49558CEA-A847-1AF7-D14A-8ECC75C1C969}"/>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D43DE525-25B1-BF98-1813-569DB392BA91}"/>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E9C4F48-750F-BEA1-6254-2AE938A9C592}"/>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46CE1577-30DC-AEC9-9DF0-B9355FA2BEF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41544B2-24EF-D4B9-B85D-797469A7169E}"/>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6CD14C8-C1E6-2A68-6057-DF39CE33BB51}"/>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CD1785EB-E0F9-F463-456D-3C0FCFB91DA0}"/>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4DD91A3-B7A2-A614-8B8F-80A14EDBB6E3}"/>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BFCFC264-03A9-AA22-8CFC-B7B5A26F97AB}"/>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1B7BAA09-4D0F-882E-6657-18A76A00BFCF}"/>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9B510E7A-0B42-AED1-74C3-B63B86E8DBF6}"/>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B80F514-DA13-9A13-F3CC-1EC19FD8B055}"/>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26FAE729-F85A-C546-C1F3-3C7993ACAAA6}"/>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3912409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78160-D54D-C160-1B2C-457C9B82663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85EBBA7-C5F9-8189-9D34-E4C7D2AAA148}"/>
              </a:ext>
            </a:extLst>
          </p:cNvPr>
          <p:cNvSpPr>
            <a:spLocks noGrp="1"/>
          </p:cNvSpPr>
          <p:nvPr>
            <p:ph type="title"/>
          </p:nvPr>
        </p:nvSpPr>
        <p:spPr/>
        <p:txBody>
          <a:bodyPr/>
          <a:lstStyle/>
          <a:p>
            <a:r>
              <a:rPr lang="en-US" dirty="0"/>
              <a:t>Example</a:t>
            </a:r>
          </a:p>
        </p:txBody>
      </p:sp>
      <p:grpSp>
        <p:nvGrpSpPr>
          <p:cNvPr id="4" name="Group 3">
            <a:extLst>
              <a:ext uri="{FF2B5EF4-FFF2-40B4-BE49-F238E27FC236}">
                <a16:creationId xmlns:a16="http://schemas.microsoft.com/office/drawing/2014/main" id="{1353F72B-37FB-6217-BDD4-C00F69A9A977}"/>
              </a:ext>
            </a:extLst>
          </p:cNvPr>
          <p:cNvGrpSpPr/>
          <p:nvPr/>
        </p:nvGrpSpPr>
        <p:grpSpPr>
          <a:xfrm>
            <a:off x="213754" y="829255"/>
            <a:ext cx="3016334" cy="2946090"/>
            <a:chOff x="902523" y="1710047"/>
            <a:chExt cx="3016334" cy="2946090"/>
          </a:xfrm>
        </p:grpSpPr>
        <p:sp>
          <p:nvSpPr>
            <p:cNvPr id="9" name="Rectangle 8">
              <a:extLst>
                <a:ext uri="{FF2B5EF4-FFF2-40B4-BE49-F238E27FC236}">
                  <a16:creationId xmlns:a16="http://schemas.microsoft.com/office/drawing/2014/main" id="{177934F2-A90D-C927-EF7C-CF3E2C6987CC}"/>
                </a:ext>
              </a:extLst>
            </p:cNvPr>
            <p:cNvSpPr/>
            <p:nvPr/>
          </p:nvSpPr>
          <p:spPr>
            <a:xfrm>
              <a:off x="902525" y="171004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Visitor</a:t>
              </a:r>
            </a:p>
          </p:txBody>
        </p:sp>
        <p:sp>
          <p:nvSpPr>
            <p:cNvPr id="12" name="Rectangle 11">
              <a:extLst>
                <a:ext uri="{FF2B5EF4-FFF2-40B4-BE49-F238E27FC236}">
                  <a16:creationId xmlns:a16="http://schemas.microsoft.com/office/drawing/2014/main" id="{B6197817-F5BD-36C6-2CE0-7BC53673C70F}"/>
                </a:ext>
              </a:extLst>
            </p:cNvPr>
            <p:cNvSpPr/>
            <p:nvPr/>
          </p:nvSpPr>
          <p:spPr>
            <a:xfrm>
              <a:off x="902524" y="2208810"/>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visit(Circle c); </a:t>
              </a:r>
            </a:p>
          </p:txBody>
        </p:sp>
        <p:sp>
          <p:nvSpPr>
            <p:cNvPr id="13" name="Rectangle 12">
              <a:extLst>
                <a:ext uri="{FF2B5EF4-FFF2-40B4-BE49-F238E27FC236}">
                  <a16:creationId xmlns:a16="http://schemas.microsoft.com/office/drawing/2014/main" id="{300CA28E-9031-266B-F6F7-3BA841735AF6}"/>
                </a:ext>
              </a:extLst>
            </p:cNvPr>
            <p:cNvSpPr/>
            <p:nvPr/>
          </p:nvSpPr>
          <p:spPr>
            <a:xfrm>
              <a:off x="902524" y="2541319"/>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visit(Rectangle r); </a:t>
              </a:r>
            </a:p>
          </p:txBody>
        </p:sp>
        <p:sp>
          <p:nvSpPr>
            <p:cNvPr id="14" name="Rectangle 13">
              <a:extLst>
                <a:ext uri="{FF2B5EF4-FFF2-40B4-BE49-F238E27FC236}">
                  <a16:creationId xmlns:a16="http://schemas.microsoft.com/office/drawing/2014/main" id="{95B9A68C-8E5E-B48B-BB46-74375F47E36E}"/>
                </a:ext>
              </a:extLst>
            </p:cNvPr>
            <p:cNvSpPr/>
            <p:nvPr/>
          </p:nvSpPr>
          <p:spPr>
            <a:xfrm>
              <a:off x="902523" y="2873829"/>
              <a:ext cx="3016333" cy="17823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visit(Compound c)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for (Shape s:   </a:t>
              </a:r>
            </a:p>
            <a:p>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c.getShapeList</a:t>
              </a: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s.accept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17" name="Group 16">
            <a:extLst>
              <a:ext uri="{FF2B5EF4-FFF2-40B4-BE49-F238E27FC236}">
                <a16:creationId xmlns:a16="http://schemas.microsoft.com/office/drawing/2014/main" id="{B0CE4C5C-379F-6745-B864-5BD48BF49EF2}"/>
              </a:ext>
            </a:extLst>
          </p:cNvPr>
          <p:cNvGrpSpPr/>
          <p:nvPr/>
        </p:nvGrpSpPr>
        <p:grpSpPr>
          <a:xfrm>
            <a:off x="3455718" y="2593035"/>
            <a:ext cx="2640282" cy="1391431"/>
            <a:chOff x="5650674" y="829255"/>
            <a:chExt cx="3016333" cy="1391431"/>
          </a:xfrm>
        </p:grpSpPr>
        <p:sp>
          <p:nvSpPr>
            <p:cNvPr id="18" name="Rectangle 17">
              <a:extLst>
                <a:ext uri="{FF2B5EF4-FFF2-40B4-BE49-F238E27FC236}">
                  <a16:creationId xmlns:a16="http://schemas.microsoft.com/office/drawing/2014/main" id="{EAC978A1-5B9B-42FA-82C7-AD849430AD97}"/>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Circle</a:t>
              </a:r>
            </a:p>
          </p:txBody>
        </p:sp>
        <p:sp>
          <p:nvSpPr>
            <p:cNvPr id="19" name="Rectangle 18">
              <a:extLst>
                <a:ext uri="{FF2B5EF4-FFF2-40B4-BE49-F238E27FC236}">
                  <a16:creationId xmlns:a16="http://schemas.microsoft.com/office/drawing/2014/main" id="{3A10CFFE-9BD6-7FF2-C13B-64921FB6C3D6}"/>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highlight>
                    <a:srgbClr val="FFFF00"/>
                  </a:highlight>
                  <a:latin typeface="Consolas" panose="020B0609020204030204" pitchFamily="49" charset="0"/>
                  <a:cs typeface="Consolas" panose="020B0609020204030204" pitchFamily="49" charset="0"/>
                </a:rPr>
                <a:t>accept(Visitor v) {</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r>
                <a:rPr lang="en-US" dirty="0" err="1">
                  <a:solidFill>
                    <a:schemeClr val="tx1"/>
                  </a:solidFill>
                  <a:highlight>
                    <a:srgbClr val="FFFF00"/>
                  </a:highlight>
                  <a:latin typeface="Consolas" panose="020B0609020204030204" pitchFamily="49" charset="0"/>
                  <a:cs typeface="Consolas" panose="020B0609020204030204" pitchFamily="49" charset="0"/>
                </a:rPr>
                <a:t>v.visit</a:t>
              </a:r>
              <a:r>
                <a:rPr lang="en-US" dirty="0">
                  <a:solidFill>
                    <a:schemeClr val="tx1"/>
                  </a:solidFill>
                  <a:highlight>
                    <a:srgbClr val="FFFF00"/>
                  </a:highlight>
                  <a:latin typeface="Consolas" panose="020B0609020204030204" pitchFamily="49" charset="0"/>
                  <a:cs typeface="Consolas" panose="020B0609020204030204" pitchFamily="49" charset="0"/>
                </a:rPr>
                <a:t>(this);</a:t>
              </a:r>
              <a:br>
                <a:rPr lang="en-US" dirty="0">
                  <a:solidFill>
                    <a:schemeClr val="tx1"/>
                  </a:solidFill>
                  <a:highlight>
                    <a:srgbClr val="FFFF00"/>
                  </a:highlight>
                  <a:latin typeface="Consolas" panose="020B0609020204030204" pitchFamily="49" charset="0"/>
                  <a:cs typeface="Consolas" panose="020B0609020204030204" pitchFamily="49" charset="0"/>
                </a:rPr>
              </a:br>
              <a:r>
                <a:rPr lang="en-US" dirty="0">
                  <a:solidFill>
                    <a:schemeClr val="tx1"/>
                  </a:solidFill>
                  <a:highlight>
                    <a:srgbClr val="FFFF00"/>
                  </a:highlight>
                  <a:latin typeface="Consolas" panose="020B0609020204030204" pitchFamily="49" charset="0"/>
                  <a:cs typeface="Consolas" panose="020B0609020204030204" pitchFamily="49" charset="0"/>
                </a:rPr>
                <a:t>} </a:t>
              </a:r>
            </a:p>
          </p:txBody>
        </p:sp>
      </p:grpSp>
      <p:grpSp>
        <p:nvGrpSpPr>
          <p:cNvPr id="21" name="Group 20">
            <a:extLst>
              <a:ext uri="{FF2B5EF4-FFF2-40B4-BE49-F238E27FC236}">
                <a16:creationId xmlns:a16="http://schemas.microsoft.com/office/drawing/2014/main" id="{885A1451-329C-AED6-03CA-8CB622A3D8A3}"/>
              </a:ext>
            </a:extLst>
          </p:cNvPr>
          <p:cNvGrpSpPr/>
          <p:nvPr/>
        </p:nvGrpSpPr>
        <p:grpSpPr>
          <a:xfrm>
            <a:off x="6350945" y="2593035"/>
            <a:ext cx="2640281" cy="1391431"/>
            <a:chOff x="5650674" y="829255"/>
            <a:chExt cx="3016333" cy="1391431"/>
          </a:xfrm>
        </p:grpSpPr>
        <p:sp>
          <p:nvSpPr>
            <p:cNvPr id="22" name="Rectangle 21">
              <a:extLst>
                <a:ext uri="{FF2B5EF4-FFF2-40B4-BE49-F238E27FC236}">
                  <a16:creationId xmlns:a16="http://schemas.microsoft.com/office/drawing/2014/main" id="{DBE275B9-9B56-BF52-4AE5-9F2A73B8E2BA}"/>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Rectangle</a:t>
              </a:r>
            </a:p>
          </p:txBody>
        </p:sp>
        <p:sp>
          <p:nvSpPr>
            <p:cNvPr id="23" name="Rectangle 22">
              <a:extLst>
                <a:ext uri="{FF2B5EF4-FFF2-40B4-BE49-F238E27FC236}">
                  <a16:creationId xmlns:a16="http://schemas.microsoft.com/office/drawing/2014/main" id="{85140FE5-D4A9-AC8A-17DC-B1BB55780C5F}"/>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grpSp>
        <p:nvGrpSpPr>
          <p:cNvPr id="24" name="Group 23">
            <a:extLst>
              <a:ext uri="{FF2B5EF4-FFF2-40B4-BE49-F238E27FC236}">
                <a16:creationId xmlns:a16="http://schemas.microsoft.com/office/drawing/2014/main" id="{6A5F1AB7-B058-865F-55AC-0F1662A9DB91}"/>
              </a:ext>
            </a:extLst>
          </p:cNvPr>
          <p:cNvGrpSpPr/>
          <p:nvPr/>
        </p:nvGrpSpPr>
        <p:grpSpPr>
          <a:xfrm>
            <a:off x="9337965" y="2593035"/>
            <a:ext cx="2640281" cy="1391431"/>
            <a:chOff x="5650674" y="829255"/>
            <a:chExt cx="3016333" cy="1391431"/>
          </a:xfrm>
        </p:grpSpPr>
        <p:sp>
          <p:nvSpPr>
            <p:cNvPr id="25" name="Rectangle 24">
              <a:extLst>
                <a:ext uri="{FF2B5EF4-FFF2-40B4-BE49-F238E27FC236}">
                  <a16:creationId xmlns:a16="http://schemas.microsoft.com/office/drawing/2014/main" id="{202CD2A3-4E2B-6978-E4CC-560B7E7E4019}"/>
                </a:ext>
              </a:extLst>
            </p:cNvPr>
            <p:cNvSpPr/>
            <p:nvPr/>
          </p:nvSpPr>
          <p:spPr>
            <a:xfrm>
              <a:off x="5650675" y="829255"/>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CompoundShape</a:t>
              </a:r>
              <a:endParaRPr lang="en-US" dirty="0">
                <a:latin typeface="Consolas" panose="020B0609020204030204" pitchFamily="49" charset="0"/>
                <a:cs typeface="Consolas" panose="020B0609020204030204" pitchFamily="49" charset="0"/>
              </a:endParaRPr>
            </a:p>
          </p:txBody>
        </p:sp>
        <p:sp>
          <p:nvSpPr>
            <p:cNvPr id="26" name="Rectangle 25">
              <a:extLst>
                <a:ext uri="{FF2B5EF4-FFF2-40B4-BE49-F238E27FC236}">
                  <a16:creationId xmlns:a16="http://schemas.microsoft.com/office/drawing/2014/main" id="{F64D4FC9-7E20-8009-4207-94FFEBDF2CA4}"/>
                </a:ext>
              </a:extLst>
            </p:cNvPr>
            <p:cNvSpPr/>
            <p:nvPr/>
          </p:nvSpPr>
          <p:spPr>
            <a:xfrm>
              <a:off x="5650674" y="1328018"/>
              <a:ext cx="3016333" cy="892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 {</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r>
                <a:rPr lang="en-US" dirty="0" err="1">
                  <a:solidFill>
                    <a:schemeClr val="tx1"/>
                  </a:solidFill>
                  <a:latin typeface="Consolas" panose="020B0609020204030204" pitchFamily="49" charset="0"/>
                  <a:cs typeface="Consolas" panose="020B0609020204030204" pitchFamily="49" charset="0"/>
                </a:rPr>
                <a:t>v.visit</a:t>
              </a:r>
              <a:r>
                <a:rPr lang="en-US" dirty="0">
                  <a:solidFill>
                    <a:schemeClr val="tx1"/>
                  </a:solidFill>
                  <a:latin typeface="Consolas" panose="020B0609020204030204" pitchFamily="49" charset="0"/>
                  <a:cs typeface="Consolas" panose="020B0609020204030204" pitchFamily="49" charset="0"/>
                </a:rPr>
                <a:t>(this);</a:t>
              </a:r>
              <a:br>
                <a:rPr lang="en-US" dirty="0">
                  <a:solidFill>
                    <a:schemeClr val="tx1"/>
                  </a:solidFill>
                  <a:latin typeface="Consolas" panose="020B0609020204030204" pitchFamily="49" charset="0"/>
                  <a:cs typeface="Consolas" panose="020B0609020204030204" pitchFamily="49" charset="0"/>
                </a:rPr>
              </a:br>
              <a:r>
                <a:rPr lang="en-US" dirty="0">
                  <a:solidFill>
                    <a:schemeClr val="tx1"/>
                  </a:solidFill>
                  <a:latin typeface="Consolas" panose="020B0609020204030204" pitchFamily="49" charset="0"/>
                  <a:cs typeface="Consolas" panose="020B0609020204030204" pitchFamily="49" charset="0"/>
                </a:rPr>
                <a:t>} </a:t>
              </a:r>
            </a:p>
          </p:txBody>
        </p:sp>
      </p:grpSp>
      <p:cxnSp>
        <p:nvCxnSpPr>
          <p:cNvPr id="28" name="Straight Arrow Connector 27">
            <a:extLst>
              <a:ext uri="{FF2B5EF4-FFF2-40B4-BE49-F238E27FC236}">
                <a16:creationId xmlns:a16="http://schemas.microsoft.com/office/drawing/2014/main" id="{AE82B4C1-35C0-A39F-FCF0-2DAECCA49234}"/>
              </a:ext>
            </a:extLst>
          </p:cNvPr>
          <p:cNvCxnSpPr>
            <a:cxnSpLocks/>
            <a:endCxn id="18" idx="0"/>
          </p:cNvCxnSpPr>
          <p:nvPr/>
        </p:nvCxnSpPr>
        <p:spPr>
          <a:xfrm flipH="1">
            <a:off x="4775860" y="2209401"/>
            <a:ext cx="1737756"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DC157D8-23F6-993B-366D-1306D1266F2B}"/>
              </a:ext>
            </a:extLst>
          </p:cNvPr>
          <p:cNvCxnSpPr>
            <a:cxnSpLocks/>
            <a:endCxn id="22" idx="0"/>
          </p:cNvCxnSpPr>
          <p:nvPr/>
        </p:nvCxnSpPr>
        <p:spPr>
          <a:xfrm>
            <a:off x="6513616" y="2209401"/>
            <a:ext cx="115747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FD159E32-A3CE-F4F6-150A-3ABF1501BF17}"/>
              </a:ext>
            </a:extLst>
          </p:cNvPr>
          <p:cNvCxnSpPr>
            <a:cxnSpLocks/>
            <a:endCxn id="25" idx="0"/>
          </p:cNvCxnSpPr>
          <p:nvPr/>
        </p:nvCxnSpPr>
        <p:spPr>
          <a:xfrm>
            <a:off x="6513616" y="2209401"/>
            <a:ext cx="4144490" cy="38363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A15351D2-2AD2-DD16-7F8E-D568DEBF5DDB}"/>
              </a:ext>
            </a:extLst>
          </p:cNvPr>
          <p:cNvSpPr txBox="1"/>
          <p:nvPr/>
        </p:nvSpPr>
        <p:spPr>
          <a:xfrm>
            <a:off x="4386738" y="2209401"/>
            <a:ext cx="919995" cy="369332"/>
          </a:xfrm>
          <a:prstGeom prst="rect">
            <a:avLst/>
          </a:prstGeom>
          <a:noFill/>
        </p:spPr>
        <p:txBody>
          <a:bodyPr wrap="none" rtlCol="0">
            <a:spAutoFit/>
          </a:bodyPr>
          <a:lstStyle/>
          <a:p>
            <a:r>
              <a:rPr lang="en-US" dirty="0"/>
              <a:t>extends</a:t>
            </a:r>
          </a:p>
        </p:txBody>
      </p:sp>
      <p:sp>
        <p:nvSpPr>
          <p:cNvPr id="36" name="TextBox 35">
            <a:extLst>
              <a:ext uri="{FF2B5EF4-FFF2-40B4-BE49-F238E27FC236}">
                <a16:creationId xmlns:a16="http://schemas.microsoft.com/office/drawing/2014/main" id="{72A7005A-79A5-AA61-94F9-C4A5A336B318}"/>
              </a:ext>
            </a:extLst>
          </p:cNvPr>
          <p:cNvSpPr txBox="1"/>
          <p:nvPr/>
        </p:nvSpPr>
        <p:spPr>
          <a:xfrm>
            <a:off x="5926385" y="2245132"/>
            <a:ext cx="919995" cy="369332"/>
          </a:xfrm>
          <a:prstGeom prst="rect">
            <a:avLst/>
          </a:prstGeom>
          <a:noFill/>
        </p:spPr>
        <p:txBody>
          <a:bodyPr wrap="none" rtlCol="0">
            <a:spAutoFit/>
          </a:bodyPr>
          <a:lstStyle/>
          <a:p>
            <a:r>
              <a:rPr lang="en-US" dirty="0"/>
              <a:t>extends</a:t>
            </a:r>
          </a:p>
        </p:txBody>
      </p:sp>
      <p:sp>
        <p:nvSpPr>
          <p:cNvPr id="37" name="TextBox 36">
            <a:extLst>
              <a:ext uri="{FF2B5EF4-FFF2-40B4-BE49-F238E27FC236}">
                <a16:creationId xmlns:a16="http://schemas.microsoft.com/office/drawing/2014/main" id="{7D46100F-FA14-C57C-0A72-960085761690}"/>
              </a:ext>
            </a:extLst>
          </p:cNvPr>
          <p:cNvSpPr txBox="1"/>
          <p:nvPr/>
        </p:nvSpPr>
        <p:spPr>
          <a:xfrm>
            <a:off x="8857048" y="2102011"/>
            <a:ext cx="919995" cy="369332"/>
          </a:xfrm>
          <a:prstGeom prst="rect">
            <a:avLst/>
          </a:prstGeom>
          <a:noFill/>
        </p:spPr>
        <p:txBody>
          <a:bodyPr wrap="none" rtlCol="0">
            <a:spAutoFit/>
          </a:bodyPr>
          <a:lstStyle/>
          <a:p>
            <a:r>
              <a:rPr lang="en-US" dirty="0"/>
              <a:t>extends</a:t>
            </a:r>
          </a:p>
        </p:txBody>
      </p:sp>
      <p:grpSp>
        <p:nvGrpSpPr>
          <p:cNvPr id="48" name="Group 47">
            <a:extLst>
              <a:ext uri="{FF2B5EF4-FFF2-40B4-BE49-F238E27FC236}">
                <a16:creationId xmlns:a16="http://schemas.microsoft.com/office/drawing/2014/main" id="{B0BAA90C-F5DB-8EA0-D0E5-9F3FD7FEA2C0}"/>
              </a:ext>
            </a:extLst>
          </p:cNvPr>
          <p:cNvGrpSpPr/>
          <p:nvPr/>
        </p:nvGrpSpPr>
        <p:grpSpPr>
          <a:xfrm>
            <a:off x="5005449" y="1281002"/>
            <a:ext cx="3016333" cy="928399"/>
            <a:chOff x="5650674" y="1292287"/>
            <a:chExt cx="3016333" cy="928399"/>
          </a:xfrm>
        </p:grpSpPr>
        <p:sp>
          <p:nvSpPr>
            <p:cNvPr id="49" name="Rectangle 48">
              <a:extLst>
                <a:ext uri="{FF2B5EF4-FFF2-40B4-BE49-F238E27FC236}">
                  <a16:creationId xmlns:a16="http://schemas.microsoft.com/office/drawing/2014/main" id="{1A4A8270-7913-5A03-F618-043BFE9F619C}"/>
                </a:ext>
              </a:extLst>
            </p:cNvPr>
            <p:cNvSpPr/>
            <p:nvPr/>
          </p:nvSpPr>
          <p:spPr>
            <a:xfrm>
              <a:off x="5650674" y="1292287"/>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abstract class Shape</a:t>
              </a:r>
            </a:p>
          </p:txBody>
        </p:sp>
        <p:sp>
          <p:nvSpPr>
            <p:cNvPr id="50" name="Rectangle 49">
              <a:extLst>
                <a:ext uri="{FF2B5EF4-FFF2-40B4-BE49-F238E27FC236}">
                  <a16:creationId xmlns:a16="http://schemas.microsoft.com/office/drawing/2014/main" id="{94186A57-FC91-A92F-DD54-815F4A73BDAF}"/>
                </a:ext>
              </a:extLst>
            </p:cNvPr>
            <p:cNvSpPr/>
            <p:nvPr/>
          </p:nvSpPr>
          <p:spPr>
            <a:xfrm>
              <a:off x="5650674" y="1805352"/>
              <a:ext cx="3016333" cy="4153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cs typeface="Consolas" panose="020B0609020204030204" pitchFamily="49" charset="0"/>
                </a:rPr>
                <a:t>accept(Visitor v);</a:t>
              </a:r>
            </a:p>
          </p:txBody>
        </p:sp>
      </p:grpSp>
      <p:sp>
        <p:nvSpPr>
          <p:cNvPr id="2" name="Rectangle 1">
            <a:extLst>
              <a:ext uri="{FF2B5EF4-FFF2-40B4-BE49-F238E27FC236}">
                <a16:creationId xmlns:a16="http://schemas.microsoft.com/office/drawing/2014/main" id="{CE858538-8367-D5BD-CFCB-E31D538CBFBF}"/>
              </a:ext>
            </a:extLst>
          </p:cNvPr>
          <p:cNvSpPr/>
          <p:nvPr/>
        </p:nvSpPr>
        <p:spPr>
          <a:xfrm>
            <a:off x="629392" y="2861953"/>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670D087B-95ED-5B58-35C3-94DFBE154678}"/>
              </a:ext>
            </a:extLst>
          </p:cNvPr>
          <p:cNvSpPr/>
          <p:nvPr/>
        </p:nvSpPr>
        <p:spPr>
          <a:xfrm>
            <a:off x="3485032" y="309542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AD3F5F1-11D1-7422-483B-6BEB1D5458AC}"/>
              </a:ext>
            </a:extLst>
          </p:cNvPr>
          <p:cNvSpPr/>
          <p:nvPr/>
        </p:nvSpPr>
        <p:spPr>
          <a:xfrm>
            <a:off x="6399436" y="3093130"/>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58A70EA-CE78-4CEF-A8C6-00B81A01D6E3}"/>
              </a:ext>
            </a:extLst>
          </p:cNvPr>
          <p:cNvSpPr/>
          <p:nvPr/>
        </p:nvSpPr>
        <p:spPr>
          <a:xfrm>
            <a:off x="9367278" y="3099491"/>
            <a:ext cx="2232561" cy="3800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3D0BB1-7722-5A0E-3CD3-D18BB81F6444}"/>
              </a:ext>
            </a:extLst>
          </p:cNvPr>
          <p:cNvSpPr/>
          <p:nvPr/>
        </p:nvSpPr>
        <p:spPr>
          <a:xfrm>
            <a:off x="237506" y="4508313"/>
            <a:ext cx="3016332" cy="4987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latin typeface="Consolas" panose="020B0609020204030204" pitchFamily="49" charset="0"/>
                <a:cs typeface="Consolas" panose="020B0609020204030204" pitchFamily="49" charset="0"/>
              </a:rPr>
              <a:t>class </a:t>
            </a:r>
            <a:r>
              <a:rPr lang="en-US" dirty="0" err="1">
                <a:latin typeface="Consolas" panose="020B0609020204030204" pitchFamily="49" charset="0"/>
                <a:cs typeface="Consolas" panose="020B0609020204030204" pitchFamily="49" charset="0"/>
              </a:rPr>
              <a:t>TranslationVisitor</a:t>
            </a:r>
            <a:endParaRPr lang="en-US" dirty="0">
              <a:latin typeface="Consolas" panose="020B0609020204030204" pitchFamily="49" charset="0"/>
              <a:cs typeface="Consolas" panose="020B0609020204030204" pitchFamily="49" charset="0"/>
            </a:endParaRPr>
          </a:p>
        </p:txBody>
      </p:sp>
      <p:sp>
        <p:nvSpPr>
          <p:cNvPr id="10" name="Rectangle 9">
            <a:extLst>
              <a:ext uri="{FF2B5EF4-FFF2-40B4-BE49-F238E27FC236}">
                <a16:creationId xmlns:a16="http://schemas.microsoft.com/office/drawing/2014/main" id="{68A8FBC5-0856-12B8-5542-CFBB9C13B146}"/>
              </a:ext>
            </a:extLst>
          </p:cNvPr>
          <p:cNvSpPr/>
          <p:nvPr/>
        </p:nvSpPr>
        <p:spPr>
          <a:xfrm>
            <a:off x="237506" y="5000522"/>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highlight>
                  <a:srgbClr val="FFFF00"/>
                </a:highlight>
                <a:latin typeface="Consolas" panose="020B0609020204030204" pitchFamily="49" charset="0"/>
                <a:cs typeface="Consolas" panose="020B0609020204030204" pitchFamily="49" charset="0"/>
              </a:rPr>
              <a:t>visit(Circle c) { //..}</a:t>
            </a:r>
          </a:p>
        </p:txBody>
      </p:sp>
      <p:sp>
        <p:nvSpPr>
          <p:cNvPr id="15" name="Rectangle 14">
            <a:extLst>
              <a:ext uri="{FF2B5EF4-FFF2-40B4-BE49-F238E27FC236}">
                <a16:creationId xmlns:a16="http://schemas.microsoft.com/office/drawing/2014/main" id="{849AA3DA-F59C-8F50-575E-206803DA0708}"/>
              </a:ext>
            </a:extLst>
          </p:cNvPr>
          <p:cNvSpPr/>
          <p:nvPr/>
        </p:nvSpPr>
        <p:spPr>
          <a:xfrm>
            <a:off x="225630" y="5333031"/>
            <a:ext cx="3016333" cy="3325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Consolas" panose="020B0609020204030204" pitchFamily="49" charset="0"/>
                <a:cs typeface="Consolas" panose="020B0609020204030204" pitchFamily="49" charset="0"/>
              </a:rPr>
              <a:t>visit(Rectangle r) { //..}</a:t>
            </a:r>
          </a:p>
        </p:txBody>
      </p:sp>
      <p:cxnSp>
        <p:nvCxnSpPr>
          <p:cNvPr id="34" name="Straight Arrow Connector 33">
            <a:extLst>
              <a:ext uri="{FF2B5EF4-FFF2-40B4-BE49-F238E27FC236}">
                <a16:creationId xmlns:a16="http://schemas.microsoft.com/office/drawing/2014/main" id="{5737D02B-4D97-856F-4E97-631D0A68628D}"/>
              </a:ext>
            </a:extLst>
          </p:cNvPr>
          <p:cNvCxnSpPr>
            <a:cxnSpLocks/>
          </p:cNvCxnSpPr>
          <p:nvPr/>
        </p:nvCxnSpPr>
        <p:spPr>
          <a:xfrm>
            <a:off x="1721921" y="3775345"/>
            <a:ext cx="11875" cy="72021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3E112C3-DA69-4A31-6E23-7561E2BCB783}"/>
              </a:ext>
            </a:extLst>
          </p:cNvPr>
          <p:cNvSpPr txBox="1"/>
          <p:nvPr/>
        </p:nvSpPr>
        <p:spPr>
          <a:xfrm>
            <a:off x="746882" y="3978381"/>
            <a:ext cx="919995" cy="369332"/>
          </a:xfrm>
          <a:prstGeom prst="rect">
            <a:avLst/>
          </a:prstGeom>
          <a:noFill/>
        </p:spPr>
        <p:txBody>
          <a:bodyPr wrap="none" rtlCol="0">
            <a:spAutoFit/>
          </a:bodyPr>
          <a:lstStyle/>
          <a:p>
            <a:r>
              <a:rPr lang="en-US" dirty="0"/>
              <a:t>extends</a:t>
            </a:r>
          </a:p>
        </p:txBody>
      </p:sp>
      <p:sp>
        <p:nvSpPr>
          <p:cNvPr id="7" name="TextBox 6">
            <a:extLst>
              <a:ext uri="{FF2B5EF4-FFF2-40B4-BE49-F238E27FC236}">
                <a16:creationId xmlns:a16="http://schemas.microsoft.com/office/drawing/2014/main" id="{CFF5D9AE-E05F-46A3-6D68-3DBCAA16383E}"/>
              </a:ext>
            </a:extLst>
          </p:cNvPr>
          <p:cNvSpPr txBox="1"/>
          <p:nvPr/>
        </p:nvSpPr>
        <p:spPr>
          <a:xfrm>
            <a:off x="8184451" y="19227"/>
            <a:ext cx="4144490" cy="2246769"/>
          </a:xfrm>
          <a:prstGeom prst="rect">
            <a:avLst/>
          </a:prstGeom>
          <a:noFill/>
        </p:spPr>
        <p:txBody>
          <a:bodyPr wrap="square">
            <a:spAutoFit/>
          </a:bodyPr>
          <a:lstStyle/>
          <a:p>
            <a:r>
              <a:rPr lang="en-US" sz="1400" dirty="0">
                <a:latin typeface="Consolas" panose="020B0609020204030204" pitchFamily="49" charset="0"/>
                <a:cs typeface="Consolas" panose="020B0609020204030204" pitchFamily="49" charset="0"/>
              </a:rPr>
              <a:t>main() {</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  Rectangle r = new …; </a:t>
            </a:r>
          </a:p>
          <a:p>
            <a:r>
              <a:rPr lang="en-US" sz="1400" dirty="0">
                <a:latin typeface="Consolas" panose="020B0609020204030204" pitchFamily="49" charset="0"/>
                <a:cs typeface="Consolas" panose="020B0609020204030204" pitchFamily="49" charset="0"/>
              </a:rPr>
              <a:t>  Circle c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CompoundShape</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t>
            </a:r>
            <a:r>
              <a:rPr lang="en-US" sz="1400" dirty="0">
                <a:latin typeface="Consolas" panose="020B0609020204030204" pitchFamily="49" charset="0"/>
                <a:cs typeface="Consolas" panose="020B0609020204030204" pitchFamily="49" charset="0"/>
              </a:rPr>
              <a:t> = new ...;</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cShape.setShapeList</a:t>
            </a:r>
            <a:r>
              <a:rPr lang="en-US" sz="1400" dirty="0">
                <a:latin typeface="Consolas" panose="020B0609020204030204" pitchFamily="49" charset="0"/>
                <a:cs typeface="Consolas" panose="020B0609020204030204" pitchFamily="49" charset="0"/>
              </a:rPr>
              <a:t>(new </a:t>
            </a:r>
            <a:r>
              <a:rPr lang="en-US" sz="1400" dirty="0" err="1">
                <a:latin typeface="Consolas" panose="020B0609020204030204" pitchFamily="49" charset="0"/>
                <a:cs typeface="Consolas" panose="020B0609020204030204" pitchFamily="49" charset="0"/>
              </a:rPr>
              <a:t>ArrayList</a:t>
            </a:r>
            <a:r>
              <a:rPr lang="en-US" sz="1400" dirty="0">
                <a:latin typeface="Consolas" panose="020B0609020204030204" pitchFamily="49" charset="0"/>
                <a:cs typeface="Consolas" panose="020B0609020204030204" pitchFamily="49" charset="0"/>
              </a:rPr>
              <a:t>(r, c));</a:t>
            </a:r>
          </a:p>
          <a:p>
            <a:r>
              <a:rPr lang="en-US" sz="1400" dirty="0">
                <a:latin typeface="Consolas" panose="020B0609020204030204" pitchFamily="49" charset="0"/>
                <a:cs typeface="Consolas" panose="020B0609020204030204" pitchFamily="49" charset="0"/>
              </a:rPr>
              <a:t>  Visitor </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 = new </a:t>
            </a:r>
            <a:r>
              <a:rPr lang="en-US" sz="1400" dirty="0" err="1">
                <a:latin typeface="Consolas" panose="020B0609020204030204" pitchFamily="49" charset="0"/>
                <a:cs typeface="Consolas" panose="020B0609020204030204" pitchFamily="49" charset="0"/>
              </a:rPr>
              <a:t>TranslationVisitor</a:t>
            </a:r>
            <a:r>
              <a:rPr lang="en-US" sz="1400" dirty="0">
                <a:latin typeface="Consolas" panose="020B0609020204030204" pitchFamily="49" charset="0"/>
                <a:cs typeface="Consolas" panose="020B0609020204030204" pitchFamily="49" charset="0"/>
              </a:rPr>
              <a:t>();</a:t>
            </a:r>
          </a:p>
          <a:p>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cShape.accept</a:t>
            </a:r>
            <a:r>
              <a:rPr lang="en-US" sz="1400" dirty="0">
                <a:latin typeface="Consolas" panose="020B0609020204030204" pitchFamily="49" charset="0"/>
                <a:cs typeface="Consolas" panose="020B0609020204030204" pitchFamily="49" charset="0"/>
              </a:rPr>
              <a:t>(</a:t>
            </a:r>
            <a:r>
              <a:rPr lang="en-US" sz="1400" dirty="0" err="1">
                <a:latin typeface="Consolas" panose="020B0609020204030204" pitchFamily="49" charset="0"/>
                <a:cs typeface="Consolas" panose="020B0609020204030204" pitchFamily="49" charset="0"/>
              </a:rPr>
              <a:t>transVisitor</a:t>
            </a:r>
            <a:r>
              <a:rPr lang="en-US" sz="1400" dirty="0">
                <a:latin typeface="Consolas" panose="020B0609020204030204" pitchFamily="49" charset="0"/>
                <a:cs typeface="Consolas" panose="020B0609020204030204" pitchFamily="49" charset="0"/>
              </a:rPr>
              <a:t>);</a:t>
            </a:r>
            <a:br>
              <a:rPr lang="en-US" sz="1400" dirty="0">
                <a:latin typeface="Consolas" panose="020B0609020204030204" pitchFamily="49" charset="0"/>
                <a:cs typeface="Consolas" panose="020B0609020204030204" pitchFamily="49" charset="0"/>
              </a:rPr>
            </a:br>
            <a:r>
              <a:rPr lang="en-US" sz="14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27402080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fontScale="92500" lnSpcReduction="10000"/>
          </a:bodyPr>
          <a:lstStyle/>
          <a:p>
            <a:r>
              <a:rPr lang="en-US" dirty="0"/>
              <a:t>Separates operations (behavior) from the object structure (elements) they act upon</a:t>
            </a:r>
          </a:p>
          <a:p>
            <a:pPr lvl="1"/>
            <a:r>
              <a:rPr lang="en-US" dirty="0"/>
              <a:t>Can easily handle deeply nested compound objects uniformly</a:t>
            </a:r>
          </a:p>
          <a:p>
            <a:pPr lvl="1"/>
            <a:r>
              <a:rPr lang="en-US" dirty="0"/>
              <a:t>Abstract visitor can encapsulate visiting logic</a:t>
            </a:r>
          </a:p>
          <a:p>
            <a:pPr lvl="1"/>
            <a:r>
              <a:rPr lang="en-US" dirty="0">
                <a:latin typeface="Consolas" panose="020B0609020204030204" pitchFamily="49" charset="0"/>
                <a:cs typeface="Consolas" panose="020B0609020204030204" pitchFamily="49" charset="0"/>
              </a:rPr>
              <a:t>visit(Type obj)</a:t>
            </a:r>
            <a:r>
              <a:rPr lang="en-US" dirty="0"/>
              <a:t> only contains code relevant to visiting that particular object and not any sub-types</a:t>
            </a:r>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DEB8625-4D02-AE86-2087-352B47E0C813}"/>
              </a:ext>
            </a:extLst>
          </p:cNvPr>
          <p:cNvSpPr>
            <a:spLocks noGrp="1"/>
          </p:cNvSpPr>
          <p:nvPr>
            <p:ph idx="1"/>
          </p:nvPr>
        </p:nvSpPr>
        <p:spPr/>
        <p:txBody>
          <a:bodyPr/>
          <a:lstStyle/>
          <a:p>
            <a:r>
              <a:rPr lang="en-US" dirty="0"/>
              <a:t>Reflection and meta-programming</a:t>
            </a:r>
          </a:p>
          <a:p>
            <a:pPr lvl="1"/>
            <a:r>
              <a:rPr lang="en-US" dirty="0"/>
              <a:t>Lazy-loading design pattern</a:t>
            </a:r>
          </a:p>
          <a:p>
            <a:pPr lvl="1"/>
            <a:r>
              <a:rPr lang="en-US" dirty="0"/>
              <a:t>Dependency–injection design pattern</a:t>
            </a:r>
          </a:p>
          <a:p>
            <a:r>
              <a:rPr lang="en-US" dirty="0"/>
              <a:t>Reading</a:t>
            </a:r>
          </a:p>
          <a:p>
            <a:pPr lvl="1"/>
            <a:r>
              <a:rPr lang="en-US" dirty="0"/>
              <a:t>Container design patterns</a:t>
            </a:r>
          </a:p>
        </p:txBody>
      </p:sp>
      <p:sp>
        <p:nvSpPr>
          <p:cNvPr id="4" name="Title 3">
            <a:extLst>
              <a:ext uri="{FF2B5EF4-FFF2-40B4-BE49-F238E27FC236}">
                <a16:creationId xmlns:a16="http://schemas.microsoft.com/office/drawing/2014/main" id="{E63D94E0-3DE6-DB38-00A9-51D99DA6AEEA}"/>
              </a:ext>
            </a:extLst>
          </p:cNvPr>
          <p:cNvSpPr>
            <a:spLocks noGrp="1"/>
          </p:cNvSpPr>
          <p:nvPr>
            <p:ph type="title"/>
          </p:nvPr>
        </p:nvSpPr>
        <p:spPr/>
        <p:txBody>
          <a:bodyPr/>
          <a:lstStyle/>
          <a:p>
            <a:r>
              <a:rPr lang="en-US" dirty="0"/>
              <a:t>More design patterns to come</a:t>
            </a:r>
          </a:p>
        </p:txBody>
      </p:sp>
    </p:spTree>
    <p:extLst>
      <p:ext uri="{BB962C8B-B14F-4D97-AF65-F5344CB8AC3E}">
        <p14:creationId xmlns:p14="http://schemas.microsoft.com/office/powerpoint/2010/main" val="38222634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Proxy Decorator, Bridge, Facade</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FE2B-FFF5-04BE-7E17-BF1FB7DED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432E84-082D-F377-7733-4E48226C809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A9944F89-7A46-6665-E0F2-1D81ACFB420E}"/>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107426012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8CEF-0D36-1C9F-D427-6883942FF4D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1435C35-887F-AF1C-759C-5EA92249B602}"/>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2634261A-BF4E-65ED-CE44-DA69B40BF461}"/>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355644599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12EF9-AE3E-4A23-B77B-7E1F78E9E2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EEB3A2F-CBE2-345A-318B-08510D74C30B}"/>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DFFBF042-4948-4DC6-E0EA-F9B17CA348F3}"/>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7879121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48B75-61A2-CFF7-CA9A-A3F030A1B330}"/>
            </a:ext>
          </a:extLst>
        </p:cNvPr>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E21FD0A-5161-ACAD-C853-C50B06796FC2}"/>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355760C8-8C38-AA4B-BFF5-5FFD191FC70D}"/>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3987926011"/>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16663</TotalTime>
  <Words>11641</Words>
  <Application>Microsoft Macintosh PowerPoint</Application>
  <PresentationFormat>Widescreen</PresentationFormat>
  <Paragraphs>1933</Paragraphs>
  <Slides>137</Slides>
  <Notes>75</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137</vt:i4>
      </vt:variant>
    </vt:vector>
  </HeadingPairs>
  <TitlesOfParts>
    <vt:vector size="143" baseType="lpstr">
      <vt:lpstr>Arial</vt:lpstr>
      <vt:lpstr>Calibri</vt:lpstr>
      <vt:lpstr>Consolas</vt:lpstr>
      <vt:lpstr>Helvetica</vt:lpstr>
      <vt:lpstr>Wingdings</vt:lpstr>
      <vt:lpstr>Preso 2022 Watertower Stats</vt:lpstr>
      <vt:lpstr>PowerPoint Presentation</vt:lpstr>
      <vt:lpstr>Java is an object-oriented language</vt:lpstr>
      <vt:lpstr>Encapsulation</vt:lpstr>
      <vt:lpstr>Abstraction</vt:lpstr>
      <vt:lpstr>Inheritance</vt:lpstr>
      <vt:lpstr>Inheritance</vt:lpstr>
      <vt:lpstr>Abstraction via abstract classes</vt:lpstr>
      <vt:lpstr>Abstraction via interfaces</vt:lpstr>
      <vt:lpstr>Abstraction via interfaces</vt:lpstr>
      <vt:lpstr>Runtime polymorphism</vt:lpstr>
      <vt:lpstr>Static class members</vt:lpstr>
      <vt:lpstr>Static class methods</vt:lpstr>
      <vt:lpstr>PowerPoint Presentation</vt:lpstr>
      <vt:lpstr>What are design patterns?</vt:lpstr>
      <vt:lpstr>Design patterns are language-specific</vt:lpstr>
      <vt:lpstr>Need for design patterns</vt:lpstr>
      <vt:lpstr>Need for design patterns</vt:lpstr>
      <vt:lpstr>Need for design patterns</vt:lpstr>
      <vt:lpstr>Need for design patterns</vt:lpstr>
      <vt:lpstr>static field design</vt:lpstr>
      <vt:lpstr>static field design</vt:lpstr>
      <vt:lpstr>Preventing misuse</vt:lpstr>
      <vt:lpstr>Solution: singleton design pattern</vt:lpstr>
      <vt:lpstr>Solution: singleton design pattern</vt:lpstr>
      <vt:lpstr>Why do we need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Use case: payment processor</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PowerPoint Presentation</vt:lpstr>
      <vt:lpstr>Use case: add logging functionality</vt:lpstr>
      <vt:lpstr>Use case: add logging functionality</vt:lpstr>
      <vt:lpstr>Proxy design pattern - what is a proxy object?</vt:lpstr>
      <vt:lpstr>Proxy object wraps and extends target class</vt:lpstr>
      <vt:lpstr>Adapter vs. proxy design pattern</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Case study – transpilation library</vt:lpstr>
      <vt:lpstr>Case study – transpilation library</vt:lpstr>
      <vt:lpstr>Case study – transpilation library</vt:lpstr>
      <vt:lpstr>Characteristics</vt:lpstr>
      <vt:lpstr>PowerPoint Presentation</vt:lpstr>
      <vt:lpstr>Case study – fraud detecting payment processor</vt:lpstr>
      <vt:lpstr>Decorator design pattern</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 [Revisit next module]</vt:lpstr>
      <vt:lpstr>Non-ideal alternate implementations: subclass?</vt:lpstr>
      <vt:lpstr>Problem 1: breaks SRP</vt:lpstr>
      <vt:lpstr>Problem 2: class explosion</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Background: method overloading</vt:lpstr>
      <vt:lpstr>Background: method overloading</vt:lpstr>
      <vt:lpstr>Single dispatch vs. double dispatch</vt:lpstr>
      <vt:lpstr>Case study – transform nested shapes</vt:lpstr>
      <vt:lpstr>Case study – transform nested shapes</vt:lpstr>
      <vt:lpstr>Case study – transform nested shapes</vt:lpstr>
      <vt:lpstr>Requirements</vt:lpstr>
      <vt:lpstr>Visitor design pattern</vt:lpstr>
      <vt:lpstr>Visitor design pattern so far…</vt:lpstr>
      <vt:lpstr>Visitor design pattern</vt:lpstr>
      <vt:lpstr>Visitor design pattern so far…</vt:lpstr>
      <vt:lpstr>Visitor design pattern so far…</vt:lpstr>
      <vt:lpstr>Visitor design pattern so far…</vt:lpstr>
      <vt:lpstr>Visitor design pattern so far…</vt:lpstr>
      <vt:lpstr>Visitor design pattern so far…</vt:lpstr>
      <vt:lpstr>Visitor design pattern</vt:lpstr>
      <vt:lpstr>Visitor design pattern so far…</vt:lpstr>
      <vt:lpstr>Example</vt:lpstr>
      <vt:lpstr>Example</vt:lpstr>
      <vt:lpstr>Example</vt:lpstr>
      <vt:lpstr>Example</vt:lpstr>
      <vt:lpstr>Example</vt:lpstr>
      <vt:lpstr>Example</vt:lpstr>
      <vt:lpstr>Example</vt:lpstr>
      <vt:lpstr>Visitor design pattern</vt:lpstr>
      <vt:lpstr>High-level case study – compiler code generation</vt:lpstr>
      <vt:lpstr>More design patterns to come</vt:lpstr>
      <vt:lpstr>Summary</vt:lpstr>
      <vt:lpstr>PowerPoint Presentation</vt:lpstr>
      <vt:lpstr>Question 3</vt:lpstr>
      <vt:lpstr>Sample design pattern question</vt:lpstr>
      <vt:lpstr>PowerPoint Presentation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1936</cp:revision>
  <dcterms:created xsi:type="dcterms:W3CDTF">2019-06-30T03:25:06Z</dcterms:created>
  <dcterms:modified xsi:type="dcterms:W3CDTF">2026-09-21T19:38:42Z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